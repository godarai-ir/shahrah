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5b2271ebf3420c" /><Relationship Type="http://schemas.openxmlformats.org/officeDocument/2006/relationships/extended-properties" Target="/docProps/app.xml" Id="Rae3e7ad96ea34360" /><Relationship Type="http://schemas.openxmlformats.org/officeDocument/2006/relationships/officeDocument" Target="/ppt/presentation.xml" Id="R6b32bf27c2a44b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8ac7f254cb415a"/>
  </p:sldMasterIdLst>
  <p:notesMasterIdLst>
    <p:notesMasterId xmlns:r="http://schemas.openxmlformats.org/officeDocument/2006/relationships" r:id="Rca09efe26439424e"/>
  </p:notesMasterIdLst>
  <p:sldIdLst>
    <p:sldId xmlns:r="http://schemas.openxmlformats.org/officeDocument/2006/relationships" id="256" r:id="Ra9cc85c750c34912"/>
    <p:sldId xmlns:r="http://schemas.openxmlformats.org/officeDocument/2006/relationships" id="257" r:id="Rf84e06b80bb347f8"/>
    <p:sldId xmlns:r="http://schemas.openxmlformats.org/officeDocument/2006/relationships" id="258" r:id="R383fec2a3423493f"/>
    <p:sldId xmlns:r="http://schemas.openxmlformats.org/officeDocument/2006/relationships" id="259" r:id="R779a6e391120446a"/>
    <p:sldId xmlns:r="http://schemas.openxmlformats.org/officeDocument/2006/relationships" id="260" r:id="R75a8c5570908420d"/>
    <p:sldId xmlns:r="http://schemas.openxmlformats.org/officeDocument/2006/relationships" id="261" r:id="R8c9c5bccaa604a7e"/>
    <p:sldId xmlns:r="http://schemas.openxmlformats.org/officeDocument/2006/relationships" id="262" r:id="R4823ec97ec7d4b07"/>
    <p:sldId xmlns:r="http://schemas.openxmlformats.org/officeDocument/2006/relationships" id="263" r:id="R5815c4e42f514eca"/>
    <p:sldId xmlns:r="http://schemas.openxmlformats.org/officeDocument/2006/relationships" id="264" r:id="R1319d8869fd44b13"/>
    <p:sldId xmlns:r="http://schemas.openxmlformats.org/officeDocument/2006/relationships" id="265" r:id="Rf5203fe1371246ad"/>
    <p:sldId xmlns:r="http://schemas.openxmlformats.org/officeDocument/2006/relationships" id="266" r:id="Rbc8f5359c4704b7a"/>
    <p:sldId xmlns:r="http://schemas.openxmlformats.org/officeDocument/2006/relationships" id="267" r:id="Ref585a98c7f540b1"/>
    <p:sldId xmlns:r="http://schemas.openxmlformats.org/officeDocument/2006/relationships" id="268" r:id="R2fd45873753a4eb5"/>
    <p:sldId xmlns:r="http://schemas.openxmlformats.org/officeDocument/2006/relationships" id="269" r:id="R17b5456227bc469f"/>
    <p:sldId xmlns:r="http://schemas.openxmlformats.org/officeDocument/2006/relationships" id="270" r:id="R3411d2c792d2415e"/>
    <p:sldId xmlns:r="http://schemas.openxmlformats.org/officeDocument/2006/relationships" id="271" r:id="R5af4678a541b43e4"/>
    <p:sldId xmlns:r="http://schemas.openxmlformats.org/officeDocument/2006/relationships" id="272" r:id="Rb02d87d77eec4fb7"/>
    <p:sldId xmlns:r="http://schemas.openxmlformats.org/officeDocument/2006/relationships" id="273" r:id="Rfa90e714c1174733"/>
    <p:sldId xmlns:r="http://schemas.openxmlformats.org/officeDocument/2006/relationships" id="274" r:id="R2001f21a90704b25"/>
    <p:sldId xmlns:r="http://schemas.openxmlformats.org/officeDocument/2006/relationships" id="275" r:id="R3d931517bcb1498b"/>
    <p:sldId xmlns:r="http://schemas.openxmlformats.org/officeDocument/2006/relationships" id="276" r:id="R94a64c46a26144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58dbfd129e4799" /><Relationship Type="http://schemas.openxmlformats.org/officeDocument/2006/relationships/slideMaster" Target="/ppt/slideMasters/slideMaster1.xml" Id="R088ac7f254cb415a" /><Relationship Type="http://schemas.openxmlformats.org/officeDocument/2006/relationships/notesMaster" Target="/ppt/notesMasters/notesMaster1.xml" Id="Rca09efe26439424e" /><Relationship Type="http://schemas.openxmlformats.org/officeDocument/2006/relationships/presProps" Target="/ppt/presProps.xml" Id="Rf5cfa229285b43e6" /><Relationship Type="http://schemas.openxmlformats.org/officeDocument/2006/relationships/tableStyles" Target="/ppt/tableStyles.xml" Id="R54a53e6e152540e5" /><Relationship Type="http://schemas.openxmlformats.org/officeDocument/2006/relationships/slide" Target="/ppt/slides/slide1.xml" Id="Ra9cc85c750c34912" /><Relationship Type="http://schemas.openxmlformats.org/officeDocument/2006/relationships/slide" Target="/ppt/slides/slide2.xml" Id="Rf84e06b80bb347f8" /><Relationship Type="http://schemas.openxmlformats.org/officeDocument/2006/relationships/slide" Target="/ppt/slides/slide3.xml" Id="R383fec2a3423493f" /><Relationship Type="http://schemas.openxmlformats.org/officeDocument/2006/relationships/slide" Target="/ppt/slides/slide4.xml" Id="R779a6e391120446a" /><Relationship Type="http://schemas.openxmlformats.org/officeDocument/2006/relationships/slide" Target="/ppt/slides/slide5.xml" Id="R75a8c5570908420d" /><Relationship Type="http://schemas.openxmlformats.org/officeDocument/2006/relationships/slide" Target="/ppt/slides/slide6.xml" Id="R8c9c5bccaa604a7e" /><Relationship Type="http://schemas.openxmlformats.org/officeDocument/2006/relationships/slide" Target="/ppt/slides/slide7.xml" Id="R4823ec97ec7d4b07" /><Relationship Type="http://schemas.openxmlformats.org/officeDocument/2006/relationships/slide" Target="/ppt/slides/slide8.xml" Id="R5815c4e42f514eca" /><Relationship Type="http://schemas.openxmlformats.org/officeDocument/2006/relationships/slide" Target="/ppt/slides/slide9.xml" Id="R1319d8869fd44b13" /><Relationship Type="http://schemas.openxmlformats.org/officeDocument/2006/relationships/slide" Target="/ppt/slides/slide10.xml" Id="Rf5203fe1371246ad" /><Relationship Type="http://schemas.openxmlformats.org/officeDocument/2006/relationships/slide" Target="/ppt/slides/slide11.xml" Id="Rbc8f5359c4704b7a" /><Relationship Type="http://schemas.openxmlformats.org/officeDocument/2006/relationships/slide" Target="/ppt/slides/slide12.xml" Id="Ref585a98c7f540b1" /><Relationship Type="http://schemas.openxmlformats.org/officeDocument/2006/relationships/slide" Target="/ppt/slides/slide13.xml" Id="R2fd45873753a4eb5" /><Relationship Type="http://schemas.openxmlformats.org/officeDocument/2006/relationships/slide" Target="/ppt/slides/slide14.xml" Id="R17b5456227bc469f" /><Relationship Type="http://schemas.openxmlformats.org/officeDocument/2006/relationships/slide" Target="/ppt/slides/slide15.xml" Id="R3411d2c792d2415e" /><Relationship Type="http://schemas.openxmlformats.org/officeDocument/2006/relationships/slide" Target="/ppt/slides/slide16.xml" Id="R5af4678a541b43e4" /><Relationship Type="http://schemas.openxmlformats.org/officeDocument/2006/relationships/slide" Target="/ppt/slides/slide17.xml" Id="Rb02d87d77eec4fb7" /><Relationship Type="http://schemas.openxmlformats.org/officeDocument/2006/relationships/slide" Target="/ppt/slides/slide18.xml" Id="Rfa90e714c1174733" /><Relationship Type="http://schemas.openxmlformats.org/officeDocument/2006/relationships/slide" Target="/ppt/slides/slide19.xml" Id="R2001f21a90704b25" /><Relationship Type="http://schemas.openxmlformats.org/officeDocument/2006/relationships/slide" Target="/ppt/slides/slide20.xml" Id="R3d931517bcb1498b" /><Relationship Type="http://schemas.openxmlformats.org/officeDocument/2006/relationships/slide" Target="/ppt/slides/slide21.xml" Id="R94a64c46a26144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7790d5fef445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519810a6fb4528" /><Relationship Type="http://schemas.openxmlformats.org/officeDocument/2006/relationships/notesMaster" Target="/ppt/notesMasters/notesMaster1.xml" Id="R69740f463f6b48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0cd6b128e748fc" /><Relationship Type="http://schemas.openxmlformats.org/officeDocument/2006/relationships/notesMaster" Target="/ppt/notesMasters/notesMaster1.xml" Id="R9ea2cd01406d4e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de910b766a4d28" /><Relationship Type="http://schemas.openxmlformats.org/officeDocument/2006/relationships/notesMaster" Target="/ppt/notesMasters/notesMaster1.xml" Id="R21943ec2c75e4b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873fe9e801422a" /><Relationship Type="http://schemas.openxmlformats.org/officeDocument/2006/relationships/notesMaster" Target="/ppt/notesMasters/notesMaster1.xml" Id="Rdca15b06689e49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3ae353fe8140c5" /><Relationship Type="http://schemas.openxmlformats.org/officeDocument/2006/relationships/notesMaster" Target="/ppt/notesMasters/notesMaster1.xml" Id="R8044365b1d7942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27ddc5dde64c80" /><Relationship Type="http://schemas.openxmlformats.org/officeDocument/2006/relationships/notesMaster" Target="/ppt/notesMasters/notesMaster1.xml" Id="R24679c5c71874c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c55bf12c6f4b21" /><Relationship Type="http://schemas.openxmlformats.org/officeDocument/2006/relationships/notesMaster" Target="/ppt/notesMasters/notesMaster1.xml" Id="R11cfaa8471844c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561bd0a951483d" /><Relationship Type="http://schemas.openxmlformats.org/officeDocument/2006/relationships/notesMaster" Target="/ppt/notesMasters/notesMaster1.xml" Id="Rcefece8992da49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c0f2fb4a2f48de" /><Relationship Type="http://schemas.openxmlformats.org/officeDocument/2006/relationships/notesMaster" Target="/ppt/notesMasters/notesMaster1.xml" Id="R6d4d9a0c241549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61f5ca1b2049ea" /><Relationship Type="http://schemas.openxmlformats.org/officeDocument/2006/relationships/notesMaster" Target="/ppt/notesMasters/notesMaster1.xml" Id="R771eed4548b247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c713352b6a404b" /><Relationship Type="http://schemas.openxmlformats.org/officeDocument/2006/relationships/notesMaster" Target="/ppt/notesMasters/notesMaster1.xml" Id="R13b6e54d3c3d43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e664f469354a6c" /><Relationship Type="http://schemas.openxmlformats.org/officeDocument/2006/relationships/notesMaster" Target="/ppt/notesMasters/notesMaster1.xml" Id="R806c28a5091f43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95bb926eff42e6" /><Relationship Type="http://schemas.openxmlformats.org/officeDocument/2006/relationships/notesMaster" Target="/ppt/notesMasters/notesMaster1.xml" Id="Rd77c87ee0ec847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8526089c354a30" /><Relationship Type="http://schemas.openxmlformats.org/officeDocument/2006/relationships/notesMaster" Target="/ppt/notesMasters/notesMaster1.xml" Id="Rd3d7a5cfd7c243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82e53f804f477f" /><Relationship Type="http://schemas.openxmlformats.org/officeDocument/2006/relationships/notesMaster" Target="/ppt/notesMasters/notesMaster1.xml" Id="Rd85462137cd844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3d34cdfe3e4be6" /><Relationship Type="http://schemas.openxmlformats.org/officeDocument/2006/relationships/notesMaster" Target="/ppt/notesMasters/notesMaster1.xml" Id="R6d1fd84ea10c4c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21acef6f8d4a6a" /><Relationship Type="http://schemas.openxmlformats.org/officeDocument/2006/relationships/notesMaster" Target="/ppt/notesMasters/notesMaster1.xml" Id="R9e4061f0e59f4a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cb3483d83e4536" /><Relationship Type="http://schemas.openxmlformats.org/officeDocument/2006/relationships/notesMaster" Target="/ppt/notesMasters/notesMaster1.xml" Id="R03e398c6f3454a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96b4d54c243456e" /><Relationship Type="http://schemas.openxmlformats.org/officeDocument/2006/relationships/notesMaster" Target="/ppt/notesMasters/notesMaster1.xml" Id="Rfa749effa96044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084123e68674f78" /><Relationship Type="http://schemas.openxmlformats.org/officeDocument/2006/relationships/notesMaster" Target="/ppt/notesMasters/notesMaster1.xml" Id="Ra441f8858fb2475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94ae6b4ed5346a3" /><Relationship Type="http://schemas.openxmlformats.org/officeDocument/2006/relationships/notesMaster" Target="/ppt/notesMasters/notesMaster1.xml" Id="R96da181cad974a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D:/source/Shahrah/web-assets/colors.json</a:t>
            </a:r>
          </a:p>
          <a:p xmlns:a="http://schemas.openxmlformats.org/drawingml/2006/main">
            <a:r>
              <a:t>- D:/source/Shahrah/web-assets/svg/godarai-mark-dark.svg</a:t>
            </a:r>
          </a:p>
          <a:p xmlns:a="http://schemas.openxmlformats.org/drawingml/2006/main">
            <a:r>
              <a:t>- Referenced conversation: تم گرافیکی برای سوشال مدیا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D:/source/Shahrah/web-assets/social/style-guide/STYLE-GUIDE-fa.md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D:/source/Shahrah/docs/design-system/DESIGN.md</a:t>
            </a:r>
          </a:p>
          <a:p xmlns:a="http://schemas.openxmlformats.org/drawingml/2006/main">
            <a:r>
              <a:t>- D:/source/Shahrah/apps/tenant-admin/DESIGN.md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Referenced conversation: تم گرافیکی برای سوشال مدیا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Referenced conversation: تم گرافیکی برای سوشال مدیا</a:t>
            </a:r>
          </a:p>
          <a:p xmlns:a="http://schemas.openxmlformats.org/drawingml/2006/main">
            <a:r>
              <a:t>- D:/source/Shahrah/docs/content-glossary.md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D:/source/Shahrah/docs/design-system/DESIGN.md</a:t>
            </a:r>
          </a:p>
          <a:p xmlns:a="http://schemas.openxmlformats.org/drawingml/2006/main">
            <a:r>
              <a:t>- D:/source/Shahrah/web-assets/README-fa.md</a:t>
            </a:r>
          </a:p>
          <a:p xmlns:a="http://schemas.openxmlformats.org/drawingml/2006/main">
            <a:r>
              <a:t>- D:/source/Shahrah/web-assets/svg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D:/source/Shahrah/web-assets/colors.json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D:/source/Shahrah/web-assets/colors.json</a:t>
            </a:r>
          </a:p>
          <a:p xmlns:a="http://schemas.openxmlformats.org/drawingml/2006/main">
            <a:r>
              <a:t>- D:/source/Shahrah/docs/design-system/DESIGN.md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D:/source/Shahrah/apps/website/app/styles/fonts.css</a:t>
            </a:r>
          </a:p>
          <a:p xmlns:a="http://schemas.openxmlformats.org/drawingml/2006/main">
            <a:r>
              <a:t>- D:/source/Shahrah/apps/tenant-admin/design-system/tokens.css</a:t>
            </a:r>
          </a:p>
          <a:p xmlns:a="http://schemas.openxmlformats.org/drawingml/2006/main">
            <a:r>
              <a:t>- D:/source/Shahrah/docs/design-system/RTL_GUIDELINES.md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D:/source/Shahrah/docs/design-system/RTL_GUIDELINES.md</a:t>
            </a:r>
          </a:p>
          <a:p xmlns:a="http://schemas.openxmlformats.org/drawingml/2006/main">
            <a:r>
              <a:t>- D:/source/Shahrah/docs/content-glossary.md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D:/source/Shahrah/docs/design-system/DESIGN.md</a:t>
            </a:r>
          </a:p>
          <a:p xmlns:a="http://schemas.openxmlformats.org/drawingml/2006/main">
            <a:r>
              <a:t>- D:/source/Shahrah/web-assets/social/style-guide/social-tokens.json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Referenced conversation: تم گرافیکی برای سوشال مدیا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Referenced conversation: تم گرافیکی برای سوشال مدیا</a:t>
            </a:r>
          </a:p>
          <a:p xmlns:a="http://schemas.openxmlformats.org/drawingml/2006/main">
            <a:r>
              <a:t>- D:/source/Shahrah/web-assets/social/posts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D:/source/Shahrah/docs/content-glossary.md</a:t>
            </a:r>
          </a:p>
          <a:p xmlns:a="http://schemas.openxmlformats.org/drawingml/2006/main">
            <a:r>
              <a:t>- D:/source/Shahrah/web-assets/social/style-guide/STYLE-GUIDE-fa.md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https://www.linkedin.com/help/linkedin/answer/a519831</a:t>
            </a:r>
          </a:p>
          <a:p xmlns:a="http://schemas.openxmlformats.org/drawingml/2006/main">
            <a:r>
              <a:t>- https://www.linkedin.com/help/lms/answer/a521928</a:t>
            </a:r>
          </a:p>
          <a:p xmlns:a="http://schemas.openxmlformats.org/drawingml/2006/main">
            <a:r>
              <a:t>- https://www.facebook.com/help/1631821640426723/</a:t>
            </a:r>
          </a:p>
          <a:p xmlns:a="http://schemas.openxmlformats.org/drawingml/2006/main">
            <a:r>
              <a:t>- https://www.facebook.com/help/instagram/269314186824048</a:t>
            </a:r>
          </a:p>
          <a:p xmlns:a="http://schemas.openxmlformats.org/drawingml/2006/main">
            <a:r>
              <a:t>- https://www.facebook.com/help/instagram/1038071743007909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Referenced conversation: تم گرافیکی برای سوشال مدیا</a:t>
            </a:r>
          </a:p>
          <a:p xmlns:a="http://schemas.openxmlformats.org/drawingml/2006/main">
            <a:r>
              <a:t>- D:/source/Shahrah/web-assets/social/style-guide/STYLE-GUIDE-fa.md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D:/source/Shahrah/web-assets/colors.json</a:t>
            </a:r>
          </a:p>
          <a:p xmlns:a="http://schemas.openxmlformats.org/drawingml/2006/main">
            <a:r>
              <a:t>- D:/source/Shahrah/web-assets/png/natural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D:/source/Shahrah/web-assets/social/style-guide/STYLE-GUIDE-fa.md</a:t>
            </a:r>
          </a:p>
          <a:p xmlns:a="http://schemas.openxmlformats.org/drawingml/2006/main">
            <a:r>
              <a:t>- https://www.linkedin.com/help/linkedin/answer/a519831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D:/source/Shahrah/docs/design-system/DESIGN.md</a:t>
            </a:r>
          </a:p>
          <a:p xmlns:a="http://schemas.openxmlformats.org/drawingml/2006/main">
            <a:r>
              <a:t>- D:/source/Shahrah/docs/design-system/RTL_GUIDELINES.md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D:/source/Shahrah/docs/content-glossary.md</a:t>
            </a:r>
          </a:p>
          <a:p xmlns:a="http://schemas.openxmlformats.org/drawingml/2006/main">
            <a:r>
              <a:t>- D:/source/Shahrah/web-assets/social/posts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D:/source/Shahrah/web-assets/social/style-guide/STYLE-GUIDE-fa.md</a:t>
            </a:r>
          </a:p>
          <a:p xmlns:a="http://schemas.openxmlformats.org/drawingml/2006/main">
            <a:r>
              <a:t>- Referenced conversation: تم گرافیکی برای سوشال مدیا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4c8aae75543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88a7739e6447ee" /><Relationship Type="http://schemas.openxmlformats.org/officeDocument/2006/relationships/slideLayout" Target="/ppt/slideLayouts/slideLayout1.xml" Id="Rf45d575769554b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5d575769554b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f567bba714c2b" /><Relationship Type="http://schemas.openxmlformats.org/officeDocument/2006/relationships/image" Target="/ppt/media/image.png" Id="Re445578667cc41f3" /><Relationship Type="http://schemas.openxmlformats.org/officeDocument/2006/relationships/notesSlide" Target="/ppt/notesSlides/notesSlide1.xml" Id="Rcf0d1b2cdd954d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83faa92a7499f" /><Relationship Type="http://schemas.openxmlformats.org/officeDocument/2006/relationships/notesSlide" Target="/ppt/notesSlides/notesSlide2.xml" Id="Rc168000a5be548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498ca38424842" /><Relationship Type="http://schemas.openxmlformats.org/officeDocument/2006/relationships/notesSlide" Target="/ppt/notesSlides/notesSlide3.xml" Id="R557eb4c6241b43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c1c8adf294e90" /><Relationship Type="http://schemas.openxmlformats.org/officeDocument/2006/relationships/notesSlide" Target="/ppt/notesSlides/notesSlide4.xml" Id="R3d861f17aeb142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f6dcd22bf4995" /><Relationship Type="http://schemas.openxmlformats.org/officeDocument/2006/relationships/notesSlide" Target="/ppt/notesSlides/notesSlide5.xml" Id="Rfe6063b3f2d14a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6a069ecb94a5b" /><Relationship Type="http://schemas.openxmlformats.org/officeDocument/2006/relationships/image" Target="/ppt/media/image2.png" Id="R1bd52316207140ef" /><Relationship Type="http://schemas.openxmlformats.org/officeDocument/2006/relationships/image" Target="/ppt/media/image3.png" Id="Rb8227ea3cedc4c1e" /><Relationship Type="http://schemas.openxmlformats.org/officeDocument/2006/relationships/notesSlide" Target="/ppt/notesSlides/notesSlide6.xml" Id="R8439b2c267d14e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f5e5b45ad45c4" /><Relationship Type="http://schemas.openxmlformats.org/officeDocument/2006/relationships/notesSlide" Target="/ppt/notesSlides/notesSlide7.xml" Id="Rb7c851a8322a4b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15c915e1742df" /><Relationship Type="http://schemas.openxmlformats.org/officeDocument/2006/relationships/notesSlide" Target="/ppt/notesSlides/notesSlide8.xml" Id="R7d572fa968c942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375c1eb4b48b6" /><Relationship Type="http://schemas.openxmlformats.org/officeDocument/2006/relationships/notesSlide" Target="/ppt/notesSlides/notesSlide9.xml" Id="Rf4a001370c6e4f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8f56527fc463b" /><Relationship Type="http://schemas.openxmlformats.org/officeDocument/2006/relationships/notesSlide" Target="/ppt/notesSlides/notesSlide10.xml" Id="R724c2811c24141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32dcaf1bb4204" /><Relationship Type="http://schemas.openxmlformats.org/officeDocument/2006/relationships/image" Target="/ppt/media/image4.png" Id="R60723c9700044c52" /><Relationship Type="http://schemas.openxmlformats.org/officeDocument/2006/relationships/notesSlide" Target="/ppt/notesSlides/notesSlide11.xml" Id="R339751361c4e4a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4423042b247e5" /><Relationship Type="http://schemas.openxmlformats.org/officeDocument/2006/relationships/notesSlide" Target="/ppt/notesSlides/notesSlide12.xml" Id="Rdecb4712132649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623ea8247400d" /><Relationship Type="http://schemas.openxmlformats.org/officeDocument/2006/relationships/notesSlide" Target="/ppt/notesSlides/notesSlide13.xml" Id="Rd11d8837722a48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e523e34d4426c" /><Relationship Type="http://schemas.openxmlformats.org/officeDocument/2006/relationships/notesSlide" Target="/ppt/notesSlides/notesSlide14.xml" Id="R669077bead6b4e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f0eb0eb0b4585" /><Relationship Type="http://schemas.openxmlformats.org/officeDocument/2006/relationships/notesSlide" Target="/ppt/notesSlides/notesSlide15.xml" Id="Rd87dd4018d8e4d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b1e15ed2f4685" /><Relationship Type="http://schemas.openxmlformats.org/officeDocument/2006/relationships/notesSlide" Target="/ppt/notesSlides/notesSlide16.xml" Id="Ra650393478d54a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3fc622c344508" /><Relationship Type="http://schemas.openxmlformats.org/officeDocument/2006/relationships/image" Target="/ppt/media/image5.png" Id="R0ae88287d0b045b8" /><Relationship Type="http://schemas.openxmlformats.org/officeDocument/2006/relationships/image" Target="/ppt/media/image6.png" Id="Rf2546316f071479c" /><Relationship Type="http://schemas.openxmlformats.org/officeDocument/2006/relationships/image" Target="/ppt/media/image7.png" Id="R1e615ab124c34b7c" /><Relationship Type="http://schemas.openxmlformats.org/officeDocument/2006/relationships/notesSlide" Target="/ppt/notesSlides/notesSlide17.xml" Id="Ra6a5b73312ce44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9786880334ac3" /><Relationship Type="http://schemas.openxmlformats.org/officeDocument/2006/relationships/notesSlide" Target="/ppt/notesSlides/notesSlide18.xml" Id="Rf05f250de15543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1dcfff5584166" /><Relationship Type="http://schemas.openxmlformats.org/officeDocument/2006/relationships/notesSlide" Target="/ppt/notesSlides/notesSlide19.xml" Id="R8b7b3877a11348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6f0ddb64144a3" /><Relationship Type="http://schemas.openxmlformats.org/officeDocument/2006/relationships/notesSlide" Target="/ppt/notesSlides/notesSlide20.xml" Id="Rca58938f86c54b3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143f76e784e46" /><Relationship Type="http://schemas.openxmlformats.org/officeDocument/2006/relationships/image" Target="/ppt/media/image8.png" Id="Rf885e936affd4856" /><Relationship Type="http://schemas.openxmlformats.org/officeDocument/2006/relationships/notesSlide" Target="/ppt/notesSlides/notesSlide21.xml" Id="R4adef0c76d134659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82D"/>
            </a:gs>
            <a:gs pos="58000">
              <a:srgbClr val="022A57"/>
            </a:gs>
            <a:gs pos="100000">
              <a:srgbClr val="011D40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0C528-C018-4BE8-8B01-8755422F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6750" y="4929188"/>
            <a:ext cx="10858500" cy="71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C9EB">
                <a:alpha val="28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80025-6D87-4667-AF72-0C82C4E0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6750" y="5100638"/>
            <a:ext cx="10858500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9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7FB7E-7F27-4501-A0B2-60554CF6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" y="5248275"/>
            <a:ext cx="10858500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C9EB">
                <a:alpha val="2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7E35E-6B48-4A30-95FC-A40FFF7C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" y="5372100"/>
            <a:ext cx="10858500" cy="71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C9EB">
                <a:alpha val="2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6A16F-EA72-4CC2-A4AE-E7C6791D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5057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9EB"/>
          </a:solidFill>
          <a:ln xmlns:a="http://schemas.openxmlformats.org/drawingml/2006/main" w="9525">
            <a:solidFill>
              <a:srgbClr val="00C9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5526F-CC01-4331-B145-E72C6744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7400" y="5153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5578667cc41f3"/>
          <a:stretch xmlns:a="http://schemas.openxmlformats.org/drawingml/2006/main"/>
        </p:blipFill>
        <p:spPr>
          <a:xfrm xmlns:a="http://schemas.openxmlformats.org/drawingml/2006/main">
            <a:off x="745274" y="628650"/>
            <a:ext cx="1138351" cy="838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44B21-6229-4E68-B4B1-14EB779D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76375"/>
            <a:ext cx="7505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3000"/>
              </a:lnSpc>
              <a:buNone/>
              <a:defRPr sz="495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495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‏راهنمای هویت بصری</a:t>
            </a:r>
          </a:p>
          <a:p xmlns:a="http://schemas.openxmlformats.org/drawingml/2006/main">
            <a:pPr algn="r">
              <a:lnSpc>
                <a:spcPct val="103000"/>
              </a:lnSpc>
              <a:buNone/>
              <a:defRPr sz="495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495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شبکه‌های اجتماعی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95DBA-7B3F-4E05-8CD0-213B60A1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38550"/>
            <a:ext cx="584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950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‏جریان هوشمند × فناوری تحریریه‌ای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56D5B-AF27-4593-A4DC-1ACE7A1F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‎v1.0  |  2026-08-06</a:t>
            </a:r>
          </a:p>
        </p:txBody>
      </p:sp>
    </p:spTree>
    <p:extLst>
      <p:ext uri="{BB962C8B-B14F-4D97-AF65-F5344CB8AC3E}">
        <p14:creationId xmlns:p14="http://schemas.microsoft.com/office/powerpoint/2010/main" val="1142532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2D0A70-03D4-4E7B-8E85-B57359BD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‏روش استفاده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E37F2-96A6-4D5E-9668-96047F0E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87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‏این راهنما مسیر تولید است، نه تابلوی الهام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F4E60-CACD-4D56-A051-6DDD9DA9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‏از تعریف مسئله تا انتشار، هر تصمیم باید قابل ردیابی و قابل تکرار باشد.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9614A-B882-4D03-AEC3-C62B9E5E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407A9-B821-47FF-8351-CEDA8A29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‏روش استفاده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DE02A-4588-477C-A775-A5D10BD6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‎02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68025-31C5-443C-934F-A2800BFC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28750" y="33528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12651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CED6D-8D9A-467A-A4A4-30A80882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4075" y="3190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9EB"/>
          </a:solidFill>
          <a:ln xmlns:a="http://schemas.openxmlformats.org/drawingml/2006/main" w="9525">
            <a:solidFill>
              <a:srgbClr val="00C9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10619-82B0-439A-89E4-D1817692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‏۰۱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0B7C1-6C90-4F89-A7CC-EAD490F3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9113A-5823-4BA4-BC1D-0935C9FA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7670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‏هدف، مخاطب، پیام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6C99E-A316-47D7-8911-DCD2D0D2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3190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9EB"/>
          </a:solidFill>
          <a:ln xmlns:a="http://schemas.openxmlformats.org/drawingml/2006/main" w="9525">
            <a:solidFill>
              <a:srgbClr val="00C9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EED93-222B-4CEC-BB48-B060E639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‏۰۲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821E4-C7B5-4EEC-B795-6614273E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7147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4FECC-8B50-48F5-868C-D352221F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7670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‏منبع و تاریخ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05227-7D44-4BA7-ADB5-E4CC1A07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7825" y="3190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9EB"/>
          </a:solidFill>
          <a:ln xmlns:a="http://schemas.openxmlformats.org/drawingml/2006/main" w="9525">
            <a:solidFill>
              <a:srgbClr val="00C9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9837E-5DEF-4752-B5CB-E82348F4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‏۰۳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EF068-6839-4AF0-A89D-6055E397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147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‎Template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48070-5716-43D2-9E9A-88C0FFA4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7670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‏نزدیک‌ترین خانواده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54B96-5540-4941-9812-B311B7E0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190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9EB"/>
          </a:solidFill>
          <a:ln xmlns:a="http://schemas.openxmlformats.org/drawingml/2006/main" w="9525">
            <a:solidFill>
              <a:srgbClr val="00C9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98161-B25B-4D4D-AAFA-15955CCB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24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‏۰۴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79DC6-3F05-483A-999A-D25E854F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147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‎QA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8DDF8-AA7D-4B0A-BC0E-842D286B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7670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‏RTL، کنتراست، صحت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B4C6C8-53EC-455F-88A0-2ECBB76B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3190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2651"/>
          </a:solidFill>
          <a:ln xmlns:a="http://schemas.openxmlformats.org/drawingml/2006/main" w="9525">
            <a:solidFill>
              <a:srgbClr val="01265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412DD3-2346-43CA-A872-08F0C31B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‏۰۵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0D36AB-FA93-4546-9743-FEFB16F8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‎Publish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16225F-66E1-428E-9514-AC0BA0D9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07670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‏Preview و آرشیو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63591-F9DB-46FF-A3F6-70D78651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‏قاعده طلایی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C662B2-0E60-46E3-B36C-3B2AB702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05450"/>
            <a:ext cx="7077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725" b="0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‏استثنا فقط وقتی مجاز است که دلیل، مالک تصمیم و تاریخ بازبینی ثبت شود.</a:t>
            </a:r>
          </a:p>
        </p:txBody>
      </p:sp>
    </p:spTree>
    <p:extLst>
      <p:ext uri="{BB962C8B-B14F-4D97-AF65-F5344CB8AC3E}">
        <p14:creationId xmlns:p14="http://schemas.microsoft.com/office/powerpoint/2010/main" val="2122109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1DED5-7728-4E28-AAAC-15A98DA4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‏شخصیت برند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CEA22-89BC-49B6-8670-D46D8432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‏با مخاطب فنی، آرام و دقیق حرف می‌زنیم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F1340-B4B6-4D49-9EA3-E759B288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‏پیچیدگی زیرساخت در پشت صحنه می‌ماند؛ پیام روی صفحه ساده و قابل اثبات است.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773DF-DAC4-4399-AF69-0D382D57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E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3B9F6-0F21-4ADB-9DC5-B9C1A245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‏شخصیت برند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A631D-D148-45B8-BAB6-7E41B1D5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‎03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B67A3-1B12-435B-BF06-196B5E64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38862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000"/>
              </a:lnSpc>
              <a:buNone/>
              <a:defRPr sz="315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‏دقیق</a:t>
            </a:r>
          </a:p>
          <a:p xmlns:a="http://schemas.openxmlformats.org/drawingml/2006/main">
            <a:pPr algn="r">
              <a:lnSpc>
                <a:spcPct val="128000"/>
              </a:lnSpc>
              <a:buNone/>
              <a:defRPr sz="315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قابل‌اتکا</a:t>
            </a:r>
          </a:p>
          <a:p xmlns:a="http://schemas.openxmlformats.org/drawingml/2006/main">
            <a:pPr algn="r">
              <a:lnSpc>
                <a:spcPct val="128000"/>
              </a:lnSpc>
              <a:buNone/>
              <a:defRPr sz="315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مدرن</a:t>
            </a:r>
          </a:p>
          <a:p xmlns:a="http://schemas.openxmlformats.org/drawingml/2006/main">
            <a:pPr algn="r">
              <a:lnSpc>
                <a:spcPct val="128000"/>
              </a:lnSpc>
              <a:buNone/>
              <a:defRPr sz="315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فارسی‌محور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333AF-08EC-4438-BFCA-FA560AAB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0" y="22288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9EB">
                <a:alpha val="6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B552D-41C9-4518-9641-4FC52862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‏مخاطب اصلی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9877C-07FB-41AE-BD5D-C18E72F3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62250"/>
            <a:ext cx="4629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025" b="1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‏توسعه‌دهنده، مهندس پلتفرم،</a:t>
            </a:r>
          </a:p>
          <a:p xmlns:a="http://schemas.openxmlformats.org/drawingml/2006/main">
            <a:pPr algn="r">
              <a:lnSpc>
                <a:spcPct val="118000"/>
              </a:lnSpc>
              <a:buNone/>
              <a:defRPr sz="2025" b="1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D9EEFF"/>
                </a:solidFill>
                <a:latin typeface="Tahoma"/>
                <a:ea typeface="Tahoma"/>
                <a:cs typeface="Tahoma"/>
              </a:rPr>
              <a:t>مدیر فنی و معمار نرم‌افزار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A2327-14CF-4F53-9D7F-78DA4A71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290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‏مخاطب دوم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59FE7-7959-416E-A4CD-698FD1BF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57700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025" b="1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‏مدیر محصول، بنیان‌گذار و</a:t>
            </a:r>
          </a:p>
          <a:p xmlns:a="http://schemas.openxmlformats.org/drawingml/2006/main">
            <a:pPr algn="r">
              <a:lnSpc>
                <a:spcPct val="118000"/>
              </a:lnSpc>
              <a:buNone/>
              <a:defRPr sz="2025" b="1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D9EEFF"/>
                </a:solidFill>
                <a:latin typeface="Tahoma"/>
                <a:ea typeface="Tahoma"/>
                <a:cs typeface="Tahoma"/>
              </a:rPr>
              <a:t>تصمیم‌گیر سازمانی هوش مصنوعی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D4829-3362-400B-897D-390D1A94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743575"/>
            <a:ext cx="784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‏نه خشک و سازمانی؛ نه فانتزی و مصرفی.</a:t>
            </a:r>
          </a:p>
        </p:txBody>
      </p:sp>
    </p:spTree>
    <p:extLst>
      <p:ext uri="{BB962C8B-B14F-4D97-AF65-F5344CB8AC3E}">
        <p14:creationId xmlns:p14="http://schemas.microsoft.com/office/powerpoint/2010/main" val="428386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78D62-D35F-4376-8AB8-A87C7DFD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‏جهت بصری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A0BA3-2B04-431C-B4F7-CB3BD969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40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‏سه لایه، یک ادراک: جریان + کنترل + شفافیت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10AE6-7E37-4F35-A98A-1ACC7F44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‏هر عنصر گرافیکی باید دست‌کم یکی از این سه نقش را داشته باشد.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078C5-D6D1-48D8-8750-A9152307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F7627-ED6B-4D2C-BE80-12D6AAFC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‏جهت بصری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099D9-64C9-4412-B745-6B773652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‎04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BB900-AABA-4A3B-B757-B4861670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266950"/>
            <a:ext cx="107823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00C9EB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F123B-538F-41C4-B975-4079459D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B024B-08C2-4C5E-BF26-6329AD4E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32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‏جریان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B01C8-01C6-47C4-831D-902F0C70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336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75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‏مسیر، عبور، اتصال و هدایت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A4217-75B1-4C0C-8713-C176B322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371850"/>
            <a:ext cx="107823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012651">
              <a:alpha val="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36D9B-8D75-4048-AFEA-2E421630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‎۰۲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6570E-DF1D-445D-BD3F-17E80F42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337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32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‏کنترل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CEEB2-EB5A-47F9-80A5-B053F279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75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‏گرید، نظم، داده و مشاهده‌پذیری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F19EB-7263-4416-9F4F-61F93298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476750"/>
            <a:ext cx="107823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F44A7-4F39-4F9E-90D5-2F0FD3F0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A4670-60AE-49F1-A7C7-DFD89123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386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32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‏شفافیت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FA2D2-D0E1-413F-93C2-89C542CA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75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‏فضای خالی، تیتر روشن و حداقل تزئین</a:t>
            </a:r>
          </a:p>
        </p:txBody>
      </p:sp>
    </p:spTree>
    <p:extLst>
      <p:ext uri="{BB962C8B-B14F-4D97-AF65-F5344CB8AC3E}">
        <p14:creationId xmlns:p14="http://schemas.microsoft.com/office/powerpoint/2010/main" val="84888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8DBA99-B89D-4995-86B4-BF7AF1A4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‏معماری محتوا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82587-983B-4FE9-B766-3DC12403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‏قالب از هدف محتوا انتخاب می‌شود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37582-151C-4987-8D28-12903160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‏یک قالب ثابت برای آموزش، خبر انتشار، داده و رویداد کافی نیست.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2F81B-15D8-4A91-862E-8575B397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3510D-55FF-4A79-922E-62AFB5CE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‏معماری محتوا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7A809-AD1D-4CE8-99A1-7CDDD6B7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‎05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926A1-BCB5-4485-B13B-204433C5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D6360-BAFD-4ADB-AAD8-33109445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47900"/>
            <a:ext cx="403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‏آموزش و آگاهی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A3291-B8DC-4E23-859A-D24EAF8C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657B9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57B91"/>
                </a:solidFill>
                <a:latin typeface="Tahoma"/>
                <a:ea typeface="Tahoma"/>
                <a:cs typeface="Tahoma"/>
              </a:rPr>
              <a:t>‏درگاه مدل‌های زبانی چیست؟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20787-D7E3-41D6-976B-B298A035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150" y="29718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B05CE-D7D6-4A2D-93C1-6E4E0BDC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4A238-7BAF-4F86-9E9B-9126F173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403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‏محتوای فنی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9FFED-8C5F-48FE-A559-9587DB0E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657B9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57B91"/>
                </a:solidFill>
                <a:latin typeface="Tahoma"/>
                <a:ea typeface="Tahoma"/>
                <a:cs typeface="Tahoma"/>
              </a:rPr>
              <a:t>‏مسیریابی، کش پاسخ، پایش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934BA-0E70-4F58-9A42-EEC80127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150" y="38862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4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AA504-6154-4F9A-9DD8-A1582ADB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79885-D1A9-490C-8946-22919138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403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‏مقایسه و تحلیل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C8F22-CE9C-499B-92E3-D68FD567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386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657B9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57B91"/>
                </a:solidFill>
                <a:latin typeface="Tahoma"/>
                <a:ea typeface="Tahoma"/>
                <a:cs typeface="Tahoma"/>
              </a:rPr>
              <a:t>‏اتصال مستقیم در برابر درگاه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793B2-035A-4BD0-9208-E38097DF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150" y="48006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7239E-FDF9-48D0-8A2C-A9BC2C82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32BAE9-2E49-4D5C-A6CF-E34F874D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403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‏معرفی قابلیت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6A9AA-0533-4792-BA43-D5680173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530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657B9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57B91"/>
                </a:solidFill>
                <a:latin typeface="Tahoma"/>
                <a:ea typeface="Tahoma"/>
                <a:cs typeface="Tahoma"/>
              </a:rPr>
              <a:t>‏کنترل هزینه و مدل مجازی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2A51E-2254-428F-9C9E-D7FE099A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150" y="5715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4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84D7D-013C-4485-95D5-89E4BD93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C20D65-6F13-4040-A2CD-C969AC65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47900"/>
            <a:ext cx="403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‏دیدگاه و تحلیل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8FD8B-7D96-454F-B714-97738EA6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657B9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57B91"/>
                </a:solidFill>
                <a:latin typeface="Tahoma"/>
                <a:ea typeface="Tahoma"/>
                <a:cs typeface="Tahoma"/>
              </a:rPr>
              <a:t>‏زیرساخت هوش مصنوعی در ایران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9E713A-1DF5-4028-A895-3115127B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05550" y="29718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4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E08C0-9088-4E59-83D9-D77E8406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C1ECEC-B91F-422B-BF4D-FFBE489C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403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‏خبر محصول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65DBA1-4042-4054-B487-C3FDAE28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242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657B9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57B91"/>
                </a:solidFill>
                <a:latin typeface="Tahoma"/>
                <a:ea typeface="Tahoma"/>
                <a:cs typeface="Tahoma"/>
              </a:rPr>
              <a:t>‏ارائه‌دهنده یا قابلیت جدید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AA8CDB-1F04-4A5F-8C72-BA5C2142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05550" y="38862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4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F618FA-6D56-41FC-8341-348456E6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14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C1D481-16E4-450D-BE16-B6FE9D37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403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‏آمار و داده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12A5CC-3450-4B21-86C4-64B8B88B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386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657B9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57B91"/>
                </a:solidFill>
                <a:latin typeface="Tahoma"/>
                <a:ea typeface="Tahoma"/>
                <a:cs typeface="Tahoma"/>
              </a:rPr>
              <a:t>‏هزینه، تاخیر یا مصرف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8D7015-474F-4C63-B49A-0BDD9655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05550" y="48006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4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68B2D7-3395-4A46-8C0B-9BE7A0D9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29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F7231D-3BA7-47B7-9111-0B75D145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91100"/>
            <a:ext cx="403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‏رویداد و فراخوان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7251C6-3ABE-4B51-8E10-ED42BFC6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530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657B91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57B91"/>
                </a:solidFill>
                <a:latin typeface="Tahoma"/>
                <a:ea typeface="Tahoma"/>
                <a:cs typeface="Tahoma"/>
              </a:rPr>
              <a:t>‏دمو، وبینار، ثبت‌نام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E97F8B-72D8-4E4B-8D1C-16EA0F4F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05550" y="5715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4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37955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2B01E-FBCE-4C9A-85DF-53056969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‏نشان برند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2E0C1-1168-4736-B4C6-70FFA4C6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‏نشان را مصرف کنید؛ بازطراحی نکنید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588AC-F773-417D-8334-0C03F69E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‏پوشه دارایی‌های وب تنها منبع حقیقت است و نسبت ۳۳۶:۲۴۷ باید حفظ شود.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F69CD-AF5E-4F01-998F-DD11E9D2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EBC03-D5C5-4C81-9542-0A26E80B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‏نشان برند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099E0-FAA0-4785-A135-41DD117C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‎06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936D9-B544-4F52-A2DD-3329DD4F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47900"/>
            <a:ext cx="52197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8722E-945E-402C-B7E3-EBA944F6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247900"/>
            <a:ext cx="52197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52316207140ef"/>
          <a:stretch xmlns:a="http://schemas.openxmlformats.org/drawingml/2006/main"/>
        </p:blipFill>
        <p:spPr>
          <a:xfrm xmlns:a="http://schemas.openxmlformats.org/drawingml/2006/main">
            <a:off x="2451412" y="2819400"/>
            <a:ext cx="1707527" cy="125730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27ea3cedc4c1e"/>
          <a:stretch xmlns:a="http://schemas.openxmlformats.org/drawingml/2006/main"/>
        </p:blipFill>
        <p:spPr>
          <a:xfrm xmlns:a="http://schemas.openxmlformats.org/drawingml/2006/main">
            <a:off x="8052112" y="2819400"/>
            <a:ext cx="1707527" cy="1257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C795E-5678-4FBA-95D0-B9F5C6FC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10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‏زمینه روشن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82E0D-683A-4195-915E-C191732A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10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‏زمینه تیره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7DDEF-AF73-48C9-BFCB-A575FF82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0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50" b="1">
                <a:solidFill>
                  <a:srgbClr val="D85A63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D85A63"/>
                </a:solidFill>
                <a:latin typeface="Tahoma"/>
                <a:ea typeface="Tahoma"/>
                <a:cs typeface="Tahoma"/>
              </a:rPr>
              <a:t>‎×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11A9B-8B55-4FBB-A2CF-05ED12EB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6732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‏کشیدگی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B80EF-DA89-4B28-B0D5-BF7E606F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197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0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50" b="1">
                <a:solidFill>
                  <a:srgbClr val="D85A63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D85A63"/>
                </a:solidFill>
                <a:latin typeface="Tahoma"/>
                <a:ea typeface="Tahoma"/>
                <a:cs typeface="Tahoma"/>
              </a:rPr>
              <a:t>‎×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45BC1-1593-4258-BDBC-B4BF2EA8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6732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‏درخشش روی نشان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5AAF4-AC88-47D2-A7D9-AED15E82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197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0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50" b="1">
                <a:solidFill>
                  <a:srgbClr val="D85A63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D85A63"/>
                </a:solidFill>
                <a:latin typeface="Tahoma"/>
                <a:ea typeface="Tahoma"/>
                <a:cs typeface="Tahoma"/>
              </a:rPr>
              <a:t>‎×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EB83A-7A29-4FF6-B52D-EB032FCB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6732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‏نوشتار برند جعلی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A069A-A131-4103-8967-FC31F0AA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674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‏فضای خالی پیشنهادی: ¼ ارتفاع نشان</a:t>
            </a:r>
          </a:p>
        </p:txBody>
      </p:sp>
    </p:spTree>
    <p:extLst>
      <p:ext uri="{BB962C8B-B14F-4D97-AF65-F5344CB8AC3E}">
        <p14:creationId xmlns:p14="http://schemas.microsoft.com/office/powerpoint/2010/main" val="262561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31FF4-78B7-4FD1-AF0C-B134C444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‏رنگ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C7E53-404C-477A-9648-1B440ECF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02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‏سرمه‌ای بستر اعتماد است؛ فیروزه‌ای فقط سیگنال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7A0B2-07EF-4E0A-A004-AFE8BB6C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‏حالت تیره انتخاب پیش‌فرض است، اما نسخه روشن برای متن متراکم ضروری است.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4DD20-08BF-4A00-B132-57D38BDC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50806-6BDA-4629-84D0-5C18CCD2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‏رنگ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83E6E-7AE8-4F12-A7B0-014C7080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‎07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F7927-DEBF-45F4-B6C1-744421E7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09800"/>
            <a:ext cx="1981200" cy="25527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FE864-978A-4DEF-928B-0AD487BA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F6FBF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6FBFF"/>
                </a:solidFill>
                <a:latin typeface="Consolas"/>
                <a:ea typeface="Consolas"/>
                <a:cs typeface="Consolas"/>
              </a:rPr>
              <a:t>‎Dark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A235C-EE99-4AFE-AFA4-7AD0905D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F6FB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6FBFF"/>
                </a:solidFill>
                <a:latin typeface="Consolas"/>
                <a:ea typeface="Consolas"/>
                <a:cs typeface="Consolas"/>
              </a:rPr>
              <a:t>‎#06182D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18F4C-67A5-4E04-BDC1-D2977ABD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2209800"/>
            <a:ext cx="1981200" cy="25527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0126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38AB7-F09A-4497-8A6B-21869854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F6FBF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6FBFF"/>
                </a:solidFill>
                <a:latin typeface="Consolas"/>
                <a:ea typeface="Consolas"/>
                <a:cs typeface="Consolas"/>
              </a:rPr>
              <a:t>‎Navy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6ECA4-3A42-4383-8B93-8B484C60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434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F6FB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F6FBFF"/>
                </a:solidFill>
                <a:latin typeface="Consolas"/>
                <a:ea typeface="Consolas"/>
                <a:cs typeface="Consolas"/>
              </a:rPr>
              <a:t>‎#012651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C0EA2-C037-4F54-A5DB-EC11C54E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2209800"/>
            <a:ext cx="1981200" cy="25527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00C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4F576-26B5-44C3-BE5C-81AF877A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433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‎Cyan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2294F-D130-4E48-85D9-9982D9F5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434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‎#00C9EB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A9D08-42AB-40F3-9885-31379434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2209800"/>
            <a:ext cx="1981200" cy="25527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D9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C7233-D791-4F6A-8597-39537169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433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03EEB-DF72-4948-821D-9A49FD39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434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‎#D9EEFF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86EF8-E69C-4840-8862-AE503213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2209800"/>
            <a:ext cx="1981200" cy="25527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6FBFF"/>
          </a:solidFill>
          <a:ln xmlns:a="http://schemas.openxmlformats.org/drawingml/2006/main" w="9525">
            <a:solidFill>
              <a:srgbClr val="C9D9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0658F-D95B-4DC7-823C-B36265C4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433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‎Off-white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005E9F-93C6-456B-898B-C9DC6CDF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434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‎#F6FBFF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7E050-3BC3-459E-9C75-D28F608D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219700"/>
            <a:ext cx="2600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‏۷۰٪ بستر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A1428-0CA6-4B3B-A7FD-259FF715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219700"/>
            <a:ext cx="2600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‏۲۰٪ متن و سطح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39B85-0E07-418B-A3A8-EC0DBABB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219700"/>
            <a:ext cx="2600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‏۱۰٪ تاکید</a:t>
            </a:r>
          </a:p>
        </p:txBody>
      </p:sp>
    </p:spTree>
    <p:extLst>
      <p:ext uri="{BB962C8B-B14F-4D97-AF65-F5344CB8AC3E}">
        <p14:creationId xmlns:p14="http://schemas.microsoft.com/office/powerpoint/2010/main" val="20822104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45CC8-F8AC-4D7A-B107-3FE5A97D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‏کنتراست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76B83-8437-4DB6-B4E4-36C59DE4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519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‏فیروزه‌ای روی تیره می‌درخشد؛ روی سفید خوانا نیست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07FC8-DB8C-47B9-8E65-8EF2F64B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‏رنگ به‌تنهایی نباید حامل معنا باشد.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483C4-F91D-4279-8A47-E125A39D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AF415-FD07-4CC6-B793-F263C859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‏کنتراست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5DEA9-4F82-4564-AE95-3F773B91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‎08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5F96D-9818-42C7-8129-5BE8D55A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152650"/>
            <a:ext cx="52197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DCAAD-2D2D-49E0-9620-C21FDD13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152650"/>
            <a:ext cx="52197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006AE-39F8-45D6-A424-51587F56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4305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46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46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‎۸.۹۷:۱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499EE-53A1-472A-9F35-F9D5C5D4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‏فیروزه‌ای روی تیره - مجاز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765AA-DC28-4B0C-A32A-E7FEC50C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5770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‏✓ متن و عناصر معنادار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F600B-A067-4A77-A27B-BE3D95DA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4305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46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46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‎۱.۹۹:۱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EBAA3-8CBA-40EA-A94A-DBDC99CE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433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‏فیروزه‌ای روی سفید - نامجاز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24C1D-EF38-4CD8-80FD-62E566B1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5770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D85A63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D85A63"/>
                </a:solidFill>
                <a:latin typeface="Tahoma"/>
                <a:ea typeface="Tahoma"/>
                <a:cs typeface="Tahoma"/>
              </a:rPr>
              <a:t>‏× فقط Accent تزئینی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7978E-DDB6-4E94-9A29-36EDDD93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10250"/>
            <a:ext cx="750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‏حداقل: متن عادی ۴.۵:۱  |  گرافیک معنادار ۳:۱</a:t>
            </a:r>
          </a:p>
        </p:txBody>
      </p:sp>
    </p:spTree>
    <p:extLst>
      <p:ext uri="{BB962C8B-B14F-4D97-AF65-F5344CB8AC3E}">
        <p14:creationId xmlns:p14="http://schemas.microsoft.com/office/powerpoint/2010/main" val="1144472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38847-A873-4182-8A6A-566734A6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‏تایپوگرافی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C1A42-6111-49F9-908E-2B7738C2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68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‏وزیرمتن برای روایت؛ تک‌عرض برای شواهد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000F5-8BC3-4B71-AF1D-B861D87E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‏در این فایل، تاهوما به‌عنوان جایگزین اجرایی نمایش داده می‌شود.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02208-27BD-4A8C-89BF-2F13DE50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E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BEB5F-3D9D-40E4-9DC1-21F4807A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‏تایپوگرافی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40239-627F-4D59-AE9D-2BF85481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‎09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EA92C-B42F-45AA-A157-52D467A6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6877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56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405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‏کنترل هوشمند جریان مدل‌ها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39CA1-0D96-4736-8BC0-F12A37A7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99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‏تیتر ۸۰۰ / ۹۰۰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253FB-B9BD-43B4-88FF-72275ACF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6877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95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‏زیرساخت پیچیده را ساده، دقیق و قابل‌اثبات توضیح می‌دهیم.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35ADA-CD2F-446C-84B6-05596D06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‏متن ۴۰۰ / ۵۰۰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BEF76-B4EB-43B1-9DBE-128B180A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076450"/>
            <a:ext cx="3333750" cy="28194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12651">
              <a:alpha val="70000"/>
            </a:srgbClr>
          </a:solidFill>
          <a:ln xmlns:a="http://schemas.openxmlformats.org/drawingml/2006/main" w="9525">
            <a:solidFill>
              <a:srgbClr val="00C9EB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0F36D-B9B9-47A7-AFA9-2DF56EBD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‎/v1/chat/completions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26869-B01F-412B-BB77-141AEB17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‎model: openai/gpt-5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status: routed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latency_ms: 842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2A9EE-3134-4C59-9555-7702179E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‏کد و شناسه همیشه چپ‌به‌راست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D37AF-0538-4353-87DF-A71E9C5F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81650"/>
            <a:ext cx="579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‏حداقل متن بدنه در بوم ۱۲۰۰ پیکسلی: ۲۸ پیکسل</a:t>
            </a:r>
          </a:p>
        </p:txBody>
      </p:sp>
    </p:spTree>
    <p:extLst>
      <p:ext uri="{BB962C8B-B14F-4D97-AF65-F5344CB8AC3E}">
        <p14:creationId xmlns:p14="http://schemas.microsoft.com/office/powerpoint/2010/main" val="3200904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230C3-716F-4588-BB1D-0DD1A712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‏متن دوطرفه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D8B75-916E-4B15-9C99-757A1D41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71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‏فارسی راست‌چین؛ داده فنی در بلوک مستقل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2D0F5-105F-4B6F-BE1F-B0553781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‏ترکیب بی‌قاعده فارسی و شناسه لاتین، ترتیب خواندن را خراب می‌کند.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48116-4C98-4440-A475-10520E20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8A0B2-4449-4F49-8CD7-91FCC643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‏متن دوطرفه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F9363-8263-41D8-BE73-749C9886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‎10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62101-929D-442A-97C8-2D1C9D7C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0" y="2295525"/>
            <a:ext cx="483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12D2E-C2CD-4E0B-9526-79ABF15F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83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‏درست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BF0D2-3285-4124-A836-52D5BCB6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‏درخواست از مسیر زیر ارسال می‌شود: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1D84F-8EE8-4A7D-AFCC-7A964D30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105150"/>
            <a:ext cx="4838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70460-19EA-4496-8ED5-F4720E62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147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‎/v1/responses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CE743-6576-4B0A-9660-E9A9A053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0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‏نگارش نام برند باید یکدست باشد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F21AD-F8D0-49F3-A2CE-D2B05055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7815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000" b="1">
                <a:solidFill>
                  <a:srgbClr val="2AB980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2AB980"/>
                </a:solidFill>
                <a:latin typeface="Tahoma"/>
                <a:ea typeface="Tahoma"/>
                <a:cs typeface="Tahoma"/>
              </a:rPr>
              <a:t>‎✓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40F8B-9F27-4C97-B354-1BDDAE35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2295525"/>
            <a:ext cx="483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8838B-FE3B-40EA-8186-DC445A79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83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‏نادرست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0BB49-2B04-45C6-851D-A1531F0F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838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‏request را به /v1/responses در گدار AI بفرستید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C51CA-AAFB-4AA9-BC23-B99DD95F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300" y="3676650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5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1E82B-2A16-41E3-88E0-2C5617A3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25" b="0">
                <a:solidFill>
                  <a:srgbClr val="D85A63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D85A63"/>
                </a:solidFill>
                <a:latin typeface="Tahoma"/>
                <a:ea typeface="Tahoma"/>
                <a:cs typeface="Tahoma"/>
              </a:rPr>
              <a:t>‏انگلیسی پراکنده + نام برند ناهماهنگ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0197A-F740-49F6-9AEF-91FCCEE1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000" b="1">
                <a:solidFill>
                  <a:srgbClr val="D85A63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D85A63"/>
                </a:solidFill>
                <a:latin typeface="Tahoma"/>
                <a:ea typeface="Tahoma"/>
                <a:cs typeface="Tahoma"/>
              </a:rPr>
              <a:t>‎×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F4A89-6627-4009-8020-D1F7D96F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91200"/>
            <a:ext cx="826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‏عدد قهرمان می‌تواند فارسی باشد؛ شناسه و نسخه فنی لاتین می‌ماند.</a:t>
            </a:r>
          </a:p>
        </p:txBody>
      </p:sp>
    </p:spTree>
    <p:extLst>
      <p:ext uri="{BB962C8B-B14F-4D97-AF65-F5344CB8AC3E}">
        <p14:creationId xmlns:p14="http://schemas.microsoft.com/office/powerpoint/2010/main" val="18478923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9F590B-0DF8-4932-8649-47A86A32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‏چیدمان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7EBB8-CF17-4829-9410-56E3018D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40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‏گرید ۱۲ستونی، نگاه را از پیام به شاهد هدایت می‌کند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5EB84-CDBC-4323-8E21-0E8D7913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‏حاشیه امن ۹۶ پیکسل و ریتم فاصله مبتنی بر مضرب ۴ پیکسل است.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9B98C-A33C-42C9-BF07-1ACC7AFD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F58A5-FAA0-4563-AE14-8D8E3CF8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‏چیدمان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2267E-F39D-40E0-8EFB-D673C305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‎11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34B3E-06EF-40E0-A446-C455B582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152650"/>
            <a:ext cx="4762500" cy="3638550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E773D-50A7-49DE-B97C-C1EF9215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2438400"/>
            <a:ext cx="263525" cy="30670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00C9EB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BD1D4-A230-4F79-B756-C783717C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6525" y="2438400"/>
            <a:ext cx="263525" cy="30670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00C9EB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935A9-8316-4BBD-B38B-C43D6ED4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6250" y="2438400"/>
            <a:ext cx="263525" cy="30670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00C9EB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673E9-F7B2-4085-8D1B-8722D752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2438400"/>
            <a:ext cx="263525" cy="30670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00C9EB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559A7-DB08-44B2-AEBC-38A74134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5700" y="2438400"/>
            <a:ext cx="263525" cy="30670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00C9EB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1C395-35FA-4526-A59C-D733ACE6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5425" y="2438400"/>
            <a:ext cx="263525" cy="30670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00C9EB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DEECA-8A37-442E-A788-8C4E56E1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5150" y="2438400"/>
            <a:ext cx="263525" cy="30670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00C9EB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FD567-2248-4292-A8AA-1E21049D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4875" y="2438400"/>
            <a:ext cx="263525" cy="30670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00C9EB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5B997-1DE5-448D-944F-FFC45D38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4600" y="2438400"/>
            <a:ext cx="263525" cy="30670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00C9EB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A555A-30FA-4569-B04B-B7BBBE34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4325" y="2438400"/>
            <a:ext cx="263525" cy="30670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00C9EB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48470-3B29-4855-8CDF-64D9B52E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4050" y="2438400"/>
            <a:ext cx="263525" cy="30670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00C9EB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5021A-82DA-477A-9022-AC9E119A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3775" y="2438400"/>
            <a:ext cx="263525" cy="30670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00C9EB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6F3BD-1067-4A2D-8E44-6F622B88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2800350"/>
            <a:ext cx="26860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6FBFF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09C2C0-7243-4A96-86EA-9CE58A66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7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‏تیتر اصلی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68CBC-8EB5-4A5F-AF5A-368B0395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3924300"/>
            <a:ext cx="26860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EFF">
              <a:alpha val="18000"/>
            </a:srgbClr>
          </a:solidFill>
          <a:ln xmlns:a="http://schemas.openxmlformats.org/drawingml/2006/main" w="9525">
            <a:solidFill>
              <a:srgbClr val="00C9EB">
                <a:alpha val="3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969DA7-1A3E-4DC7-87D0-F113EE61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910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1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‏شاهد بصری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23c9700044c52"/>
          <a:stretch xmlns:a="http://schemas.openxmlformats.org/drawingml/2006/main"/>
        </p:blipFill>
        <p:spPr>
          <a:xfrm xmlns:a="http://schemas.openxmlformats.org/drawingml/2006/main">
            <a:off x="990600" y="2421527"/>
            <a:ext cx="666750" cy="490947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E96759-6647-4EB1-8A76-FB6F3212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2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‏۱۲ ستون راست‌به‌چپ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882343-6F2E-4CC0-8F6F-BD871369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67050"/>
            <a:ext cx="4972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5000"/>
              </a:lnSpc>
              <a:buNone/>
              <a:defRPr sz="165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‏تیتر: ۷ تا ۸ ستون سمت راست</a:t>
            </a:r>
          </a:p>
          <a:p xmlns:a="http://schemas.openxmlformats.org/drawingml/2006/main">
            <a:pPr algn="r">
              <a:lnSpc>
                <a:spcPct val="145000"/>
              </a:lnSpc>
              <a:buNone/>
              <a:defRPr sz="165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عنصر بصری: ۴ تا ۵ ستون سمت چپ</a:t>
            </a:r>
          </a:p>
          <a:p xmlns:a="http://schemas.openxmlformats.org/drawingml/2006/main">
            <a:pPr algn="r">
              <a:lnSpc>
                <a:spcPct val="145000"/>
              </a:lnSpc>
              <a:buNone/>
              <a:defRPr sz="165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فاصله ستون: ۲۴ پیکسل</a:t>
            </a:r>
          </a:p>
          <a:p xmlns:a="http://schemas.openxmlformats.org/drawingml/2006/main">
            <a:pPr algn="r">
              <a:lnSpc>
                <a:spcPct val="145000"/>
              </a:lnSpc>
              <a:buNone/>
              <a:defRPr sz="165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نوار امضا: حداکثر ۱۲۰ پیکسل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D81006-2663-4B9C-8D73-5BB0C923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34000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‏یک پیام · یک نقطه تمرکز · یک فراخوان</a:t>
            </a:r>
          </a:p>
        </p:txBody>
      </p:sp>
    </p:spTree>
    <p:extLst>
      <p:ext uri="{BB962C8B-B14F-4D97-AF65-F5344CB8AC3E}">
        <p14:creationId xmlns:p14="http://schemas.microsoft.com/office/powerpoint/2010/main" val="19549962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772E29-B5B5-459D-9BA0-4D5751CC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‏امضای بصری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C6B33-7D00-47E3-8C70-1E8A717E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‏جریان باید مسیر تصمیم را توضیح دهد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1C38E-02CB-4037-951C-C5B8417B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‏خط تزئینیِ بدون ورودی، انتخاب یا خروجی بخشی از هویت نیست.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A4385-AC98-4C38-A65B-187078F9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E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91783-4F9A-4722-B9FB-07ABAA51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‏امضای بصری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46901-2B65-439A-99D9-CCA6C0F3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‎12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C0C46-C691-4057-8434-D82C6CAB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05500" y="2228850"/>
            <a:ext cx="361950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EFF">
                <a:alpha val="34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CB09F-E676-4124-9170-2B3E60D5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05500" y="3105150"/>
            <a:ext cx="36195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9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F71B5-DA4A-45E8-A060-1C309EB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05500" y="3867150"/>
            <a:ext cx="36195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EFF">
                <a:alpha val="3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ACF67-76ED-4C8A-981F-6DF9597F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05500" y="4514850"/>
            <a:ext cx="361950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EFF">
                <a:alpha val="3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977C9-AFA5-4ADC-88C4-94D4AB8A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62250" y="35433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9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78330-6858-4221-8854-09E847C3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D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167C3-46DD-4F7F-BFDC-FD2ED620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19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‏ورودی 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385C2-2BF8-4F22-9F02-0E5DE1E9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124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9EB"/>
          </a:solidFill>
          <a:ln xmlns:a="http://schemas.openxmlformats.org/drawingml/2006/main" w="9525">
            <a:solidFill>
              <a:srgbClr val="00C9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FEFCA-87CE-4791-855B-BBAC1888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‏ورودی 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93A77-8F00-44BD-8F8C-5E424FBB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771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D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DC59C-9FBC-4B4F-8F97-BC7C7854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14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‏ورودی 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10A8A-35D7-4E87-BC91-9CE63262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D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F40B0-2D54-4125-98F0-BEBFBAFC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62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‏ورودی 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D16023-7615-4C50-998F-FB451CDC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3314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2651"/>
          </a:solidFill>
          <a:ln xmlns:a="http://schemas.openxmlformats.org/drawingml/2006/main" w="9525">
            <a:solidFill>
              <a:srgbClr val="00C9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887BC-207A-49B0-9B6B-9EA74622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719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‏کنترل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B8AA8-81CE-4BD1-9BDE-74464452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3409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9EB"/>
          </a:solidFill>
          <a:ln xmlns:a="http://schemas.openxmlformats.org/drawingml/2006/main" w="9525">
            <a:solidFill>
              <a:srgbClr val="00C9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AEBB55-1D33-4747-AE96-A71FBDC8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433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‏خروجی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08E19A-BC48-48C7-85C3-B310951E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53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0E8737-05C4-4229-A6B4-EA280F1A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34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‏حداکثر ۵ مسیر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402710-FB32-44B9-88DB-071C900A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53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04D09-18BA-4D31-9B32-CA3BD007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334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‏یک مسیر برجسته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52032-7ADB-41DD-807C-68921799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53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5012C3-F819-49E4-BDFA-3E75BE69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34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‏تقاطع فقط با گره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2A0EBE-0387-44B0-A358-FF1A112F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53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D41AFF-A924-4B33-9504-389E0605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" y="5334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‏عبور نکردن از پشت تیتر</a:t>
            </a:r>
          </a:p>
        </p:txBody>
      </p:sp>
    </p:spTree>
    <p:extLst>
      <p:ext uri="{BB962C8B-B14F-4D97-AF65-F5344CB8AC3E}">
        <p14:creationId xmlns:p14="http://schemas.microsoft.com/office/powerpoint/2010/main" val="3920412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6EA9E8-F9EE-47F3-9691-CDFC8F54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‏تصویر و هوش مصنوعی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A9641-4F20-4E79-B5AB-C73965AA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7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‏فناوری را قابل توضیح نشان دهید، نه جادویی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B0073-B8AC-4642-89CC-74E99DAF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‏اولویت با محصول واقعی، نمودار، دیاگرام و هندسه معنادار است.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FD4FB-B8E4-4317-AF13-BC47A511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47EAF-B8AB-4BFB-89EF-404602BF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‏تصویر و هوش مصنوعی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77874-DE00-4D81-BDB3-CA78D657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‎13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25959-ED3B-4C37-AC0A-D316CB8A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171700"/>
            <a:ext cx="6191250" cy="3390900"/>
          </a:xfrm>
          <a:prstGeom xmlns:a="http://schemas.openxmlformats.org/drawingml/2006/main" prst="roundRect">
            <a:avLst>
              <a:gd name="adj" fmla="val 5056"/>
            </a:avLst>
          </a:prstGeom>
          <a:gradFill xmlns:a="http://schemas.openxmlformats.org/drawingml/2006/main">
            <a:gsLst>
              <a:gs pos="0">
                <a:srgbClr val="06182D"/>
              </a:gs>
              <a:gs pos="100000">
                <a:srgbClr val="022A57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CC0E1-BAB9-4F5C-A727-2DF04534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55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‏واقعی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FBD84-8AD1-4ED8-B142-C9209947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33750"/>
            <a:ext cx="3638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850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‏مهندسی‌شده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87CBD-29D9-4E19-89A2-C673E798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550" b="1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‏قابل توضیح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C4564-2341-4C47-B198-ED0E8FDF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90600" y="4995863"/>
            <a:ext cx="5524500" cy="71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C9EB">
                <a:alpha val="2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5FE48-D4CF-4A11-BCAC-88716A2F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90600" y="5167313"/>
            <a:ext cx="5524500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9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33A39-1BDC-4668-92CE-16C6CC9D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90600" y="5314950"/>
            <a:ext cx="5524500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C9EB">
                <a:alpha val="28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3F270-F5EF-4EC8-9DC4-89461877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90600" y="5438775"/>
            <a:ext cx="5524500" cy="71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C9EB">
                <a:alpha val="2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B39A8-19FA-4BCE-97E8-E7601F30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5124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9EB"/>
          </a:solidFill>
          <a:ln xmlns:a="http://schemas.openxmlformats.org/drawingml/2006/main" w="9525">
            <a:solidFill>
              <a:srgbClr val="00C9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78630-5A53-4D0C-8416-F9B02978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5219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94BF1-3496-4303-ADA7-7C031741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86000"/>
            <a:ext cx="384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02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‏از این‌ها دور بمانید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B7BCC-D257-4CC7-AB8F-0AE6533B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009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D85A6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85A63"/>
                </a:solidFill>
                <a:latin typeface="Tahoma"/>
                <a:ea typeface="Tahoma"/>
                <a:cs typeface="Tahoma"/>
              </a:rPr>
              <a:t>‎×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D8011-54FA-44E1-9B69-CAE50919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28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‏مغز نورانی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2EE65-8406-4964-9C10-8F3500F1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505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D85A6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85A63"/>
                </a:solidFill>
                <a:latin typeface="Tahoma"/>
                <a:ea typeface="Tahoma"/>
                <a:cs typeface="Tahoma"/>
              </a:rPr>
              <a:t>‎×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0E1CF8-D654-42A7-89A4-3299D9EB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‏ربات انسان‌نما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80A36-9F1B-4A3A-B30C-0FAD423A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00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D85A6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85A63"/>
                </a:solidFill>
                <a:latin typeface="Tahoma"/>
                <a:ea typeface="Tahoma"/>
                <a:cs typeface="Tahoma"/>
              </a:rPr>
              <a:t>‎×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EAC514-2BF3-4100-8295-9B0701A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19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‏سبک سایبرپانک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DD9A3C-37A2-481E-AFAF-D176C711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4958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D85A6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85A63"/>
                </a:solidFill>
                <a:latin typeface="Tahoma"/>
                <a:ea typeface="Tahoma"/>
                <a:cs typeface="Tahoma"/>
              </a:rPr>
              <a:t>‎×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7C07D-A899-4B05-8E70-F04D1D01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14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‏شبکه آیکون تصادفی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21CA97-6AB7-4865-914C-490A7874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91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D85A6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85A63"/>
                </a:solidFill>
                <a:latin typeface="Tahoma"/>
                <a:ea typeface="Tahoma"/>
                <a:cs typeface="Tahoma"/>
              </a:rPr>
              <a:t>‎×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22A3AB-76ED-4A3B-82E4-4EA71277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10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‏رابط یا داده ساختگی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9883F9-1E69-4295-B9DD-04D8FEEA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810250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2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‏فرایند تولید، مدل، مجوز و منبع هر تصویر در پروژه ثبت شود.</a:t>
            </a:r>
          </a:p>
        </p:txBody>
      </p:sp>
    </p:spTree>
    <p:extLst>
      <p:ext uri="{BB962C8B-B14F-4D97-AF65-F5344CB8AC3E}">
        <p14:creationId xmlns:p14="http://schemas.microsoft.com/office/powerpoint/2010/main" val="11997781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00838F-C089-45FF-BA81-44DD5883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‏شواهد فنی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4A3AD-45FB-4BCA-AA4E-D2368563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‏داده، کد و محصول باید ادعا را ثابت کنند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47944-144B-4ABF-8B7A-8E027AD3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‏نمونه‌های این صفحه نمایشی‌اند و ادعای محصول محسوب نمی‌شوند.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649A5-1588-47B4-A61D-697B7DEE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97362-023F-48CB-9D8C-2B2D9DFE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‏شواهد فنی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7E272-B082-45E3-AB13-FB4B0254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‎14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C4351-22A9-43AD-927D-AACD3B78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67200" y="2209800"/>
            <a:ext cx="0" cy="3409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6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567E8-C866-43C1-82DB-8BEA06C7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01000" y="2209800"/>
            <a:ext cx="0" cy="3409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6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EB781-A515-4AFC-BA03-1E2EFA4F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2371725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F5686-6F7D-4DA9-B839-82756C69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‏نمودار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30B8D-4EBB-475C-B2F7-24E5FA58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4152900"/>
            <a:ext cx="457200" cy="8001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12651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99925-D3A2-414C-B362-638B5642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3C3C0-A987-4DB5-870D-E9ED4FB7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3657600"/>
            <a:ext cx="457200" cy="1295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12651">
              <a:alpha val="5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FFDCE-C240-443A-AE73-64C240BE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0673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D4DB3-404B-4B44-9585-9757AB63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3276600"/>
            <a:ext cx="4572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C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9A2FC-D492-4746-851C-60616F7F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0673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E84A6-ED8C-4D55-8F26-7C81C4D7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‏برچسب مستقیم + واحد + منبع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3D653-728D-4B64-BC07-213B534C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48200" y="2371725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24EFC-ADD2-42A6-8B3B-C000ED52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9800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‏کد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F391B-0109-41E4-BFA7-6E7B6E6E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2705100"/>
            <a:ext cx="2971800" cy="2324100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F91B2-0FD4-4996-9ADC-8325D043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552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‎const response = await client.responses.create({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  model: "virtual/support",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  input: "سلام"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4C7E0-6BDB-4321-AE6E-D205ACCB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673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‏حداکثر ۸ خط؛ بدون راز یا کلید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210A89-511A-44A2-8548-AEA32CEC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82000" y="2371725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4C5CB-37A8-4288-99C6-9835C079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‏محصول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78EC7-BFF1-4A15-9542-CF36766F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705100"/>
            <a:ext cx="3124200" cy="2324100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6FBFF"/>
          </a:solidFill>
          <a:ln xmlns:a="http://schemas.openxmlformats.org/drawingml/2006/main" w="9525">
            <a:solidFill>
              <a:srgbClr val="C9D9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F5E2A6-9299-425A-8367-E772E3A0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2933700"/>
            <a:ext cx="26670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1265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D81DD9-1F09-495D-80DE-FAC6829A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3390900"/>
            <a:ext cx="118110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00C9EB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D9F7E6-EAA9-46D2-A23B-10D4F2F0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3390900"/>
            <a:ext cx="1295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12651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D39F16-71AC-4E5E-95DA-A43C732F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4076700"/>
            <a:ext cx="1295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12651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83741D-227B-4400-A11B-25D3D0EE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673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‏داده حساس حذف شود</a:t>
            </a:r>
          </a:p>
        </p:txBody>
      </p:sp>
    </p:spTree>
    <p:extLst>
      <p:ext uri="{BB962C8B-B14F-4D97-AF65-F5344CB8AC3E}">
        <p14:creationId xmlns:p14="http://schemas.microsoft.com/office/powerpoint/2010/main" val="4209501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706966-9127-46CF-8696-150F961C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‏اندازه و خروجی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8C062-9442-4697-8DD5-9739D1B2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32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‏یک سیستم، چند قاب؛ بازآرایی کنید، برش نزنید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AD967-318E-4712-8AA1-9E2FA904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‏مشخصات پلتفرم‌ها در ۲۰۲۶-۰۸-۰۶ بازبینی شده‌اند.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91AF6-AA31-42BC-949A-7B735A4E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92D64-9998-4B37-BE32-5C61835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‏اندازه و خروجی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52425-FDF3-407C-9F01-C26424B0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‎15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0718A-90D3-4B3D-AD67-263214C4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533650"/>
            <a:ext cx="1676400" cy="20955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06182D"/>
          </a:solidFill>
          <a:ln xmlns:a="http://schemas.openxmlformats.org/drawingml/2006/main" w="9525">
            <a:solidFill>
              <a:srgbClr val="00C9EB">
                <a:alpha val="3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3D745-CB86-4E5E-8906-04542694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‎4:5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F6DA4-3C4B-44D2-AB66-86ED0FBC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‎1200×1500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12E3A-F25A-4B7C-9288-B006C757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2952750"/>
            <a:ext cx="167640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675F5-193E-4926-821D-5B5CD871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432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‎1:1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60EE7-BEEB-47C1-89F2-0E56E04B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719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‎1200×1200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21D52-D771-4823-8CF9-FEB146A4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2209800"/>
            <a:ext cx="1181100" cy="20955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06182D"/>
          </a:solidFill>
          <a:ln xmlns:a="http://schemas.openxmlformats.org/drawingml/2006/main" w="9525">
            <a:solidFill>
              <a:srgbClr val="00C9EB">
                <a:alpha val="35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1DF6E-C60A-4C06-BD17-74C03B1C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003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‎9:16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D8BAF-FDF7-46E0-9A24-2372C62A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481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‎1080×1920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E0DE7-1E8F-4C70-AC6E-7329C9EA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162300"/>
            <a:ext cx="24003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50780-063E-4A87-B70A-FAC63BEB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528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‎1.91:1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124AA-C81E-4D2E-9523-3F37D67C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624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‎1200×630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79014-3DDA-44BF-93F2-85BAD0AE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533650"/>
            <a:ext cx="1409700" cy="209550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06182D"/>
          </a:solidFill>
          <a:ln xmlns:a="http://schemas.openxmlformats.org/drawingml/2006/main" w="9525">
            <a:solidFill>
              <a:srgbClr val="00C9EB">
                <a:alpha val="3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151212-60E3-457D-A515-0265CF6E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241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‎PDF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07145-1DB6-4C7E-8F77-0D49C837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719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‎6-12 pages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1EEC63-F839-4AB6-A40E-F09C1E7D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‏پیش‌فرض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6480D-BB08-47D2-8E43-7490E7CB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768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‎Feed / Carousel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3D8AC5-89EE-4454-9254-3F1EFB18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‎Story / Reel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FA2DA7-29C8-4C31-B946-4D9E8995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48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‎OG / Link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F5DA02-7B91-429B-A44E-E3ADEA9D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768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‎LinkedIn Document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85370F-05BB-49AB-ADA7-E5561C3F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15000"/>
            <a:ext cx="702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‏پروفایل رنگ استاندارد · پیش‌نمایش موبایل · صفحه‌های سند هم‌اندازه</a:t>
            </a:r>
          </a:p>
        </p:txBody>
      </p:sp>
    </p:spTree>
    <p:extLst>
      <p:ext uri="{BB962C8B-B14F-4D97-AF65-F5344CB8AC3E}">
        <p14:creationId xmlns:p14="http://schemas.microsoft.com/office/powerpoint/2010/main" val="20239227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9CFF5C-E719-4960-92F0-7AF1610D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‏خانواده قالب‌ها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A18EF-DE72-4993-AF4A-6C72E82E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57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‏۱۲ قالب، چهار کار اصلی را پوشش می‌دهند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3D617-82CB-447F-A2D5-51362204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‏آموزش، اثبات، اعلام و اقدام؛ قالب تازه فقط برای نیاز تکرارشونده ساخته می‌شود.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1E8B4-8DA7-4ED5-8598-83847489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65D0C-2658-4047-8850-68E212D6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‏خانواده قالب‌ها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6A0FA-FFAF-4B7C-8EFC-A1BDE399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‎16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375E3-4B14-4EFE-8802-61E2C5D9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‎S01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76A18-0C15-4791-862F-9EFA09EC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33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‏پست تک‌اسلایدی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C9613-F674-419E-A20D-2AD5A6D2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300" y="25622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3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39750-6FA1-4780-8993-4121B95B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‎S07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029A0-852C-4E38-BB47-62BD53F9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33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‏آمار و داده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EB8E5-F9E9-4F14-BE23-1E332C22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00800" y="25622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3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85315-EBAD-48CB-8C3A-08D52C3E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‎S02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E493E-7877-46BD-9A9F-1E485698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62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‏کاور کاروسل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0EF4F-26CF-4668-A144-F3AA4917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300" y="31908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3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5758E-8F6D-40B7-B5DC-CC7AF89D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‎S08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34F04-6DC9-470A-9C38-EAB7C72C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62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‏خبر محصول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22FF6-B9F3-4499-87C9-CE4A2B1B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00800" y="31908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3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A8940-FB61-4D5F-8272-F6CCA0AD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‎S03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6C24CF-4E09-448F-8204-AFBB5218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909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‏صفحه داخلی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999FF-75E6-4112-AC16-D2168EA9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300" y="38195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3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C0421-BF34-46A0-81BE-022EC938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‎S09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B6D4D1-3CE7-4974-9003-93A7E66F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909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‏مدل / ارائه‌دهنده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FCFBCB-20C5-407F-926E-812C7046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00800" y="38195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3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DFE133-5653-4C37-8C41-38B34EC8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‎S04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58493E-357A-41D1-922D-3A54B7B1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19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‏معرفی قابلیت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2A173D-F9DC-466C-944E-CA54E526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300" y="44481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3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6B67AD-530E-4F26-82BA-0F5752FE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576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‎S10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F6E3E5-4A95-4BDA-99C9-09C8BD23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19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‏رویداد / وبینار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672426-C7C6-4586-B52D-0D2778F1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00800" y="44481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3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93171B-AE8C-4596-BB87-2E394ED9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‎S05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D777EF-45AB-4685-B03C-3BBE204A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482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‏مقایسه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2B249B-D10C-4ADF-8287-A7D72480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300" y="50768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3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F9D322-3C7C-4162-8FE6-951F4050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‎S11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532CC1-3D18-4030-B87D-189ECAB1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482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‏کاور ویدئو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F1AB4C-03A0-4B45-92C0-46772B45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00800" y="50768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3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354FDE-29B6-4D5E-BC97-8D59B8CA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‎S06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AB9184-330C-418D-BC37-1E8AF5B2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76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‏دیدگاه / نقل‌قول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6DC0A5-1BE4-4EA3-9AD9-645AC523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300" y="57054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3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6692BA-179A-4CBE-81C2-A8E51F4A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149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‎S12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05E514-CDE4-4C3B-A68F-FCA77982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76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‏دعوت به دمو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026ADA-8010-47CB-AF7E-0349DC0A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00800" y="57054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3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6F613C-EE71-40DF-8111-7243D18B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0"/>
            <a:ext cx="807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‏قالب باید تیتر کوتاه و بلند، تصویر، نمودار و نمای محصول را بدون شکستن هویت بپذیرد.</a:t>
            </a:r>
          </a:p>
        </p:txBody>
      </p:sp>
    </p:spTree>
    <p:extLst>
      <p:ext uri="{BB962C8B-B14F-4D97-AF65-F5344CB8AC3E}">
        <p14:creationId xmlns:p14="http://schemas.microsoft.com/office/powerpoint/2010/main" val="18278860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43AC45-1139-4D0F-A82C-7D750ECB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‏الگوهای تک‌قاب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8A6C3-C04E-41A9-9992-4C138B0E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33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‏یک قالب خوب، پیام را عوض می‌کند نه هویت را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47A53-B0C8-4535-ADEF-B247CDEE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‏سه نمونه: داده قهرمان، تحلیل تحریریه‌ای و اعلان روشن.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443B3-15AD-4214-9A3E-5E2696B4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2A9A3-508F-4C1A-A7BA-8331825E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‏الگوهای تک‌قاب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47985-66B1-48FB-953E-C36D166D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‎17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68206-2F2F-48F0-898C-31FB3402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190750"/>
            <a:ext cx="2857500" cy="3429000"/>
          </a:xfrm>
          <a:prstGeom xmlns:a="http://schemas.openxmlformats.org/drawingml/2006/main" prst="roundRect">
            <a:avLst>
              <a:gd name="adj" fmla="val 4667"/>
            </a:avLst>
          </a:prstGeom>
          <a:gradFill xmlns:a="http://schemas.openxmlformats.org/drawingml/2006/main">
            <a:gsLst>
              <a:gs pos="0">
                <a:srgbClr val="06182D"/>
              </a:gs>
              <a:gs pos="100000">
                <a:srgbClr val="022A57"/>
              </a:gs>
            </a:gsLst>
            <a:lin ang="8700000"/>
          </a:gradFill>
          <a:ln xmlns:a="http://schemas.openxmlformats.org/drawingml/2006/main" w="9525">
            <a:solidFill>
              <a:srgbClr val="D9EEFF">
                <a:alpha val="18000"/>
              </a:srgbClr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88287d0b045b8"/>
          <a:stretch xmlns:a="http://schemas.openxmlformats.org/drawingml/2006/main"/>
        </p:blipFill>
        <p:spPr>
          <a:xfrm xmlns:a="http://schemas.openxmlformats.org/drawingml/2006/main">
            <a:off x="1048077" y="2324100"/>
            <a:ext cx="465689" cy="342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C1B32-C043-48B3-B57A-3315466E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8229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150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‏۷۲٪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7CF2C-2E29-4415-8146-3094839C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70960"/>
            <a:ext cx="2085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‏نمونه داده قهرمان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361A9-473A-49DF-8CB4-E46B998E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66800" y="4865370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9EB">
                <a:alpha val="5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17317-0705-475A-A203-61228402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2190750"/>
            <a:ext cx="2857500" cy="3429000"/>
          </a:xfrm>
          <a:prstGeom xmlns:a="http://schemas.openxmlformats.org/drawingml/2006/main" prst="roundRect">
            <a:avLst>
              <a:gd name="adj" fmla="val 4667"/>
            </a:avLst>
          </a:prstGeom>
          <a:gradFill xmlns:a="http://schemas.openxmlformats.org/drawingml/2006/main">
            <a:gsLst>
              <a:gs pos="0">
                <a:srgbClr val="06182D"/>
              </a:gs>
              <a:gs pos="100000">
                <a:srgbClr val="022A57"/>
              </a:gs>
            </a:gsLst>
            <a:lin ang="8700000"/>
          </a:gradFill>
          <a:ln xmlns:a="http://schemas.openxmlformats.org/drawingml/2006/main" w="9525">
            <a:solidFill>
              <a:srgbClr val="D9EEFF">
                <a:alpha val="18000"/>
              </a:srgbClr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46316f071479c"/>
          <a:stretch xmlns:a="http://schemas.openxmlformats.org/drawingml/2006/main"/>
        </p:blipFill>
        <p:spPr>
          <a:xfrm xmlns:a="http://schemas.openxmlformats.org/drawingml/2006/main">
            <a:off x="4819977" y="2324100"/>
            <a:ext cx="465689" cy="3429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7CC75-81A5-425C-87A5-38CFD85B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16580"/>
            <a:ext cx="2057400" cy="925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75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‏زیرساخت پیچیده؛</a:t>
            </a:r>
          </a:p>
          <a:p xmlns:a="http://schemas.openxmlformats.org/drawingml/2006/main">
            <a:pPr algn="r">
              <a:lnSpc>
                <a:spcPct val="118000"/>
              </a:lnSpc>
              <a:buNone/>
              <a:defRPr sz="1875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بیان روشن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85933-B1CB-4D2C-8D0D-20119CE1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5389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‏تحلیل تحریریه‌ای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5E787-FFAD-4733-AAAB-F55DC416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38700" y="4862513"/>
            <a:ext cx="2514600" cy="71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C9EB">
                <a:alpha val="2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CA0DA-A8E3-4757-B07F-88B4A064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38700" y="5033963"/>
            <a:ext cx="2514600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9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2A834-BAD8-4B66-8412-981FC1FE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838700" y="5181600"/>
            <a:ext cx="2514600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C9EB">
                <a:alpha val="28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594F8-195F-419A-A0FA-1E221F3B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838700" y="5305425"/>
            <a:ext cx="2514600" cy="71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C9EB">
                <a:alpha val="28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FC21A-908D-400E-A051-C6D37BB4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7075" y="4991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9EB"/>
          </a:solidFill>
          <a:ln xmlns:a="http://schemas.openxmlformats.org/drawingml/2006/main" w="9525">
            <a:solidFill>
              <a:srgbClr val="00C9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96D82-D862-4182-8143-63F324D8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5086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A6EFB6-3EAB-4ACE-A8EF-6701DEBB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2190750"/>
            <a:ext cx="2857500" cy="34290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6FBFF"/>
          </a:solidFill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15ab124c34b7c"/>
          <a:stretch xmlns:a="http://schemas.openxmlformats.org/drawingml/2006/main"/>
        </p:blipFill>
        <p:spPr>
          <a:xfrm xmlns:a="http://schemas.openxmlformats.org/drawingml/2006/main">
            <a:off x="8591877" y="2324100"/>
            <a:ext cx="465689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531AB0-675D-44FA-A66C-39BF6F73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82290"/>
            <a:ext cx="2228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7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‏یک تغییر،</a:t>
            </a:r>
          </a:p>
          <a:p xmlns:a="http://schemas.openxmlformats.org/drawingml/2006/main">
            <a:pPr algn="r">
              <a:lnSpc>
                <a:spcPct val="118000"/>
              </a:lnSpc>
              <a:buNone/>
              <a:defRPr sz="187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یک اثر روشن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15F537-7DD9-4A79-A780-65777478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4316730"/>
            <a:ext cx="857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18195-A294-4532-8096-3D6DD3F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4591050"/>
            <a:ext cx="1543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2651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05499F-204B-4BD3-9566-1696798F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91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‏داده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3F474D-A83B-4174-9962-90A8044B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91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‏تحلیل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C8C9BB-A4A4-4C93-B91A-9A6B83E5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91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‏اعلان</a:t>
            </a:r>
          </a:p>
        </p:txBody>
      </p:sp>
    </p:spTree>
    <p:extLst>
      <p:ext uri="{BB962C8B-B14F-4D97-AF65-F5344CB8AC3E}">
        <p14:creationId xmlns:p14="http://schemas.microsoft.com/office/powerpoint/2010/main" val="19524191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F8156C-E8ED-4E82-B993-F3FE336A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‏روایت کاروسل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D056C-CB1D-44AD-88B6-04CA2892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‏هر صفحه یک گام برای ادامه روایت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48AAB-84EA-4201-9847-C6E8A96E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‏۶ تا ۱۲ صفحه، با شماره ثابت و یک فراخوان در پایان.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A078A-B59B-4442-BF0F-B11562D5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E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6F8AC-301A-45CD-8B4C-6EEC2B89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‏روایت کاروسل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33768-6451-42EE-A6D1-1B6AC491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‎18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65DF4-9421-41C3-B65C-D62AE28B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476500"/>
            <a:ext cx="1466850" cy="23622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12651"/>
          </a:solidFill>
          <a:ln xmlns:a="http://schemas.openxmlformats.org/drawingml/2006/main" w="19050">
            <a:solidFill>
              <a:srgbClr val="00C9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E8A45-9025-4D34-9A99-4A4C150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‎۰1/۰۶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A6A56-83B9-4926-8A2E-B69B4273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‏قلاب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5F096-B04B-4CBD-A435-094FBFE1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94335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9EB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05FEB-33D6-4A50-BD24-59F6D07F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4191000"/>
            <a:ext cx="7429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E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9DB49-40A7-4877-B1F3-23F85CD3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2476500"/>
            <a:ext cx="1466850" cy="23622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BFF">
              <a:alpha val="6000"/>
            </a:srgbClr>
          </a:solidFill>
          <a:ln xmlns:a="http://schemas.openxmlformats.org/drawingml/2006/main" w="9525">
            <a:solidFill>
              <a:srgbClr val="D9EEFF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FB31F-155C-42BE-A1FD-EF1E7428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289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‎۰2/۰۶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56B31-F089-4D7F-83AD-79B72BD6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13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‏مسئله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EFDFF-C2FD-4546-B9C8-1AC6A140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4335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9EB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185D4-34BD-4F48-ADF6-78A9E47B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4191000"/>
            <a:ext cx="7429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E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F49CF-38AF-4485-9502-E36DABA9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2476500"/>
            <a:ext cx="1466850" cy="23622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BFF">
              <a:alpha val="10000"/>
            </a:srgbClr>
          </a:solidFill>
          <a:ln xmlns:a="http://schemas.openxmlformats.org/drawingml/2006/main" w="9525">
            <a:solidFill>
              <a:srgbClr val="D9EEFF">
                <a:alpha val="2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A0B1D-C5E7-4F28-977E-33DF7326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289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‎۰3/۰۶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C3D62-3420-4FFF-8CE9-DB1F2B6A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813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‏سازوکار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8380E-36FC-49F9-8B64-324C4821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394335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9EB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8843B-F6F2-4976-BF27-216D00A6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4191000"/>
            <a:ext cx="7429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E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DD16C-9879-4BF9-9D10-4C0FEFE7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476500"/>
            <a:ext cx="1466850" cy="23622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BFF">
              <a:alpha val="6000"/>
            </a:srgbClr>
          </a:solidFill>
          <a:ln xmlns:a="http://schemas.openxmlformats.org/drawingml/2006/main" w="9525">
            <a:solidFill>
              <a:srgbClr val="D9EEFF">
                <a:alpha val="22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D6269-2ABC-4089-9624-BEF3C9B7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‎۰4/۰۶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B29E1C-7819-44DD-B7B8-41606C09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‏مثال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89A30E-95C1-43AE-8FE7-EDA440D2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394335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9EB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B4AD45-4EE6-491E-BA63-B22E588F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4191000"/>
            <a:ext cx="7429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E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4C8F2F-F700-4F01-8B5E-65AD6333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476500"/>
            <a:ext cx="1466850" cy="23622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BFF">
              <a:alpha val="10000"/>
            </a:srgbClr>
          </a:solidFill>
          <a:ln xmlns:a="http://schemas.openxmlformats.org/drawingml/2006/main" w="9525">
            <a:solidFill>
              <a:srgbClr val="D9EEFF">
                <a:alpha val="22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36DA4D-8D3F-467C-9677-45AA3F30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289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‎۰5/۰۶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E131C5-A616-4DD6-8962-7C5B7BC6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‏جمع‌بندی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6A4B6F-B768-474D-8372-8B8D93B1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394335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9EB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2FE8B1-7DE9-4A1B-8BEF-94A086E2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4191000"/>
            <a:ext cx="7429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E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47BAFE-5180-4706-9E62-DD50DDC1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7450" y="2476500"/>
            <a:ext cx="1466850" cy="23622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12651"/>
          </a:solidFill>
          <a:ln xmlns:a="http://schemas.openxmlformats.org/drawingml/2006/main" w="19050">
            <a:solidFill>
              <a:srgbClr val="00C9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C32894-4CAB-4D1F-8E95-645C72EF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289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‎۰6/۰۶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CEDB78-D9D5-42EE-ABB2-6EA07455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81350"/>
            <a:ext cx="112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‏فراخوان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DA2AB3-C8C1-43CE-B0A5-F70086A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050" y="394335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9EB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33FD68-EB86-45FF-AA07-B6B64240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9400" y="4191000"/>
            <a:ext cx="7429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E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09B6D7-F5CF-4023-AA05-3A3AB566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67350"/>
            <a:ext cx="817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‏منبع در همان صفحه ادعا می‌آید؛ شماره صفحه و جای فراخوان ثابت می‌ماند.</a:t>
            </a:r>
          </a:p>
        </p:txBody>
      </p:sp>
    </p:spTree>
    <p:extLst>
      <p:ext uri="{BB962C8B-B14F-4D97-AF65-F5344CB8AC3E}">
        <p14:creationId xmlns:p14="http://schemas.microsoft.com/office/powerpoint/2010/main" val="5443428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DC5DC-60D0-44F1-96F2-FCF3A326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‏دسترس‌پذیری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8EB44-A8A7-46D5-A5D4-CAA01B42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‏ناخوانا در موبایل؟ منتشر نکنید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7AB1B-E27F-4CCA-99CE-5FBE35B3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‏کنتراست، اندازه متن، متن جایگزین و زیرنویس بخشی از طراحی‌اند.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CF3BF-A264-456D-9F2A-D40367AE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7FC09-8157-47C7-879B-3E063167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‏دسترس‌پذیری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CDA3E-3282-40C7-B74C-19D9DE29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‎19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144B8-E2E1-46F8-81AA-498C3533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190750"/>
            <a:ext cx="5219700" cy="3219450"/>
          </a:xfrm>
          <a:prstGeom xmlns:a="http://schemas.openxmlformats.org/drawingml/2006/main" prst="roundRect">
            <a:avLst>
              <a:gd name="adj" fmla="val 5325"/>
            </a:avLst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5DF65-6E8C-40A3-BC53-8B07667B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2AB980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2AB980"/>
                </a:solidFill>
                <a:latin typeface="Consolas"/>
                <a:ea typeface="Consolas"/>
                <a:cs typeface="Consolas"/>
              </a:rPr>
              <a:t>‎PASS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1A568-AD0B-448A-9581-D22DAE27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861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325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‏تیتر روشن و کوتاه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156F5-C1C8-4AE1-A18C-A9FEBC6A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338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75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‏عدد + برچسب + توضیح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981A9-7651-4F73-8288-18453D0A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05300"/>
            <a:ext cx="3105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‏✓ متن جایگزین</a:t>
            </a:r>
          </a:p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✓ زیرنویس</a:t>
            </a:r>
          </a:p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✓ معنا فراتر از رنگ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B96C7-9B41-4519-8151-7C86FB8E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190750"/>
            <a:ext cx="5219700" cy="3219450"/>
          </a:xfrm>
          <a:prstGeom xmlns:a="http://schemas.openxmlformats.org/drawingml/2006/main" prst="roundRect">
            <a:avLst>
              <a:gd name="adj" fmla="val 53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C0436-E260-4DAA-AC91-255E4D56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D85A63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D85A63"/>
                </a:solidFill>
                <a:latin typeface="Consolas"/>
                <a:ea typeface="Consolas"/>
                <a:cs typeface="Consolas"/>
              </a:rPr>
              <a:t>‎FAIL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9BB88-A653-4789-A408-54E3F652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861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3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‏متن فیروزه‌ای روی سفید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418F6-2463-4C22-9944-DF5D47E6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33800"/>
            <a:ext cx="3105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879BB2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879BB2"/>
                </a:solidFill>
                <a:latin typeface="Tahoma"/>
                <a:ea typeface="Tahoma"/>
                <a:cs typeface="Tahoma"/>
              </a:rPr>
              <a:t>‏متن ریز و متراکم و طولانی که روی موبایل فقط با زوم خوانده می‌شود.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0B4BA-C8DD-455D-AB10-3AD56EF6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625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D85A63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D85A63"/>
                </a:solidFill>
                <a:latin typeface="Tahoma"/>
                <a:ea typeface="Tahoma"/>
                <a:cs typeface="Tahoma"/>
              </a:rPr>
              <a:t>‏× رنگ تنها نشانه وضعیت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51880-9E28-490A-8699-6CC30C8A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810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‏آزمون نهایی: عرض ۳۶۰ پیکسل، بدون صدا، با روشنایی کم.</a:t>
            </a:r>
          </a:p>
        </p:txBody>
      </p:sp>
    </p:spTree>
    <p:extLst>
      <p:ext uri="{BB962C8B-B14F-4D97-AF65-F5344CB8AC3E}">
        <p14:creationId xmlns:p14="http://schemas.microsoft.com/office/powerpoint/2010/main" val="8570743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22A123-9F16-47EB-BED9-F4CE55CE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‏کنترل کیفیت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7FF25-01D7-4150-9600-1B4F03D1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2475"/>
            <a:ext cx="883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60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‏انتشار فقط پس از چهار تایید مستقل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EA12A-2745-4209-82F4-5B18D48D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7325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‏ادعا، صحت فنی، هویت و دسترس‌پذیری، و خروجی نهایی.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D9091-2A62-4B0D-BB81-4AD0774A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12651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D988D-A6B5-40CD-ACDF-188C2B8C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‏کنترل کیفیت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36743-5F2F-4C64-B15A-E3FAB490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12651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12651"/>
                </a:solidFill>
                <a:latin typeface="Consolas"/>
                <a:ea typeface="Consolas"/>
                <a:cs typeface="Consolas"/>
              </a:rPr>
              <a:t>‎20 /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E6BC8-E8EF-45DA-83EB-894BB08C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24000" y="36385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12651">
                <a:alpha val="2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BBB56-CA41-4470-9F50-D54E1724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3371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9EB"/>
          </a:solidFill>
          <a:ln xmlns:a="http://schemas.openxmlformats.org/drawingml/2006/main" w="9525">
            <a:solidFill>
              <a:srgbClr val="00C9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E0DF4-3489-4621-BBA7-ABE277A4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671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2EADB-3566-42C2-8FF8-378B631F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384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‏محتوا و منبع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229D8-8EA5-4454-ABF7-5DA6C521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719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‏تیتر، تاریخ، فراخوان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A5D65-6B0A-4629-8C66-694A796F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2300" y="3371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2651"/>
          </a:solidFill>
          <a:ln xmlns:a="http://schemas.openxmlformats.org/drawingml/2006/main" w="9525">
            <a:solidFill>
              <a:srgbClr val="0126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A35DB-D873-4959-A3EA-C323CD48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671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2AAA3-5D5F-4C95-A6C4-6AD5C27E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‏صحت فنی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56A4F-0DF8-4F63-B30D-AC02C4AA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719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‏قابلیت، عدد، وضعیت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C7F1A-320F-465B-81F4-C34B4710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3371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2651"/>
          </a:solidFill>
          <a:ln xmlns:a="http://schemas.openxmlformats.org/drawingml/2006/main" w="9525">
            <a:solidFill>
              <a:srgbClr val="0126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605E9-AB4F-4E0E-9746-6128F2E7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671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A27FD-066C-4CF4-AA63-E269B91F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384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‏هویت و دسترس‌پذیری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81426-0A03-4EAA-81AC-2F9F25E6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719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‏نشان، راست‌چین، کنتراست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9A8AE-3AE8-4DCE-82C9-8FED908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371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2651"/>
          </a:solidFill>
          <a:ln xmlns:a="http://schemas.openxmlformats.org/drawingml/2006/main" w="9525">
            <a:solidFill>
              <a:srgbClr val="0126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9FE50-EB96-4A9A-B6DF-B28D9C7D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671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CBF3C-70ED-4218-90E0-2BC9E77F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384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‏خروجی و انتشار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AFD73-4607-4340-A0FE-CC21B578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1719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26B84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B84"/>
                </a:solidFill>
                <a:latin typeface="Tahoma"/>
                <a:ea typeface="Tahoma"/>
                <a:cs typeface="Tahoma"/>
              </a:rPr>
              <a:t>‏ابعاد، متن جایگزین، پیش‌نمایش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376B5-CD15-469C-8A44-0E6DC5B1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314950"/>
            <a:ext cx="108204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C9EB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C189DF-585C-41E7-9B9E-62340210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5054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1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012651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12651"/>
                </a:solidFill>
                <a:latin typeface="Tahoma"/>
                <a:ea typeface="Tahoma"/>
                <a:cs typeface="Tahoma"/>
              </a:rPr>
              <a:t>‏ادعاهای متغیر مثل تعداد مدل، ارائه‌دهنده یا قیمت باید درست پیش از انتشار دوباره تایید شوند.</a:t>
            </a:r>
          </a:p>
        </p:txBody>
      </p:sp>
    </p:spTree>
    <p:extLst>
      <p:ext uri="{BB962C8B-B14F-4D97-AF65-F5344CB8AC3E}">
        <p14:creationId xmlns:p14="http://schemas.microsoft.com/office/powerpoint/2010/main" val="1798104559"/>
      </p:ext>
    </p:extLst>
  </p:cSld>
</p:sld>
</file>

<file path=ppt/slides/slide2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82D"/>
            </a:gs>
            <a:gs pos="100000">
              <a:srgbClr val="022A57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6CC2A9-75E9-4CDE-9DAB-BF408AC8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EFF">
                <a:alpha val="2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F6839-96D2-475F-8CB9-697AC491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34150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050" b="1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‏حاکمیت سیستم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20047-6666-4E7F-AC1D-75680F5F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D9EEF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9EEFF"/>
                </a:solidFill>
                <a:latin typeface="Consolas"/>
                <a:ea typeface="Consolas"/>
                <a:cs typeface="Consolas"/>
              </a:rPr>
              <a:t>‎21 / 21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5e936affd4856"/>
          <a:stretch xmlns:a="http://schemas.openxmlformats.org/drawingml/2006/main"/>
        </p:blipFill>
        <p:spPr>
          <a:xfrm xmlns:a="http://schemas.openxmlformats.org/drawingml/2006/main">
            <a:off x="704850" y="515317"/>
            <a:ext cx="838200" cy="61719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C812E-3007-4599-9335-52095681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85800"/>
            <a:ext cx="661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7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375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375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‏یک سیستم، نه یک قالب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D68D0-A252-45BF-BAEA-74A2B51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4478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‏نسخه، مالک تصمیم و بازخورد عملکرد باید همراه هر خروجی بماند.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F01D5-51D3-4F29-B2FB-D669280A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C6C17-AA2D-4B9B-8D94-2A8AF836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52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‏سردبیر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7D764-16E5-4305-8E92-095C672C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‏گزاره، منبع، شرح پست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F4224-2113-4C76-AF9E-9127BCDE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95750" y="2838450"/>
            <a:ext cx="697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EFF">
                <a:alpha val="1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DF4B6-9B9C-4080-B2E7-2A226F0E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242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77739-1A99-4F43-83A8-A66383EB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95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‏بازبین فنی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4A1D5-83C1-4524-B532-010C97AA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‏عدد، قابلیت، اصطلاح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75634-A40D-4F90-9F39-6A59E6E7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95750" y="3581400"/>
            <a:ext cx="697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EFF">
                <a:alpha val="1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8E42C-1D9A-44C5-90F4-6257B989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671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8A680-4A30-471F-8CB8-DB7C22CD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385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‏طراح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9CF55-79BA-4662-BD9B-92CA78F6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862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‏قالب، راست‌چین، دسترس‌پذیری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07D96-4088-49AF-85AB-E156D5C9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95750" y="4324350"/>
            <a:ext cx="697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EFF">
                <a:alpha val="15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D070F-FB1A-4A9A-BC59-D16C5677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101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00C9E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C9EB"/>
                </a:solidFill>
                <a:latin typeface="Consolas"/>
                <a:ea typeface="Consolas"/>
                <a:cs typeface="Consolas"/>
              </a:rPr>
              <a:t>‎۰4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730D2-3222-45D3-8F35-F28C3255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815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‏ناشر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2E753-328E-4DA8-A6D7-61B645C6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‏خروجی، متن جایگزین، پیش‌نمایش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5DF7D-2106-4309-8BE5-6E4FEF7C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95750" y="5067300"/>
            <a:ext cx="697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EFF">
                <a:alpha val="15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5E3B68-2CA3-4DDF-A63E-20448535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175" b="1">
                <a:solidFill>
                  <a:srgbClr val="00C9E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C9EB"/>
                </a:solidFill>
                <a:latin typeface="Tahoma"/>
                <a:ea typeface="Tahoma"/>
                <a:cs typeface="Tahoma"/>
              </a:rPr>
              <a:t>‏بازبینی فصلی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0B9AB-F85A-4120-8D2F-0B5D0A09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9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5000"/>
              </a:lnSpc>
              <a:buNone/>
              <a:defRPr sz="1575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‏قالب کم‌استفاده حذف می‌شود.</a:t>
            </a:r>
          </a:p>
          <a:p xmlns:a="http://schemas.openxmlformats.org/drawingml/2006/main">
            <a:pPr algn="r">
              <a:lnSpc>
                <a:spcPct val="145000"/>
              </a:lnSpc>
              <a:buNone/>
              <a:defRPr sz="1575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استثنا ثبت می‌شود.</a:t>
            </a:r>
          </a:p>
          <a:p xmlns:a="http://schemas.openxmlformats.org/drawingml/2006/main">
            <a:pPr algn="r">
              <a:lnSpc>
                <a:spcPct val="145000"/>
              </a:lnSpc>
              <a:buNone/>
              <a:defRPr sz="1575" b="0">
                <a:solidFill>
                  <a:srgbClr val="D9EEFF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D9EEFF"/>
                </a:solidFill>
                <a:latin typeface="Tahoma"/>
                <a:ea typeface="Tahoma"/>
                <a:cs typeface="Tahoma"/>
              </a:rPr>
              <a:t>نتیجه محتوا به سیستم برمی‌گردد.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37137F-476B-4BF4-AEBC-BA500129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50" y="5414963"/>
            <a:ext cx="10801350" cy="71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C9EB">
                <a:alpha val="28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CB15F6-4D1F-41A7-82E3-82389DC9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50" y="5586413"/>
            <a:ext cx="10801350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9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0412E-9491-4FA4-A258-A5038166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4850" y="5734050"/>
            <a:ext cx="10801350" cy="23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C9EB">
                <a:alpha val="28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78AFD0-1241-4036-B37C-3653099A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4850" y="5857875"/>
            <a:ext cx="10801350" cy="71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C9EB">
                <a:alpha val="28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51E211-8E34-4D4B-9F3D-471FB148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3225" y="554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9EB"/>
          </a:solidFill>
          <a:ln xmlns:a="http://schemas.openxmlformats.org/drawingml/2006/main" w="9525">
            <a:solidFill>
              <a:srgbClr val="00C9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0DE2E0-2CC3-4B75-9E4A-03EC6F50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8350" y="5638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D9EE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7C3263-D7F4-4367-BBA1-54C43C8C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712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650" b="1">
                <a:solidFill>
                  <a:srgbClr val="F6FB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6FBFF"/>
                </a:solidFill>
                <a:latin typeface="Tahoma"/>
                <a:ea typeface="Tahoma"/>
                <a:cs typeface="Tahoma"/>
              </a:rPr>
              <a:t>‏گام بعد: ۱۰ تا ۱۵ محتوای واقعی را با این سیستم آزمایش کنید.</a:t>
            </a:r>
          </a:p>
        </p:txBody>
      </p:sp>
    </p:spTree>
    <p:extLst>
      <p:ext uri="{BB962C8B-B14F-4D97-AF65-F5344CB8AC3E}">
        <p14:creationId xmlns:p14="http://schemas.microsoft.com/office/powerpoint/2010/main" val="730790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2026-08-05T22:01:22.2050000Z</dcterms:created>
  <dcterms:modified xsi:type="dcterms:W3CDTF">2026-08-05T22:01:22.2050000Z</dcterms:modified>
</coreProperties>
</file>