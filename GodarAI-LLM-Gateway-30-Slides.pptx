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483" autoAdjust="0"/>
  </p:normalViewPr>
  <p:slideViewPr>
    <p:cSldViewPr snapToGrid="0">
      <p:cViewPr varScale="1">
        <p:scale>
          <a:sx n="59" d="100"/>
          <a:sy n="59" d="100"/>
        </p:scale>
        <p:origin x="115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operating idea: the gateway is the stable control point between applications and a changing model market.</a:t>
            </a:r>
          </a:p>
          <a:p>
            <a:endParaRPr/>
          </a:p>
          <a:p>
            <a:r>
              <a:t>[Sources]</a:t>
            </a:r>
          </a:p>
          <a:p>
            <a:r>
              <a:t>- D:\source\Shahrah\web-assets\colors.json</a:t>
            </a:r>
          </a:p>
          <a:p>
            <a:r>
              <a:t>- D:\source\Shahrah\web-assets\png\natural\dark\godarai-mark-dark-2048x1506.png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D:\source\Shahrah\plans\09_GodarAI_features.md</a:t>
            </a:r>
          </a:p>
          <a:p>
            <a:r>
              <a:t>- D:\source\Shahrah\apps\website\app\pages\features\AIGateway.tsx</a:t>
            </a:r>
          </a:p>
          <a:p>
            <a:r>
              <a:t>- D:\source\Shahrah\web-assets\png\natural\dark\godarai-mark-dark-2048x1506.png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D:\source\Shahrah\apps\website\app\pages\features\AIGateway.tsx</a:t>
            </a:r>
          </a:p>
          <a:p>
            <a:r>
              <a:t>- D:\source\Shahrah\docs\content-glossary.md</a:t>
            </a:r>
          </a:p>
          <a:p>
            <a:r>
              <a:t>- D:\source\Shahrah\web-assets\png\natural\light\godarai-mark-light-2048x1506.png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D:\source\Shahrah\services\control-plane\internal\proxy\handler.go</a:t>
            </a:r>
          </a:p>
          <a:p>
            <a:r>
              <a:t>- D:\source\Shahrah\plans\guardrails-implementation.md</a:t>
            </a:r>
          </a:p>
          <a:p>
            <a:r>
              <a:t>- D:\source\Shahrah\plans\vat-operationalization-requirements.md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D:\source\Shahrah\docs\content-glossary.md</a:t>
            </a:r>
          </a:p>
          <a:p>
            <a:r>
              <a:t>- D:\source\Shahrah\plans\vat-operationalization-requirements.md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D:\source\Shahrah\docs\content-glossary.md</a:t>
            </a:r>
          </a:p>
          <a:p>
            <a:r>
              <a:t>- D:\source\Shahrah\plans\truefoundry-provider-account-management-reference.md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D:\source\Shahrah\docs\content-glossary.md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D:\source\Shahrah\docs\content-glossary.md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D:\source\Shahrah\docs\content-glossary.md</a:t>
            </a:r>
          </a:p>
          <a:p>
            <a:r>
              <a:t>- D:\source\Shahrah\plans\truefoundry-provider-account-management-reference.md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D:\source\Shahrah\plans\platform-managed-provider-credentials-product-analysis.md</a:t>
            </a:r>
          </a:p>
          <a:p>
            <a:r>
              <a:t>- D:\source\Shahrah\plans\vat-operationalization-requirements.md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D:\source\Shahrah\plans\platform-managed-provider-credentials-product-analysis.md</a:t>
            </a:r>
          </a:p>
          <a:p>
            <a:r>
              <a:t>- D:\source\Shahrah\plans\observability-platform-implementation-plan.md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D:\source\Shahrah\plans\platform-managed-provider-credentials-product-analysis.md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D:\source\Shahrah\plans\virtual-models-decision-log.md</a:t>
            </a:r>
          </a:p>
          <a:p>
            <a:r>
              <a:t>- D:\source\Shahrah\services\control-plane\internal\virtualmodels\virtualmodels.go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D:\source\Shahrah\plans\virtual-models-decision-log.md</a:t>
            </a:r>
          </a:p>
          <a:p>
            <a:r>
              <a:t>- D:\source\Shahrah\services\control-plane\internal\virtualmodels\virtualmodels.go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D:\source\Shahrah\plans\virtual-model-weighted-strategy-executable-prompt.md</a:t>
            </a:r>
          </a:p>
          <a:p>
            <a:r>
              <a:t>- D:\source\Shahrah\services\control-plane\internal\virtualmodels\virtualmodels.go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D:\source\Shahrah\plans\09_GodarAI_features.md</a:t>
            </a:r>
          </a:p>
          <a:p>
            <a:r>
              <a:t>- D:\source\Shahrah\plans\virtual-model-weighted-strategy-executable-prompt.md</a:t>
            </a:r>
          </a:p>
          <a:p>
            <a:r>
              <a:t>- D:\source\Shahrah\services\control-plane\internal\virtualmodels\virtualmodels.go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D:\source\Shahrah\plans\virtual-models-decision-log.md</a:t>
            </a:r>
          </a:p>
          <a:p>
            <a:r>
              <a:t>- D:\source\Shahrah\plans\virtual-model-weighted-strategy-executable-prompt.md</a:t>
            </a:r>
          </a:p>
          <a:p>
            <a:r>
              <a:t>- D:\source\Shahrah\plans\09_GodarAI_features.md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D:\source\Shahrah\plans\vat-operationalization-requirements.md</a:t>
            </a:r>
          </a:p>
          <a:p>
            <a:r>
              <a:t>- D:\source\Shahrah\plans\tenant-organization-team-design.md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D:\source\Shahrah\plans\vat-operationalization-requirements.md</a:t>
            </a:r>
          </a:p>
          <a:p>
            <a:r>
              <a:t>- D:\source\Shahrah\apps\website\app\pages\features\SecurityCompliance.tsx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D:\source\Shahrah\plans\tenant-organization-team-design.md</a:t>
            </a:r>
          </a:p>
          <a:p>
            <a:r>
              <a:t>- D:\source\Shahrah\plans\vat-operationalization-requirements.md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D:\source\Shahrah\plans\observability-platform-implementation-plan.md</a:t>
            </a:r>
          </a:p>
          <a:p>
            <a:r>
              <a:t>- D:\source\Shahrah\apps\website\app\pages\features\Observability.tsx</a:t>
            </a:r>
          </a:p>
          <a:p>
            <a:r>
              <a:t>- D:\source\Shahrah\services\control-plane\internal\proxy\request_logs.go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D:\source\Shahrah\plans\observability-platform-implementation-plan.md</a:t>
            </a:r>
          </a:p>
          <a:p>
            <a:r>
              <a:t>- D:\source\Shahrah\plans\guardrails-implementation.md</a:t>
            </a:r>
          </a:p>
          <a:p>
            <a:r>
              <a:t>- D:\source\Shahrah\services\control-plane\internal\proxy\request_logs.go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D:\source\Shahrah\plans\observability-platform-implementation-plan.md</a:t>
            </a:r>
          </a:p>
          <a:p>
            <a:r>
              <a:t>- D:\source\Shahrah\plans\model-metrics-contract-v2.md</a:t>
            </a:r>
          </a:p>
          <a:p>
            <a:r>
              <a:t>- D:\source\Shahrah\services\control-plane\internal\proxy\handler.go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D:\source\Shahrah\services\control-plane\tests\unit\proxy\handler_test.go</a:t>
            </a:r>
          </a:p>
          <a:p>
            <a:r>
              <a:t>- D:\source\Shahrah\services\control-plane\internal\proxy\handler.go</a:t>
            </a:r>
          </a:p>
          <a:p>
            <a:r>
              <a:t>- D:\source\Shahrah\apps\website\app\pages\features\AIGateway.tsx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D:\source\Shahrah\services\control-plane\internal\proxy\handler.go</a:t>
            </a:r>
          </a:p>
          <a:p>
            <a:r>
              <a:t>- D:\source\Shahrah\apps\website\app\pages\features\AIGateway.tsx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D:\source\Shahrah\plans\guardrails-implementation.md</a:t>
            </a:r>
          </a:p>
          <a:p>
            <a:r>
              <a:t>- D:\source\Shahrah\docs\content-glossary.md</a:t>
            </a:r>
          </a:p>
          <a:p>
            <a:r>
              <a:t>- D:\source\Shahrah\apps\website\app\pages\features\Guardrails.tsx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D:\source\Shahrah\apps\website\app\pages\features\PromptEngineering.tsx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D:\source\Shahrah\services\control-plane\internal\billing\service.go</a:t>
            </a:r>
          </a:p>
          <a:p>
            <a:r>
              <a:t>- D:\source\Shahrah\services\control-plane\internal\proxy\handler.go</a:t>
            </a:r>
          </a:p>
          <a:p>
            <a:r>
              <a:t>- D:\source\Shahrah\plans\platform-managed-provider-credentials-product-analysis.md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D:\source\Shahrah\plans\tag-budget-architecture.md</a:t>
            </a:r>
          </a:p>
          <a:p>
            <a:r>
              <a:t>- D:\source\Shahrah\plans\customer-budget-architecture.md</a:t>
            </a:r>
          </a:p>
          <a:p>
            <a:r>
              <a:t>- D:\source\Shahrah\plans\vat-operationalization-requirements.md</a:t>
            </a:r>
          </a:p>
          <a:p>
            <a:r>
              <a:t>- D:\source\Shahrah\services\control-plane\internal\billing\service.go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the operating model: applications express intent; GodarAI governs execution.</a:t>
            </a:r>
          </a:p>
          <a:p>
            <a:endParaRPr/>
          </a:p>
          <a:p>
            <a:r>
              <a:t>[Sources]</a:t>
            </a:r>
          </a:p>
          <a:p>
            <a:r>
              <a:t>- D:\source\Shahrah\plans\09_GodarAI_features.md</a:t>
            </a:r>
          </a:p>
          <a:p>
            <a:r>
              <a:t>- D:\source\Shahrah\docs\content-glossary.md</a:t>
            </a:r>
          </a:p>
          <a:p>
            <a:r>
              <a:t>- D:\source\Shahrah\web-assets\png\natural\dark\godarai-mark-dark-2048x1506.png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844DEE-B57E-4F80-B518-5410743492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A0A76B6-8244-4141-A5C5-22CDDEADBEFD}"/>
              </a:ext>
            </a:extLst>
          </p:cNvPr>
          <p:cNvSpPr>
            <a:spLocks noGrp="1"/>
          </p:cNvSpPr>
          <p:nvPr/>
        </p:nvSpPr>
        <p:spPr>
          <a:xfrm>
            <a:off x="8210550" y="876300"/>
            <a:ext cx="3143250" cy="3143250"/>
          </a:xfrm>
          <a:prstGeom prst="ellipse">
            <a:avLst/>
          </a:prstGeom>
          <a:solidFill>
            <a:srgbClr val="0A315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01050" y="1602511"/>
            <a:ext cx="2428875" cy="17860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0C4579F-0BD2-43C1-AC1F-3299962968D7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0C9EB"/>
                </a:solidFill>
              </a:defRPr>
            </a:pPr>
            <a:r>
              <a:rPr sz="1200" b="1">
                <a:solidFill>
                  <a:srgbClr val="00C9EB"/>
                </a:solidFill>
              </a:rPr>
              <a:t>GODARAI</a:t>
            </a:r>
          </a:p>
        </p:txBody>
      </p:sp>
      <p:sp>
        <p:nvSpPr>
          <p:cNvPr id="5" name="deck-title">
            <a:extLst>
              <a:ext uri="{FF2B5EF4-FFF2-40B4-BE49-F238E27FC236}">
                <a16:creationId xmlns:a16="http://schemas.microsoft.com/office/drawing/2014/main" id="{474CCE73-3B07-427F-981D-454F81554161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6572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500" b="1">
                <a:solidFill>
                  <a:srgbClr val="F6FBFF"/>
                </a:solidFill>
              </a:defRPr>
            </a:pPr>
            <a:r>
              <a:rPr sz="4500" b="1">
                <a:solidFill>
                  <a:srgbClr val="F6FBFF"/>
                </a:solidFill>
              </a:rPr>
              <a:t>LLM Gateway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6778EE-D2F1-4F45-BCCB-15CE39136F3F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638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0">
                <a:solidFill>
                  <a:srgbClr val="D9EEFF"/>
                </a:solidFill>
              </a:defRPr>
            </a:pPr>
            <a:r>
              <a:rPr sz="1950" b="0">
                <a:solidFill>
                  <a:srgbClr val="D9EEFF"/>
                </a:solidFill>
              </a:rPr>
              <a:t>One API. Any model. Production control.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7446469-5F26-404B-981F-18A644849A27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1619250" cy="9525"/>
          </a:xfrm>
          <a:prstGeom prst="line">
            <a:avLst/>
          </a:prstGeom>
          <a:noFill/>
          <a:ln w="38100">
            <a:solidFill>
              <a:srgbClr val="00C9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E0931A-A7E7-45F3-AE2A-7A6D9C50DF50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6191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8FB5CF"/>
                </a:solidFill>
              </a:defRPr>
            </a:pPr>
            <a:r>
              <a:rPr sz="1500" b="0">
                <a:solidFill>
                  <a:srgbClr val="8FB5CF"/>
                </a:solidFill>
              </a:rPr>
              <a:t>Unified access, routing, security, observability, caching, prompts, and billing.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D5720D-AEEB-456B-8EAB-0E7260F4DB43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8FB5CF"/>
                </a:solidFill>
              </a:defRPr>
            </a:pPr>
            <a:r>
              <a:rPr sz="1050" b="1">
                <a:solidFill>
                  <a:srgbClr val="8FB5CF"/>
                </a:solidFill>
              </a:rPr>
              <a:t>Product &amp; technical overview  •  30 slides</a:t>
            </a:r>
          </a:p>
        </p:txBody>
      </p:sp>
    </p:spTree>
    <p:extLst>
      <p:ext uri="{BB962C8B-B14F-4D97-AF65-F5344CB8AC3E}">
        <p14:creationId xmlns:p14="http://schemas.microsoft.com/office/powerpoint/2010/main" val="801483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d-rail">
            <a:extLst>
              <a:ext uri="{FF2B5EF4-FFF2-40B4-BE49-F238E27FC236}">
                <a16:creationId xmlns:a16="http://schemas.microsoft.com/office/drawing/2014/main" id="{1B883B06-B678-4A29-8D4B-BF792B0284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83FF1B46-9582-4EFF-A49E-005A34B5AE17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OVERVIEW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1F822D65-E5B3-44E2-AB3A-40DD5774A01C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One control plane for the LLM stack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382D8174-DCAF-49C5-B0BD-60C56F5B5917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B08F01-1A4F-4580-88C4-146E64480B30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02B1F5-5074-4B05-B603-66331CD00997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02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36C61B74-3F32-4EE7-A0A4-3AB2DD6C36E7}"/>
              </a:ext>
            </a:extLst>
          </p:cNvPr>
          <p:cNvSpPr>
            <a:spLocks noGrp="1"/>
          </p:cNvSpPr>
          <p:nvPr/>
        </p:nvSpPr>
        <p:spPr>
          <a:xfrm>
            <a:off x="2000250" y="3333750"/>
            <a:ext cx="8001000" cy="9525"/>
          </a:xfrm>
          <a:prstGeom prst="line">
            <a:avLst/>
          </a:prstGeom>
          <a:noFill/>
          <a:ln w="38100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978B39-BDCE-412C-9562-93FF33EE5B47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2000250" cy="1104900"/>
          </a:xfrm>
          <a:prstGeom prst="roundRect">
            <a:avLst>
              <a:gd name="adj" fmla="val 15517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6FBFF"/>
                </a:solidFill>
              </a:defRPr>
            </a:pPr>
            <a:r>
              <a:rPr sz="1350" b="1">
                <a:solidFill>
                  <a:srgbClr val="F6FBFF"/>
                </a:solidFill>
              </a:rPr>
              <a:t>Products</a:t>
            </a:r>
          </a:p>
          <a:p>
            <a:pPr algn="ctr">
              <a:defRPr sz="1350" b="1">
                <a:solidFill>
                  <a:srgbClr val="F6FBFF"/>
                </a:solidFill>
              </a:defRPr>
            </a:pPr>
            <a:r>
              <a:rPr sz="1350" b="1">
                <a:solidFill>
                  <a:srgbClr val="F6FBFF"/>
                </a:solidFill>
              </a:rPr>
              <a:t>&amp; agents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62AC894-7F48-4052-9016-A660D8B8C1AA}"/>
              </a:ext>
            </a:extLst>
          </p:cNvPr>
          <p:cNvSpPr>
            <a:spLocks noGrp="1"/>
          </p:cNvSpPr>
          <p:nvPr/>
        </p:nvSpPr>
        <p:spPr>
          <a:xfrm>
            <a:off x="4305300" y="2533650"/>
            <a:ext cx="3524250" cy="1600200"/>
          </a:xfrm>
          <a:prstGeom prst="roundRect">
            <a:avLst>
              <a:gd name="adj" fmla="val 10714"/>
            </a:avLst>
          </a:prstGeom>
          <a:solidFill>
            <a:srgbClr val="012651"/>
          </a:solidFill>
          <a:ln w="9525">
            <a:solidFill>
              <a:srgbClr val="00C9EB"/>
            </a:solidFill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6FBFF"/>
                </a:solidFill>
              </a:defRPr>
            </a:pPr>
            <a:r>
              <a:rPr sz="1800" b="1">
                <a:solidFill>
                  <a:srgbClr val="F6FBFF"/>
                </a:solidFill>
              </a:rPr>
              <a:t>GodarAI</a:t>
            </a:r>
          </a:p>
          <a:p>
            <a:pPr algn="ctr">
              <a:defRPr sz="1800" b="1">
                <a:solidFill>
                  <a:srgbClr val="F6FBFF"/>
                </a:solidFill>
              </a:defRPr>
            </a:pPr>
            <a:r>
              <a:rPr sz="1800" b="1">
                <a:solidFill>
                  <a:srgbClr val="F6FBFF"/>
                </a:solidFill>
              </a:rPr>
              <a:t>LLM Gateway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862016E-8BA1-42E8-9A43-94EF6DFF92EE}"/>
              </a:ext>
            </a:extLst>
          </p:cNvPr>
          <p:cNvSpPr>
            <a:spLocks noGrp="1"/>
          </p:cNvSpPr>
          <p:nvPr/>
        </p:nvSpPr>
        <p:spPr>
          <a:xfrm>
            <a:off x="9353550" y="1981200"/>
            <a:ext cx="1714500" cy="571500"/>
          </a:xfrm>
          <a:prstGeom prst="roundRect">
            <a:avLst>
              <a:gd name="adj" fmla="val 30000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6FBFF"/>
                </a:solidFill>
              </a:defRPr>
            </a:pPr>
            <a:r>
              <a:rPr sz="1350" b="1">
                <a:solidFill>
                  <a:srgbClr val="F6FBFF"/>
                </a:solidFill>
              </a:rPr>
              <a:t>OpenAI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13E4EA-A480-4B50-A9AF-A190AB1B3D9C}"/>
              </a:ext>
            </a:extLst>
          </p:cNvPr>
          <p:cNvSpPr>
            <a:spLocks noGrp="1"/>
          </p:cNvSpPr>
          <p:nvPr/>
        </p:nvSpPr>
        <p:spPr>
          <a:xfrm>
            <a:off x="9353550" y="2743200"/>
            <a:ext cx="1714500" cy="571500"/>
          </a:xfrm>
          <a:prstGeom prst="roundRect">
            <a:avLst>
              <a:gd name="adj" fmla="val 30000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6FBFF"/>
                </a:solidFill>
              </a:defRPr>
            </a:pPr>
            <a:r>
              <a:rPr sz="1350" b="1">
                <a:solidFill>
                  <a:srgbClr val="F6FBFF"/>
                </a:solidFill>
              </a:rPr>
              <a:t>Anthropic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7F0C8C4-9688-4E28-8DA8-4779548F63B3}"/>
              </a:ext>
            </a:extLst>
          </p:cNvPr>
          <p:cNvSpPr>
            <a:spLocks noGrp="1"/>
          </p:cNvSpPr>
          <p:nvPr/>
        </p:nvSpPr>
        <p:spPr>
          <a:xfrm>
            <a:off x="9353550" y="3505200"/>
            <a:ext cx="1714500" cy="571500"/>
          </a:xfrm>
          <a:prstGeom prst="roundRect">
            <a:avLst>
              <a:gd name="adj" fmla="val 30000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6FBFF"/>
                </a:solidFill>
              </a:defRPr>
            </a:pPr>
            <a:r>
              <a:rPr sz="1350" b="1">
                <a:solidFill>
                  <a:srgbClr val="F6FBFF"/>
                </a:solidFill>
              </a:rPr>
              <a:t>Google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F878188-6CDB-48B1-9526-6DC958D67D7E}"/>
              </a:ext>
            </a:extLst>
          </p:cNvPr>
          <p:cNvSpPr>
            <a:spLocks noGrp="1"/>
          </p:cNvSpPr>
          <p:nvPr/>
        </p:nvSpPr>
        <p:spPr>
          <a:xfrm>
            <a:off x="9353550" y="4267200"/>
            <a:ext cx="1714500" cy="571500"/>
          </a:xfrm>
          <a:prstGeom prst="roundRect">
            <a:avLst>
              <a:gd name="adj" fmla="val 30000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6FBFF"/>
                </a:solidFill>
              </a:defRPr>
            </a:pPr>
            <a:r>
              <a:rPr sz="1350" b="1">
                <a:solidFill>
                  <a:srgbClr val="F6FBFF"/>
                </a:solidFill>
              </a:rPr>
              <a:t>Cloud &amp; local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63F6007-B0E4-4289-9E78-7D276DC53EDB}"/>
              </a:ext>
            </a:extLst>
          </p:cNvPr>
          <p:cNvSpPr>
            <a:spLocks noGrp="1"/>
          </p:cNvSpPr>
          <p:nvPr/>
        </p:nvSpPr>
        <p:spPr>
          <a:xfrm>
            <a:off x="4095750" y="4572000"/>
            <a:ext cx="85725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API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6B8CCA4-B841-4015-9F16-D64BF62FF1F3}"/>
              </a:ext>
            </a:extLst>
          </p:cNvPr>
          <p:cNvSpPr>
            <a:spLocks noGrp="1"/>
          </p:cNvSpPr>
          <p:nvPr/>
        </p:nvSpPr>
        <p:spPr>
          <a:xfrm>
            <a:off x="5067300" y="4572000"/>
            <a:ext cx="104775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POLICY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6A41262-0F26-49FD-BE5E-E4A21A042F6E}"/>
              </a:ext>
            </a:extLst>
          </p:cNvPr>
          <p:cNvSpPr>
            <a:spLocks noGrp="1"/>
          </p:cNvSpPr>
          <p:nvPr/>
        </p:nvSpPr>
        <p:spPr>
          <a:xfrm>
            <a:off x="6229350" y="457200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DATA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1C129AD-F901-43B2-A83F-945EF7B896F0}"/>
              </a:ext>
            </a:extLst>
          </p:cNvPr>
          <p:cNvSpPr>
            <a:spLocks noGrp="1"/>
          </p:cNvSpPr>
          <p:nvPr/>
        </p:nvSpPr>
        <p:spPr>
          <a:xfrm>
            <a:off x="7296150" y="4572000"/>
            <a:ext cx="85725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COST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61CF0D-0CA2-4387-9C1D-A6A8835E4149}"/>
              </a:ext>
            </a:extLst>
          </p:cNvPr>
          <p:cNvSpPr>
            <a:spLocks noGrp="1"/>
          </p:cNvSpPr>
          <p:nvPr/>
        </p:nvSpPr>
        <p:spPr>
          <a:xfrm>
            <a:off x="2571750" y="5429250"/>
            <a:ext cx="704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D9EEFF"/>
                </a:solidFill>
              </a:defRPr>
            </a:pPr>
            <a:r>
              <a:rPr sz="1575" b="1">
                <a:solidFill>
                  <a:srgbClr val="D9EEFF"/>
                </a:solidFill>
              </a:rPr>
              <a:t>The application integrates once; governance and provider choice evolve behind the gateway.</a:t>
            </a:r>
          </a:p>
        </p:txBody>
      </p:sp>
    </p:spTree>
    <p:extLst>
      <p:ext uri="{BB962C8B-B14F-4D97-AF65-F5344CB8AC3E}">
        <p14:creationId xmlns:p14="http://schemas.microsoft.com/office/powerpoint/2010/main" val="333578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rand-rail">
            <a:extLst>
              <a:ext uri="{FF2B5EF4-FFF2-40B4-BE49-F238E27FC236}">
                <a16:creationId xmlns:a16="http://schemas.microsoft.com/office/drawing/2014/main" id="{F4BAC03F-E92C-4EEA-B163-BC5B0D221F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ECE4ABCB-4BC9-4982-8F46-6D6D852F2E67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BCE1"/>
                </a:solidFill>
              </a:defRPr>
            </a:pPr>
            <a:r>
              <a:rPr sz="1050" b="1">
                <a:solidFill>
                  <a:srgbClr val="00BCE1"/>
                </a:solidFill>
              </a:rPr>
              <a:t>WHY A GATEWAY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FE56A0CB-97E5-4014-8EB1-C4ACD7686AEE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8233E"/>
                </a:solidFill>
              </a:defRPr>
            </a:pPr>
            <a:r>
              <a:rPr sz="2700" b="1">
                <a:solidFill>
                  <a:srgbClr val="08233E"/>
                </a:solidFill>
              </a:rPr>
              <a:t>Every provider otherwise becomes a new integration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0021E298-B80D-4E22-946D-E4D50D35D8D9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673C88-7AE4-432E-BC8E-29FB245FCB1E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E5C99F-5867-4107-B12F-D9CA4506C386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DDDC3A-9398-4087-8308-E2CE51009761}"/>
              </a:ext>
            </a:extLst>
          </p:cNvPr>
          <p:cNvSpPr>
            <a:spLocks noGrp="1"/>
          </p:cNvSpPr>
          <p:nvPr/>
        </p:nvSpPr>
        <p:spPr>
          <a:xfrm>
            <a:off x="666750" y="1962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F7E88"/>
                </a:solidFill>
              </a:defRPr>
            </a:pPr>
            <a:r>
              <a:rPr sz="1125" b="1">
                <a:solidFill>
                  <a:srgbClr val="FF7E88"/>
                </a:solidFill>
              </a:rPr>
              <a:t>WITHOUT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EA9006-7889-4500-B22C-A186ACA3C584}"/>
              </a:ext>
            </a:extLst>
          </p:cNvPr>
          <p:cNvSpPr>
            <a:spLocks noGrp="1"/>
          </p:cNvSpPr>
          <p:nvPr/>
        </p:nvSpPr>
        <p:spPr>
          <a:xfrm>
            <a:off x="666750" y="24003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8233E"/>
                </a:solidFill>
              </a:defRPr>
            </a:pPr>
            <a:r>
              <a:rPr sz="1875" b="1">
                <a:solidFill>
                  <a:srgbClr val="08233E"/>
                </a:solidFill>
              </a:rPr>
              <a:t>SDKs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D6796A-FDDA-498A-9374-90ECA0024B44}"/>
              </a:ext>
            </a:extLst>
          </p:cNvPr>
          <p:cNvSpPr>
            <a:spLocks noGrp="1"/>
          </p:cNvSpPr>
          <p:nvPr/>
        </p:nvSpPr>
        <p:spPr>
          <a:xfrm>
            <a:off x="2476500" y="24003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8233E"/>
                </a:solidFill>
              </a:defRPr>
            </a:pPr>
            <a:r>
              <a:rPr sz="1875" b="1">
                <a:solidFill>
                  <a:srgbClr val="08233E"/>
                </a:solidFill>
              </a:rPr>
              <a:t>auth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0275ED-DB4A-4C9C-AFAC-E2B4D2CC092C}"/>
              </a:ext>
            </a:extLst>
          </p:cNvPr>
          <p:cNvSpPr>
            <a:spLocks noGrp="1"/>
          </p:cNvSpPr>
          <p:nvPr/>
        </p:nvSpPr>
        <p:spPr>
          <a:xfrm>
            <a:off x="4286250" y="24003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8233E"/>
                </a:solidFill>
              </a:defRPr>
            </a:pPr>
            <a:r>
              <a:rPr sz="1875" b="1">
                <a:solidFill>
                  <a:srgbClr val="08233E"/>
                </a:solidFill>
              </a:rPr>
              <a:t>schemas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F7DA01-13B6-4EE7-A077-4AD3F29B715F}"/>
              </a:ext>
            </a:extLst>
          </p:cNvPr>
          <p:cNvSpPr>
            <a:spLocks noGrp="1"/>
          </p:cNvSpPr>
          <p:nvPr/>
        </p:nvSpPr>
        <p:spPr>
          <a:xfrm>
            <a:off x="6096000" y="24003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8233E"/>
                </a:solidFill>
              </a:defRPr>
            </a:pPr>
            <a:r>
              <a:rPr sz="1875" b="1">
                <a:solidFill>
                  <a:srgbClr val="08233E"/>
                </a:solidFill>
              </a:rPr>
              <a:t>retries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A7D637-1488-4463-8CE8-E7C4296E0C4E}"/>
              </a:ext>
            </a:extLst>
          </p:cNvPr>
          <p:cNvSpPr>
            <a:spLocks noGrp="1"/>
          </p:cNvSpPr>
          <p:nvPr/>
        </p:nvSpPr>
        <p:spPr>
          <a:xfrm>
            <a:off x="7905750" y="24003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8233E"/>
                </a:solidFill>
              </a:defRPr>
            </a:pPr>
            <a:r>
              <a:rPr sz="1875" b="1">
                <a:solidFill>
                  <a:srgbClr val="08233E"/>
                </a:solidFill>
              </a:rPr>
              <a:t>logs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712836-4712-4BB5-9B81-84C9FD78148E}"/>
              </a:ext>
            </a:extLst>
          </p:cNvPr>
          <p:cNvSpPr>
            <a:spLocks noGrp="1"/>
          </p:cNvSpPr>
          <p:nvPr/>
        </p:nvSpPr>
        <p:spPr>
          <a:xfrm>
            <a:off x="9715500" y="24003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8233E"/>
                </a:solidFill>
              </a:defRPr>
            </a:pPr>
            <a:r>
              <a:rPr sz="1875" b="1">
                <a:solidFill>
                  <a:srgbClr val="08233E"/>
                </a:solidFill>
              </a:rPr>
              <a:t>billing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2986FE04-3B1F-45B3-9B5E-A2517AD0A596}"/>
              </a:ext>
            </a:extLst>
          </p:cNvPr>
          <p:cNvSpPr>
            <a:spLocks noGrp="1"/>
          </p:cNvSpPr>
          <p:nvPr/>
        </p:nvSpPr>
        <p:spPr>
          <a:xfrm>
            <a:off x="1428750" y="3048000"/>
            <a:ext cx="9525" cy="1200150"/>
          </a:xfrm>
          <a:prstGeom prst="line">
            <a:avLst/>
          </a:prstGeom>
          <a:noFill/>
          <a:ln w="1905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A32431CC-3798-4A46-B040-00620B270C92}"/>
              </a:ext>
            </a:extLst>
          </p:cNvPr>
          <p:cNvSpPr>
            <a:spLocks noGrp="1"/>
          </p:cNvSpPr>
          <p:nvPr/>
        </p:nvSpPr>
        <p:spPr>
          <a:xfrm>
            <a:off x="3219450" y="3048000"/>
            <a:ext cx="9525" cy="1200150"/>
          </a:xfrm>
          <a:prstGeom prst="line">
            <a:avLst/>
          </a:prstGeom>
          <a:noFill/>
          <a:ln w="1905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DE8A52F6-90BE-49E6-A056-19B41076BB19}"/>
              </a:ext>
            </a:extLst>
          </p:cNvPr>
          <p:cNvSpPr>
            <a:spLocks noGrp="1"/>
          </p:cNvSpPr>
          <p:nvPr/>
        </p:nvSpPr>
        <p:spPr>
          <a:xfrm>
            <a:off x="5010150" y="3048000"/>
            <a:ext cx="9525" cy="1200150"/>
          </a:xfrm>
          <a:prstGeom prst="line">
            <a:avLst/>
          </a:prstGeom>
          <a:noFill/>
          <a:ln w="1905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E5B2FB73-D624-4C10-AEEE-0B403AD1C08D}"/>
              </a:ext>
            </a:extLst>
          </p:cNvPr>
          <p:cNvSpPr>
            <a:spLocks noGrp="1"/>
          </p:cNvSpPr>
          <p:nvPr/>
        </p:nvSpPr>
        <p:spPr>
          <a:xfrm>
            <a:off x="6800850" y="3048000"/>
            <a:ext cx="9525" cy="1200150"/>
          </a:xfrm>
          <a:prstGeom prst="line">
            <a:avLst/>
          </a:prstGeom>
          <a:noFill/>
          <a:ln w="1905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64751FDB-0BDA-4496-89A1-1F4F3E747277}"/>
              </a:ext>
            </a:extLst>
          </p:cNvPr>
          <p:cNvSpPr>
            <a:spLocks noGrp="1"/>
          </p:cNvSpPr>
          <p:nvPr/>
        </p:nvSpPr>
        <p:spPr>
          <a:xfrm>
            <a:off x="8591550" y="3048000"/>
            <a:ext cx="9525" cy="1200150"/>
          </a:xfrm>
          <a:prstGeom prst="line">
            <a:avLst/>
          </a:prstGeom>
          <a:noFill/>
          <a:ln w="1905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F2592F8A-B3E9-41DF-8209-B163F450664F}"/>
              </a:ext>
            </a:extLst>
          </p:cNvPr>
          <p:cNvSpPr>
            <a:spLocks noGrp="1"/>
          </p:cNvSpPr>
          <p:nvPr/>
        </p:nvSpPr>
        <p:spPr>
          <a:xfrm>
            <a:off x="10382250" y="3048000"/>
            <a:ext cx="9525" cy="1200150"/>
          </a:xfrm>
          <a:prstGeom prst="line">
            <a:avLst/>
          </a:prstGeom>
          <a:noFill/>
          <a:ln w="1905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CCB179-1531-4A23-9406-FC8E0BA7F5C1}"/>
              </a:ext>
            </a:extLst>
          </p:cNvPr>
          <p:cNvSpPr>
            <a:spLocks noGrp="1"/>
          </p:cNvSpPr>
          <p:nvPr/>
        </p:nvSpPr>
        <p:spPr>
          <a:xfrm>
            <a:off x="666750" y="445770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4E7189"/>
                </a:solidFill>
              </a:defRPr>
            </a:pPr>
            <a:r>
              <a:rPr sz="1650" b="0">
                <a:solidFill>
                  <a:srgbClr val="4E7189"/>
                </a:solidFill>
              </a:rPr>
              <a:t>Repeated for every model provider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287F7C3-CEC8-4105-ACFC-A4F2A76694A0}"/>
              </a:ext>
            </a:extLst>
          </p:cNvPr>
          <p:cNvSpPr>
            <a:spLocks noGrp="1"/>
          </p:cNvSpPr>
          <p:nvPr/>
        </p:nvSpPr>
        <p:spPr>
          <a:xfrm>
            <a:off x="5143500" y="4362450"/>
            <a:ext cx="1524000" cy="552450"/>
          </a:xfrm>
          <a:prstGeom prst="rightArrow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4678479-155B-47B5-9A77-2308739D6487}"/>
              </a:ext>
            </a:extLst>
          </p:cNvPr>
          <p:cNvSpPr>
            <a:spLocks noGrp="1"/>
          </p:cNvSpPr>
          <p:nvPr/>
        </p:nvSpPr>
        <p:spPr>
          <a:xfrm>
            <a:off x="7429500" y="4019550"/>
            <a:ext cx="3048000" cy="1219200"/>
          </a:xfrm>
          <a:prstGeom prst="roundRect">
            <a:avLst>
              <a:gd name="adj" fmla="val 14063"/>
            </a:avLst>
          </a:prstGeom>
          <a:solidFill>
            <a:srgbClr val="012651"/>
          </a:solidFill>
          <a:ln w="9525">
            <a:solidFill>
              <a:srgbClr val="012651"/>
            </a:solidFill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6FBFF"/>
                </a:solidFill>
              </a:defRPr>
            </a:pPr>
            <a:r>
              <a:rPr sz="1800" b="1">
                <a:solidFill>
                  <a:srgbClr val="F6FBFF"/>
                </a:solidFill>
              </a:rPr>
              <a:t>One stable</a:t>
            </a:r>
          </a:p>
          <a:p>
            <a:pPr algn="ctr">
              <a:defRPr sz="1800" b="1">
                <a:solidFill>
                  <a:srgbClr val="F6FBFF"/>
                </a:solidFill>
              </a:defRPr>
            </a:pPr>
            <a:r>
              <a:rPr sz="1800" b="1">
                <a:solidFill>
                  <a:srgbClr val="F6FBFF"/>
                </a:solidFill>
              </a:rPr>
              <a:t>GodarAI contract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DA6A2D-81A7-4254-B078-BDD965C507AC}"/>
              </a:ext>
            </a:extLst>
          </p:cNvPr>
          <p:cNvSpPr>
            <a:spLocks noGrp="1"/>
          </p:cNvSpPr>
          <p:nvPr/>
        </p:nvSpPr>
        <p:spPr>
          <a:xfrm>
            <a:off x="7067550" y="546735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4E7189"/>
                </a:solidFill>
              </a:defRPr>
            </a:pPr>
            <a:r>
              <a:rPr sz="1350" b="1">
                <a:solidFill>
                  <a:srgbClr val="4E7189"/>
                </a:solidFill>
              </a:rPr>
              <a:t>Change providers without rebuilding the product edge.</a:t>
            </a:r>
          </a:p>
        </p:txBody>
      </p:sp>
    </p:spTree>
    <p:extLst>
      <p:ext uri="{BB962C8B-B14F-4D97-AF65-F5344CB8AC3E}">
        <p14:creationId xmlns:p14="http://schemas.microsoft.com/office/powerpoint/2010/main" val="1530863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rand-rail">
            <a:extLst>
              <a:ext uri="{FF2B5EF4-FFF2-40B4-BE49-F238E27FC236}">
                <a16:creationId xmlns:a16="http://schemas.microsoft.com/office/drawing/2014/main" id="{1D1B1D63-99A2-4EEB-96A6-2175EE378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2510701C-594E-413C-961D-805E48D3B656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REQUEST PATH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831BE12F-ECAF-4FE0-BA85-911517F03254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Policy shapes every request before inference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1F8E69F4-16B0-4F2F-9241-8DD4AEC382E1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32E821-A42A-4729-9946-B23A10F13323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CA7234-A0C6-44A3-B61A-52381CA33DF8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04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3C82173F-DE71-424E-96E2-9555674B4854}"/>
              </a:ext>
            </a:extLst>
          </p:cNvPr>
          <p:cNvSpPr>
            <a:spLocks noGrp="1"/>
          </p:cNvSpPr>
          <p:nvPr/>
        </p:nvSpPr>
        <p:spPr>
          <a:xfrm>
            <a:off x="1257300" y="3276600"/>
            <a:ext cx="8477250" cy="9525"/>
          </a:xfrm>
          <a:prstGeom prst="line">
            <a:avLst/>
          </a:prstGeom>
          <a:noFill/>
          <a:ln w="38100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09C471-0059-420E-B70B-1778638E4FA3}"/>
              </a:ext>
            </a:extLst>
          </p:cNvPr>
          <p:cNvSpPr>
            <a:spLocks noGrp="1"/>
          </p:cNvSpPr>
          <p:nvPr/>
        </p:nvSpPr>
        <p:spPr>
          <a:xfrm>
            <a:off x="1162050" y="2800350"/>
            <a:ext cx="552450" cy="552450"/>
          </a:xfrm>
          <a:prstGeom prst="ellipse">
            <a:avLst/>
          </a:prstGeom>
          <a:solidFill>
            <a:srgbClr val="012651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B367DA-DF19-4818-9B72-C5846FACED35}"/>
              </a:ext>
            </a:extLst>
          </p:cNvPr>
          <p:cNvSpPr>
            <a:spLocks noGrp="1"/>
          </p:cNvSpPr>
          <p:nvPr/>
        </p:nvSpPr>
        <p:spPr>
          <a:xfrm>
            <a:off x="1162050" y="292417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9689CA-62B3-49A8-BD70-48A424502E16}"/>
              </a:ext>
            </a:extLst>
          </p:cNvPr>
          <p:cNvSpPr>
            <a:spLocks noGrp="1"/>
          </p:cNvSpPr>
          <p:nvPr/>
        </p:nvSpPr>
        <p:spPr>
          <a:xfrm>
            <a:off x="704850" y="36004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F6FBFF"/>
                </a:solidFill>
              </a:defRPr>
            </a:pPr>
            <a:r>
              <a:rPr sz="1425" b="1">
                <a:solidFill>
                  <a:srgbClr val="F6FBFF"/>
                </a:solidFill>
              </a:rPr>
              <a:t>Authenticate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8664B3-6E91-48F9-9B60-A5A003041D0C}"/>
              </a:ext>
            </a:extLst>
          </p:cNvPr>
          <p:cNvSpPr>
            <a:spLocks noGrp="1"/>
          </p:cNvSpPr>
          <p:nvPr/>
        </p:nvSpPr>
        <p:spPr>
          <a:xfrm>
            <a:off x="704850" y="3924300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FB5CF"/>
                </a:solidFill>
              </a:defRPr>
            </a:pPr>
            <a:r>
              <a:rPr sz="1125" b="0">
                <a:solidFill>
                  <a:srgbClr val="8FB5CF"/>
                </a:solidFill>
              </a:rPr>
              <a:t>PAT / VAT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D879C50-53CB-4EBF-BB55-FFC856A19496}"/>
              </a:ext>
            </a:extLst>
          </p:cNvPr>
          <p:cNvSpPr>
            <a:spLocks noGrp="1"/>
          </p:cNvSpPr>
          <p:nvPr/>
        </p:nvSpPr>
        <p:spPr>
          <a:xfrm>
            <a:off x="2857500" y="2800350"/>
            <a:ext cx="552450" cy="552450"/>
          </a:xfrm>
          <a:prstGeom prst="ellipse">
            <a:avLst/>
          </a:prstGeom>
          <a:solidFill>
            <a:srgbClr val="012651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F273BC-DA2D-4E63-8755-8F5E1F5B2208}"/>
              </a:ext>
            </a:extLst>
          </p:cNvPr>
          <p:cNvSpPr>
            <a:spLocks noGrp="1"/>
          </p:cNvSpPr>
          <p:nvPr/>
        </p:nvSpPr>
        <p:spPr>
          <a:xfrm>
            <a:off x="2857500" y="292417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5D0A86-5873-4E7B-A696-D776339F9AA0}"/>
              </a:ext>
            </a:extLst>
          </p:cNvPr>
          <p:cNvSpPr>
            <a:spLocks noGrp="1"/>
          </p:cNvSpPr>
          <p:nvPr/>
        </p:nvSpPr>
        <p:spPr>
          <a:xfrm>
            <a:off x="2400300" y="36004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F6FBFF"/>
                </a:solidFill>
              </a:defRPr>
            </a:pPr>
            <a:r>
              <a:rPr sz="1425" b="1">
                <a:solidFill>
                  <a:srgbClr val="F6FBFF"/>
                </a:solidFill>
              </a:rPr>
              <a:t>Authorize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3C816C-2C42-4447-AE60-ADAB5D1AA45C}"/>
              </a:ext>
            </a:extLst>
          </p:cNvPr>
          <p:cNvSpPr>
            <a:spLocks noGrp="1"/>
          </p:cNvSpPr>
          <p:nvPr/>
        </p:nvSpPr>
        <p:spPr>
          <a:xfrm>
            <a:off x="2400300" y="3924300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FB5CF"/>
                </a:solidFill>
              </a:defRPr>
            </a:pPr>
            <a:r>
              <a:rPr sz="1125" b="0">
                <a:solidFill>
                  <a:srgbClr val="8FB5CF"/>
                </a:solidFill>
              </a:rPr>
              <a:t>model + scope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E3C391B-AA2D-4C74-BA8A-952EAED66383}"/>
              </a:ext>
            </a:extLst>
          </p:cNvPr>
          <p:cNvSpPr>
            <a:spLocks noGrp="1"/>
          </p:cNvSpPr>
          <p:nvPr/>
        </p:nvSpPr>
        <p:spPr>
          <a:xfrm>
            <a:off x="4552950" y="2800350"/>
            <a:ext cx="552450" cy="552450"/>
          </a:xfrm>
          <a:prstGeom prst="ellipse">
            <a:avLst/>
          </a:prstGeom>
          <a:solidFill>
            <a:srgbClr val="012651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E0FE92-15D3-4609-8218-F4D9DADCBC06}"/>
              </a:ext>
            </a:extLst>
          </p:cNvPr>
          <p:cNvSpPr>
            <a:spLocks noGrp="1"/>
          </p:cNvSpPr>
          <p:nvPr/>
        </p:nvSpPr>
        <p:spPr>
          <a:xfrm>
            <a:off x="4552950" y="292417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D28BC4-7E10-46C8-A988-9F3FD9CF2E57}"/>
              </a:ext>
            </a:extLst>
          </p:cNvPr>
          <p:cNvSpPr>
            <a:spLocks noGrp="1"/>
          </p:cNvSpPr>
          <p:nvPr/>
        </p:nvSpPr>
        <p:spPr>
          <a:xfrm>
            <a:off x="4095750" y="36004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F6FBFF"/>
                </a:solidFill>
              </a:defRPr>
            </a:pPr>
            <a:r>
              <a:rPr sz="1425" b="1">
                <a:solidFill>
                  <a:srgbClr val="F6FBFF"/>
                </a:solidFill>
              </a:rPr>
              <a:t>Protect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F96F2E-C7A5-49D5-83D3-BE538BED7665}"/>
              </a:ext>
            </a:extLst>
          </p:cNvPr>
          <p:cNvSpPr>
            <a:spLocks noGrp="1"/>
          </p:cNvSpPr>
          <p:nvPr/>
        </p:nvSpPr>
        <p:spPr>
          <a:xfrm>
            <a:off x="4095750" y="3924300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FB5CF"/>
                </a:solidFill>
              </a:defRPr>
            </a:pPr>
            <a:r>
              <a:rPr sz="1125" b="0">
                <a:solidFill>
                  <a:srgbClr val="8FB5CF"/>
                </a:solidFill>
              </a:rPr>
              <a:t>guardrails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9AE4423-0609-4E9B-9370-5F667797E0ED}"/>
              </a:ext>
            </a:extLst>
          </p:cNvPr>
          <p:cNvSpPr>
            <a:spLocks noGrp="1"/>
          </p:cNvSpPr>
          <p:nvPr/>
        </p:nvSpPr>
        <p:spPr>
          <a:xfrm>
            <a:off x="6248400" y="2800350"/>
            <a:ext cx="552450" cy="552450"/>
          </a:xfrm>
          <a:prstGeom prst="ellipse">
            <a:avLst/>
          </a:prstGeom>
          <a:solidFill>
            <a:srgbClr val="012651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14AB54-5F6D-4F48-9A3F-2C644F647DD4}"/>
              </a:ext>
            </a:extLst>
          </p:cNvPr>
          <p:cNvSpPr>
            <a:spLocks noGrp="1"/>
          </p:cNvSpPr>
          <p:nvPr/>
        </p:nvSpPr>
        <p:spPr>
          <a:xfrm>
            <a:off x="6248400" y="292417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ACB43E-F714-4403-855A-9CC98A9981CE}"/>
              </a:ext>
            </a:extLst>
          </p:cNvPr>
          <p:cNvSpPr>
            <a:spLocks noGrp="1"/>
          </p:cNvSpPr>
          <p:nvPr/>
        </p:nvSpPr>
        <p:spPr>
          <a:xfrm>
            <a:off x="5791200" y="36004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F6FBFF"/>
                </a:solidFill>
              </a:defRPr>
            </a:pPr>
            <a:r>
              <a:rPr sz="1425" b="1">
                <a:solidFill>
                  <a:srgbClr val="F6FBFF"/>
                </a:solidFill>
              </a:rPr>
              <a:t>Optimize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0C056B-D16E-44A4-89DF-21722AB3620D}"/>
              </a:ext>
            </a:extLst>
          </p:cNvPr>
          <p:cNvSpPr>
            <a:spLocks noGrp="1"/>
          </p:cNvSpPr>
          <p:nvPr/>
        </p:nvSpPr>
        <p:spPr>
          <a:xfrm>
            <a:off x="5791200" y="3924300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FB5CF"/>
                </a:solidFill>
              </a:defRPr>
            </a:pPr>
            <a:r>
              <a:rPr sz="1125" b="0">
                <a:solidFill>
                  <a:srgbClr val="8FB5CF"/>
                </a:solidFill>
              </a:rPr>
              <a:t>cache + route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89885E6-C44E-470B-A7D6-72BA56842A6F}"/>
              </a:ext>
            </a:extLst>
          </p:cNvPr>
          <p:cNvSpPr>
            <a:spLocks noGrp="1"/>
          </p:cNvSpPr>
          <p:nvPr/>
        </p:nvSpPr>
        <p:spPr>
          <a:xfrm>
            <a:off x="7943850" y="2800350"/>
            <a:ext cx="552450" cy="552450"/>
          </a:xfrm>
          <a:prstGeom prst="ellipse">
            <a:avLst/>
          </a:prstGeom>
          <a:solidFill>
            <a:srgbClr val="00C9EB"/>
          </a:solidFill>
          <a:ln w="9525">
            <a:solidFill>
              <a:srgbClr val="00C9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023B97-BDDA-4E70-AAB1-B1C16A8A6D7F}"/>
              </a:ext>
            </a:extLst>
          </p:cNvPr>
          <p:cNvSpPr>
            <a:spLocks noGrp="1"/>
          </p:cNvSpPr>
          <p:nvPr/>
        </p:nvSpPr>
        <p:spPr>
          <a:xfrm>
            <a:off x="7943850" y="292417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6182D"/>
                </a:solidFill>
              </a:defRPr>
            </a:pPr>
            <a:r>
              <a:rPr sz="1500" b="1">
                <a:solidFill>
                  <a:srgbClr val="06182D"/>
                </a:solidFill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6D61E2-612E-43F7-AE66-1BBD531D94FC}"/>
              </a:ext>
            </a:extLst>
          </p:cNvPr>
          <p:cNvSpPr>
            <a:spLocks noGrp="1"/>
          </p:cNvSpPr>
          <p:nvPr/>
        </p:nvSpPr>
        <p:spPr>
          <a:xfrm>
            <a:off x="7486650" y="36004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F6FBFF"/>
                </a:solidFill>
              </a:defRPr>
            </a:pPr>
            <a:r>
              <a:rPr sz="1425" b="1">
                <a:solidFill>
                  <a:srgbClr val="F6FBFF"/>
                </a:solidFill>
              </a:rPr>
              <a:t>Infer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593D40-14B2-4AE0-8515-3E23B9A2383C}"/>
              </a:ext>
            </a:extLst>
          </p:cNvPr>
          <p:cNvSpPr>
            <a:spLocks noGrp="1"/>
          </p:cNvSpPr>
          <p:nvPr/>
        </p:nvSpPr>
        <p:spPr>
          <a:xfrm>
            <a:off x="7486650" y="3924300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FB5CF"/>
                </a:solidFill>
              </a:defRPr>
            </a:pPr>
            <a:r>
              <a:rPr sz="1125" b="0">
                <a:solidFill>
                  <a:srgbClr val="8FB5CF"/>
                </a:solidFill>
              </a:rPr>
              <a:t>provider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E7256E-AFD2-40E6-B35D-A6F4A20653C1}"/>
              </a:ext>
            </a:extLst>
          </p:cNvPr>
          <p:cNvSpPr>
            <a:spLocks noGrp="1"/>
          </p:cNvSpPr>
          <p:nvPr/>
        </p:nvSpPr>
        <p:spPr>
          <a:xfrm>
            <a:off x="9639300" y="2800350"/>
            <a:ext cx="552450" cy="552450"/>
          </a:xfrm>
          <a:prstGeom prst="ellipse">
            <a:avLst/>
          </a:prstGeom>
          <a:solidFill>
            <a:srgbClr val="012651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08CE52-04FC-49EF-BA4B-7F507842557E}"/>
              </a:ext>
            </a:extLst>
          </p:cNvPr>
          <p:cNvSpPr>
            <a:spLocks noGrp="1"/>
          </p:cNvSpPr>
          <p:nvPr/>
        </p:nvSpPr>
        <p:spPr>
          <a:xfrm>
            <a:off x="9639300" y="292417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E860D1-F4B3-41C8-99CE-E10BA2656127}"/>
              </a:ext>
            </a:extLst>
          </p:cNvPr>
          <p:cNvSpPr>
            <a:spLocks noGrp="1"/>
          </p:cNvSpPr>
          <p:nvPr/>
        </p:nvSpPr>
        <p:spPr>
          <a:xfrm>
            <a:off x="9182100" y="36004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F6FBFF"/>
                </a:solidFill>
              </a:defRPr>
            </a:pPr>
            <a:r>
              <a:rPr sz="1425" b="1">
                <a:solidFill>
                  <a:srgbClr val="F6FBFF"/>
                </a:solidFill>
              </a:rPr>
              <a:t>Record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67676B-A68A-475B-9C41-B4ADF1295C9E}"/>
              </a:ext>
            </a:extLst>
          </p:cNvPr>
          <p:cNvSpPr>
            <a:spLocks noGrp="1"/>
          </p:cNvSpPr>
          <p:nvPr/>
        </p:nvSpPr>
        <p:spPr>
          <a:xfrm>
            <a:off x="9182100" y="3924300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FB5CF"/>
                </a:solidFill>
              </a:defRPr>
            </a:pPr>
            <a:r>
              <a:rPr sz="1125" b="0">
                <a:solidFill>
                  <a:srgbClr val="8FB5CF"/>
                </a:solidFill>
              </a:rPr>
              <a:t>usage + trace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1E6CB6-B544-435D-AB7B-9A13A1DA4F76}"/>
              </a:ext>
            </a:extLst>
          </p:cNvPr>
          <p:cNvSpPr>
            <a:spLocks noGrp="1"/>
          </p:cNvSpPr>
          <p:nvPr/>
        </p:nvSpPr>
        <p:spPr>
          <a:xfrm>
            <a:off x="2952750" y="5086350"/>
            <a:ext cx="628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D9EEFF"/>
                </a:solidFill>
              </a:defRPr>
            </a:pPr>
            <a:r>
              <a:rPr sz="1725" b="1">
                <a:solidFill>
                  <a:srgbClr val="D9EEFF"/>
                </a:solidFill>
              </a:rPr>
              <a:t>A single request path makes behavior consistent across providers.</a:t>
            </a:r>
          </a:p>
        </p:txBody>
      </p:sp>
    </p:spTree>
    <p:extLst>
      <p:ext uri="{BB962C8B-B14F-4D97-AF65-F5344CB8AC3E}">
        <p14:creationId xmlns:p14="http://schemas.microsoft.com/office/powerpoint/2010/main" val="247449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rand-rail">
            <a:extLst>
              <a:ext uri="{FF2B5EF4-FFF2-40B4-BE49-F238E27FC236}">
                <a16:creationId xmlns:a16="http://schemas.microsoft.com/office/drawing/2014/main" id="{39FDE910-8800-45DF-BE13-DEA2648AFA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076E029E-FA06-4394-AEC1-D917A21B5631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BCE1"/>
                </a:solidFill>
              </a:defRPr>
            </a:pPr>
            <a:r>
              <a:rPr sz="1050" b="1">
                <a:solidFill>
                  <a:srgbClr val="00BCE1"/>
                </a:solidFill>
              </a:rPr>
              <a:t>UNIFIED API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ED5797CA-EEE6-4004-87D9-5BA2622B85C2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8233E"/>
                </a:solidFill>
              </a:defRPr>
            </a:pPr>
            <a:r>
              <a:rPr sz="2700" b="1">
                <a:solidFill>
                  <a:srgbClr val="08233E"/>
                </a:solidFill>
              </a:rPr>
              <a:t>Unified API keeps the application contract stable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EB3511CE-6313-4FE4-BA1F-BBB99EDB5788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71415A-997A-447B-9478-65EE15051500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81ABE6-4C91-43C5-B06A-9C0A24A4ABDC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05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195A61-74D3-42FB-95B5-151094928A4E}"/>
              </a:ext>
            </a:extLst>
          </p:cNvPr>
          <p:cNvSpPr>
            <a:spLocks noGrp="1"/>
          </p:cNvSpPr>
          <p:nvPr/>
        </p:nvSpPr>
        <p:spPr>
          <a:xfrm>
            <a:off x="666750" y="1847850"/>
            <a:ext cx="5905500" cy="3676650"/>
          </a:xfrm>
          <a:prstGeom prst="roundRect">
            <a:avLst>
              <a:gd name="adj" fmla="val 5181"/>
            </a:avLst>
          </a:prstGeom>
          <a:solidFill>
            <a:srgbClr val="E5F1F8"/>
          </a:solidFill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4EAD907-82B8-484A-896D-0B82ABEBDADF}"/>
              </a:ext>
            </a:extLst>
          </p:cNvPr>
          <p:cNvSpPr>
            <a:spLocks noGrp="1"/>
          </p:cNvSpPr>
          <p:nvPr/>
        </p:nvSpPr>
        <p:spPr>
          <a:xfrm>
            <a:off x="857250" y="2019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7E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C5941C-F5D0-4120-B8B0-5BE18A235B7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EF2F089-6551-416E-B4DD-2661F5D73948}"/>
              </a:ext>
            </a:extLst>
          </p:cNvPr>
          <p:cNvSpPr>
            <a:spLocks noGrp="1"/>
          </p:cNvSpPr>
          <p:nvPr/>
        </p:nvSpPr>
        <p:spPr>
          <a:xfrm>
            <a:off x="1200150" y="2019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2D5A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4038AB-E9C5-406C-BB5E-B32962D9E38F}"/>
              </a:ext>
            </a:extLst>
          </p:cNvPr>
          <p:cNvSpPr>
            <a:spLocks noGrp="1"/>
          </p:cNvSpPr>
          <p:nvPr/>
        </p:nvSpPr>
        <p:spPr>
          <a:xfrm>
            <a:off x="1466850" y="1962150"/>
            <a:ext cx="491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E7189"/>
                </a:solidFill>
              </a:defRPr>
            </a:pPr>
            <a:r>
              <a:rPr sz="1050" b="1">
                <a:solidFill>
                  <a:srgbClr val="4E7189"/>
                </a:solidFill>
              </a:rPr>
              <a:t>OpenAI-compatible client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E4F79D7-9F48-4978-B059-2CBAE0028CF6}"/>
              </a:ext>
            </a:extLst>
          </p:cNvPr>
          <p:cNvSpPr>
            <a:spLocks noGrp="1"/>
          </p:cNvSpPr>
          <p:nvPr/>
        </p:nvSpPr>
        <p:spPr>
          <a:xfrm>
            <a:off x="857250" y="2247900"/>
            <a:ext cx="5524500" cy="9525"/>
          </a:xfrm>
          <a:prstGeom prst="line">
            <a:avLst/>
          </a:prstGeom>
          <a:noFill/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DC0DEA-63F6-42CF-B943-E1BFA3C88CB6}"/>
              </a:ext>
            </a:extLst>
          </p:cNvPr>
          <p:cNvSpPr>
            <a:spLocks noGrp="1"/>
          </p:cNvSpPr>
          <p:nvPr/>
        </p:nvSpPr>
        <p:spPr>
          <a:xfrm>
            <a:off x="895350" y="2381250"/>
            <a:ext cx="5448300" cy="2990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const client = new OpenAI({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  apiKey: process.env.GODARAI_TOKEN,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  baseURL: "https://api.godarai.ir/v1"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});</a:t>
            </a:r>
          </a:p>
          <a:p>
            <a:endParaRPr sz="1200" b="0">
              <a:solidFill>
                <a:srgbClr val="08233E"/>
              </a:solidFill>
            </a:endParaRP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const result = await client.responses.create({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  model: "support-smart",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  input: "Summarize this ticket"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});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FCAE3B-0CA0-41D5-B897-C2600CFD469E}"/>
              </a:ext>
            </a:extLst>
          </p:cNvPr>
          <p:cNvSpPr>
            <a:spLocks noGrp="1"/>
          </p:cNvSpPr>
          <p:nvPr/>
        </p:nvSpPr>
        <p:spPr>
          <a:xfrm>
            <a:off x="7239000" y="20002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8233E"/>
                </a:solidFill>
              </a:defRPr>
            </a:pPr>
            <a:r>
              <a:rPr sz="1950" b="1">
                <a:solidFill>
                  <a:srgbClr val="08233E"/>
                </a:solidFill>
              </a:rPr>
              <a:t>The code owns intent.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DD9B4EF-9A6A-4288-899D-34F896485E0C}"/>
              </a:ext>
            </a:extLst>
          </p:cNvPr>
          <p:cNvSpPr>
            <a:spLocks noGrp="1"/>
          </p:cNvSpPr>
          <p:nvPr/>
        </p:nvSpPr>
        <p:spPr>
          <a:xfrm>
            <a:off x="7239000" y="26765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B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FD3833-394A-413A-A741-2E031281853E}"/>
              </a:ext>
            </a:extLst>
          </p:cNvPr>
          <p:cNvSpPr>
            <a:spLocks noGrp="1"/>
          </p:cNvSpPr>
          <p:nvPr/>
        </p:nvSpPr>
        <p:spPr>
          <a:xfrm>
            <a:off x="7467600" y="2609850"/>
            <a:ext cx="3581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8233E"/>
                </a:solidFill>
              </a:defRPr>
            </a:pPr>
            <a:r>
              <a:rPr sz="1350" b="0">
                <a:solidFill>
                  <a:srgbClr val="08233E"/>
                </a:solidFill>
              </a:rPr>
              <a:t>GodarAI owns provider translation.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DB94AF7-0E6E-43B5-8CF8-BC299899EC29}"/>
              </a:ext>
            </a:extLst>
          </p:cNvPr>
          <p:cNvSpPr>
            <a:spLocks noGrp="1"/>
          </p:cNvSpPr>
          <p:nvPr/>
        </p:nvSpPr>
        <p:spPr>
          <a:xfrm>
            <a:off x="7239000" y="3286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B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6629BC-059F-4BD6-B115-96F314C26DBD}"/>
              </a:ext>
            </a:extLst>
          </p:cNvPr>
          <p:cNvSpPr>
            <a:spLocks noGrp="1"/>
          </p:cNvSpPr>
          <p:nvPr/>
        </p:nvSpPr>
        <p:spPr>
          <a:xfrm>
            <a:off x="7467600" y="3219450"/>
            <a:ext cx="3581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8233E"/>
                </a:solidFill>
              </a:defRPr>
            </a:pPr>
            <a:r>
              <a:rPr sz="1350" b="0">
                <a:solidFill>
                  <a:srgbClr val="08233E"/>
                </a:solidFill>
              </a:rPr>
              <a:t>Policies apply consistently.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4DEBD27-6D98-433C-9A1B-987863C6429D}"/>
              </a:ext>
            </a:extLst>
          </p:cNvPr>
          <p:cNvSpPr>
            <a:spLocks noGrp="1"/>
          </p:cNvSpPr>
          <p:nvPr/>
        </p:nvSpPr>
        <p:spPr>
          <a:xfrm>
            <a:off x="7239000" y="3895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B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A660E7-95C4-45BE-BF3B-94D4335DA5A3}"/>
              </a:ext>
            </a:extLst>
          </p:cNvPr>
          <p:cNvSpPr>
            <a:spLocks noGrp="1"/>
          </p:cNvSpPr>
          <p:nvPr/>
        </p:nvSpPr>
        <p:spPr>
          <a:xfrm>
            <a:off x="7467600" y="3829050"/>
            <a:ext cx="3581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8233E"/>
                </a:solidFill>
              </a:defRPr>
            </a:pPr>
            <a:r>
              <a:rPr sz="1350" b="0">
                <a:solidFill>
                  <a:srgbClr val="08233E"/>
                </a:solidFill>
              </a:rPr>
              <a:t>Model aliases remain stable.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C2CACDA-FC11-4A26-9D13-89A598266E42}"/>
              </a:ext>
            </a:extLst>
          </p:cNvPr>
          <p:cNvSpPr>
            <a:spLocks noGrp="1"/>
          </p:cNvSpPr>
          <p:nvPr/>
        </p:nvSpPr>
        <p:spPr>
          <a:xfrm>
            <a:off x="7239000" y="4505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B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0D721B-9B53-4EC1-A88E-853CB9E8C02C}"/>
              </a:ext>
            </a:extLst>
          </p:cNvPr>
          <p:cNvSpPr>
            <a:spLocks noGrp="1"/>
          </p:cNvSpPr>
          <p:nvPr/>
        </p:nvSpPr>
        <p:spPr>
          <a:xfrm>
            <a:off x="7467600" y="4438650"/>
            <a:ext cx="3581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8233E"/>
                </a:solidFill>
              </a:defRPr>
            </a:pPr>
            <a:r>
              <a:rPr sz="1350" b="0">
                <a:solidFill>
                  <a:srgbClr val="08233E"/>
                </a:solidFill>
              </a:rPr>
              <a:t>Telemetry and cost share one schema.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BB1EB44-9273-45C2-8E68-8C144363E486}"/>
              </a:ext>
            </a:extLst>
          </p:cNvPr>
          <p:cNvSpPr>
            <a:spLocks noGrp="1"/>
          </p:cNvSpPr>
          <p:nvPr/>
        </p:nvSpPr>
        <p:spPr>
          <a:xfrm>
            <a:off x="7239000" y="5219700"/>
            <a:ext cx="2762250" cy="323850"/>
          </a:xfrm>
          <a:prstGeom prst="roundRect">
            <a:avLst>
              <a:gd name="adj" fmla="val 50000"/>
            </a:avLst>
          </a:prstGeom>
          <a:solidFill>
            <a:srgbClr val="012651"/>
          </a:solidFill>
          <a:ln w="9525">
            <a:solidFill>
              <a:srgbClr val="01265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6FBFF"/>
                </a:solidFill>
              </a:defRPr>
            </a:pPr>
            <a:r>
              <a:rPr sz="1050" b="1">
                <a:solidFill>
                  <a:srgbClr val="F6FBFF"/>
                </a:solidFill>
              </a:rPr>
              <a:t>CHANGE BASE URL + TOKEN</a:t>
            </a:r>
          </a:p>
        </p:txBody>
      </p:sp>
    </p:spTree>
    <p:extLst>
      <p:ext uri="{BB962C8B-B14F-4D97-AF65-F5344CB8AC3E}">
        <p14:creationId xmlns:p14="http://schemas.microsoft.com/office/powerpoint/2010/main" val="754236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rand-rail">
            <a:extLst>
              <a:ext uri="{FF2B5EF4-FFF2-40B4-BE49-F238E27FC236}">
                <a16:creationId xmlns:a16="http://schemas.microsoft.com/office/drawing/2014/main" id="{A9687E2D-38F3-46C2-A839-EF6110FD3F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FC391CA3-7DAA-4ED1-AB5A-AB55947C7D58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UNIFIED API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A8D1854-C816-4370-AB2B-0065651573C3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Use the endpoint that matches the job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F13B4FFF-75EB-4B52-B950-A16D7780FF1E}"/>
              </a:ext>
            </a:extLst>
          </p:cNvPr>
          <p:cNvSpPr>
            <a:spLocks noGrp="1"/>
          </p:cNvSpPr>
          <p:nvPr/>
        </p:nvSpPr>
        <p:spPr>
          <a:xfrm>
            <a:off x="647700" y="12763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8FB5CF"/>
                </a:solidFill>
              </a:defRPr>
            </a:pPr>
            <a:r>
              <a:rPr sz="1350" b="0">
                <a:solidFill>
                  <a:srgbClr val="8FB5CF"/>
                </a:solidFill>
              </a:rPr>
              <a:t>Availability depends on the selected model, provider, and workspace configuration.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6" name="footer-rule">
            <a:extLst>
              <a:ext uri="{FF2B5EF4-FFF2-40B4-BE49-F238E27FC236}">
                <a16:creationId xmlns:a16="http://schemas.microsoft.com/office/drawing/2014/main" id="{53128EA1-E615-4027-B2D3-183224A23649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3EFD9E-9600-4C1C-AB19-25CA10D0FB01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4682A9-979A-4FF2-9F57-322675649838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06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B5BD31-8B71-4416-959A-FCAFDC4336E2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0C9EB"/>
                </a:solidFill>
              </a:defRPr>
            </a:pPr>
            <a:r>
              <a:rPr sz="1350" b="1">
                <a:solidFill>
                  <a:srgbClr val="00C9EB"/>
                </a:solidFill>
              </a:rPr>
              <a:t>/v1/responses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014EC6-7F9B-4688-A262-F548083A7500}"/>
              </a:ext>
            </a:extLst>
          </p:cNvPr>
          <p:cNvSpPr>
            <a:spLocks noGrp="1"/>
          </p:cNvSpPr>
          <p:nvPr/>
        </p:nvSpPr>
        <p:spPr>
          <a:xfrm>
            <a:off x="666750" y="2228850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Agentic, multimodal, tool-driven response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659B3652-C701-47CE-8452-7AC9216D57E9}"/>
              </a:ext>
            </a:extLst>
          </p:cNvPr>
          <p:cNvSpPr>
            <a:spLocks noGrp="1"/>
          </p:cNvSpPr>
          <p:nvPr/>
        </p:nvSpPr>
        <p:spPr>
          <a:xfrm>
            <a:off x="4143375" y="1866900"/>
            <a:ext cx="9525" cy="876300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05A5D32-ABB2-4CD0-A47C-417C2EF86B7A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333375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5A3593-17F6-4403-AB4A-5D084FC5B3FD}"/>
              </a:ext>
            </a:extLst>
          </p:cNvPr>
          <p:cNvSpPr>
            <a:spLocks noGrp="1"/>
          </p:cNvSpPr>
          <p:nvPr/>
        </p:nvSpPr>
        <p:spPr>
          <a:xfrm>
            <a:off x="4400550" y="18669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0C9EB"/>
                </a:solidFill>
              </a:defRPr>
            </a:pPr>
            <a:r>
              <a:rPr sz="1350" b="1">
                <a:solidFill>
                  <a:srgbClr val="00C9EB"/>
                </a:solidFill>
              </a:rPr>
              <a:t>/v1/chat/completions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D6878C-7C18-49CB-B6BD-A03909C3FEB1}"/>
              </a:ext>
            </a:extLst>
          </p:cNvPr>
          <p:cNvSpPr>
            <a:spLocks noGrp="1"/>
          </p:cNvSpPr>
          <p:nvPr/>
        </p:nvSpPr>
        <p:spPr>
          <a:xfrm>
            <a:off x="4400550" y="2228850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Conversation and structured generation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5430BC1F-0083-45D9-ACD3-1DC32D24C32E}"/>
              </a:ext>
            </a:extLst>
          </p:cNvPr>
          <p:cNvSpPr>
            <a:spLocks noGrp="1"/>
          </p:cNvSpPr>
          <p:nvPr/>
        </p:nvSpPr>
        <p:spPr>
          <a:xfrm>
            <a:off x="7877175" y="1866900"/>
            <a:ext cx="9525" cy="876300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2EFA8480-CBE8-47B8-87BF-3BBC56FE0C4E}"/>
              </a:ext>
            </a:extLst>
          </p:cNvPr>
          <p:cNvSpPr>
            <a:spLocks noGrp="1"/>
          </p:cNvSpPr>
          <p:nvPr/>
        </p:nvSpPr>
        <p:spPr>
          <a:xfrm>
            <a:off x="4400550" y="2876550"/>
            <a:ext cx="333375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858E54-98E3-41B8-8EAB-785BF15D8883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0C9EB"/>
                </a:solidFill>
              </a:defRPr>
            </a:pPr>
            <a:r>
              <a:rPr sz="1350" b="1">
                <a:solidFill>
                  <a:srgbClr val="00C9EB"/>
                </a:solidFill>
              </a:rPr>
              <a:t>/v1/completions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622A0A-2645-4DAD-A999-A5CB793500AF}"/>
              </a:ext>
            </a:extLst>
          </p:cNvPr>
          <p:cNvSpPr>
            <a:spLocks noGrp="1"/>
          </p:cNvSpPr>
          <p:nvPr/>
        </p:nvSpPr>
        <p:spPr>
          <a:xfrm>
            <a:off x="8134350" y="2228850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Legacy text-completion compatibility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C8F330A2-CF6F-476C-A61A-E38D3F6A580A}"/>
              </a:ext>
            </a:extLst>
          </p:cNvPr>
          <p:cNvSpPr>
            <a:spLocks noGrp="1"/>
          </p:cNvSpPr>
          <p:nvPr/>
        </p:nvSpPr>
        <p:spPr>
          <a:xfrm>
            <a:off x="8134350" y="2876550"/>
            <a:ext cx="333375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605D3F-6567-4414-8ABF-1BD0AF3B0A46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0C9EB"/>
                </a:solidFill>
              </a:defRPr>
            </a:pPr>
            <a:r>
              <a:rPr sz="1350" b="1">
                <a:solidFill>
                  <a:srgbClr val="00C9EB"/>
                </a:solidFill>
              </a:rPr>
              <a:t>/v1/embeddings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004C7F-F5E6-4593-961A-6E27AB29D13E}"/>
              </a:ext>
            </a:extLst>
          </p:cNvPr>
          <p:cNvSpPr>
            <a:spLocks noGrp="1"/>
          </p:cNvSpPr>
          <p:nvPr/>
        </p:nvSpPr>
        <p:spPr>
          <a:xfrm>
            <a:off x="666750" y="3486150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Vectors for search and retrieval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9BD79059-D6B0-4FD7-A5D8-847FE441C465}"/>
              </a:ext>
            </a:extLst>
          </p:cNvPr>
          <p:cNvSpPr>
            <a:spLocks noGrp="1"/>
          </p:cNvSpPr>
          <p:nvPr/>
        </p:nvSpPr>
        <p:spPr>
          <a:xfrm>
            <a:off x="4143375" y="3124200"/>
            <a:ext cx="9525" cy="876300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4DEB895E-6139-4D87-AE19-8A6CB8A35C8E}"/>
              </a:ext>
            </a:extLst>
          </p:cNvPr>
          <p:cNvSpPr>
            <a:spLocks noGrp="1"/>
          </p:cNvSpPr>
          <p:nvPr/>
        </p:nvSpPr>
        <p:spPr>
          <a:xfrm>
            <a:off x="666750" y="4133850"/>
            <a:ext cx="333375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409609-4DFF-489C-B70E-80FF7A1A52CA}"/>
              </a:ext>
            </a:extLst>
          </p:cNvPr>
          <p:cNvSpPr>
            <a:spLocks noGrp="1"/>
          </p:cNvSpPr>
          <p:nvPr/>
        </p:nvSpPr>
        <p:spPr>
          <a:xfrm>
            <a:off x="4400550" y="31242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0C9EB"/>
                </a:solidFill>
              </a:defRPr>
            </a:pPr>
            <a:r>
              <a:rPr sz="1350" b="1">
                <a:solidFill>
                  <a:srgbClr val="00C9EB"/>
                </a:solidFill>
              </a:rPr>
              <a:t>/v1/rerank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0EB432-D1F7-48CD-AE6E-6EB855B7D10D}"/>
              </a:ext>
            </a:extLst>
          </p:cNvPr>
          <p:cNvSpPr>
            <a:spLocks noGrp="1"/>
          </p:cNvSpPr>
          <p:nvPr/>
        </p:nvSpPr>
        <p:spPr>
          <a:xfrm>
            <a:off x="4400550" y="3486150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Reorder candidates by relevance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14A37026-DB29-4A8C-8A4D-6CE7BE6C9FC2}"/>
              </a:ext>
            </a:extLst>
          </p:cNvPr>
          <p:cNvSpPr>
            <a:spLocks noGrp="1"/>
          </p:cNvSpPr>
          <p:nvPr/>
        </p:nvSpPr>
        <p:spPr>
          <a:xfrm>
            <a:off x="7877175" y="3124200"/>
            <a:ext cx="9525" cy="876300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BED6202F-024D-45C1-98D9-518DC34F9443}"/>
              </a:ext>
            </a:extLst>
          </p:cNvPr>
          <p:cNvSpPr>
            <a:spLocks noGrp="1"/>
          </p:cNvSpPr>
          <p:nvPr/>
        </p:nvSpPr>
        <p:spPr>
          <a:xfrm>
            <a:off x="4400550" y="4133850"/>
            <a:ext cx="333375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D7DEAB-4AC7-4746-BC78-55121AF6DC11}"/>
              </a:ext>
            </a:extLst>
          </p:cNvPr>
          <p:cNvSpPr>
            <a:spLocks noGrp="1"/>
          </p:cNvSpPr>
          <p:nvPr/>
        </p:nvSpPr>
        <p:spPr>
          <a:xfrm>
            <a:off x="8134350" y="31242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0C9EB"/>
                </a:solidFill>
              </a:defRPr>
            </a:pPr>
            <a:r>
              <a:rPr sz="1350" b="1">
                <a:solidFill>
                  <a:srgbClr val="00C9EB"/>
                </a:solidFill>
              </a:rPr>
              <a:t>/v1/moderations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EF8AEE-BAED-4DF7-BF51-C5BB07AAA1B3}"/>
              </a:ext>
            </a:extLst>
          </p:cNvPr>
          <p:cNvSpPr>
            <a:spLocks noGrp="1"/>
          </p:cNvSpPr>
          <p:nvPr/>
        </p:nvSpPr>
        <p:spPr>
          <a:xfrm>
            <a:off x="8134350" y="3486150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Model-based content safety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1BC4014F-A0DF-4989-BA58-7B479321CF59}"/>
              </a:ext>
            </a:extLst>
          </p:cNvPr>
          <p:cNvSpPr>
            <a:spLocks noGrp="1"/>
          </p:cNvSpPr>
          <p:nvPr/>
        </p:nvSpPr>
        <p:spPr>
          <a:xfrm>
            <a:off x="8134350" y="4133850"/>
            <a:ext cx="333375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37E0A1-CF61-4CF3-BAE4-F07E95735DC9}"/>
              </a:ext>
            </a:extLst>
          </p:cNvPr>
          <p:cNvSpPr>
            <a:spLocks noGrp="1"/>
          </p:cNvSpPr>
          <p:nvPr/>
        </p:nvSpPr>
        <p:spPr>
          <a:xfrm>
            <a:off x="666750" y="43815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0C9EB"/>
                </a:solidFill>
              </a:defRPr>
            </a:pPr>
            <a:r>
              <a:rPr sz="1350" b="1">
                <a:solidFill>
                  <a:srgbClr val="00C9EB"/>
                </a:solidFill>
              </a:rPr>
              <a:t>/v1/messages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F0BE50-9F47-42FF-8790-A6F665F00C4D}"/>
              </a:ext>
            </a:extLst>
          </p:cNvPr>
          <p:cNvSpPr>
            <a:spLocks noGrp="1"/>
          </p:cNvSpPr>
          <p:nvPr/>
        </p:nvSpPr>
        <p:spPr>
          <a:xfrm>
            <a:off x="666750" y="4743450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Anthropic-compatible message contract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94AA74CD-4B7A-443B-B382-5D57228F3E57}"/>
              </a:ext>
            </a:extLst>
          </p:cNvPr>
          <p:cNvSpPr>
            <a:spLocks noGrp="1"/>
          </p:cNvSpPr>
          <p:nvPr/>
        </p:nvSpPr>
        <p:spPr>
          <a:xfrm>
            <a:off x="4143375" y="4381500"/>
            <a:ext cx="9525" cy="876300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F5CE2A-5EE6-49F9-8E7B-9065F3018710}"/>
              </a:ext>
            </a:extLst>
          </p:cNvPr>
          <p:cNvSpPr>
            <a:spLocks noGrp="1"/>
          </p:cNvSpPr>
          <p:nvPr/>
        </p:nvSpPr>
        <p:spPr>
          <a:xfrm>
            <a:off x="4400550" y="43815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0C9EB"/>
                </a:solidFill>
              </a:defRPr>
            </a:pPr>
            <a:r>
              <a:rPr sz="1350" b="1">
                <a:solidFill>
                  <a:srgbClr val="00C9EB"/>
                </a:solidFill>
              </a:rPr>
              <a:t>/v1/audio/transcriptions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D1E54A7-034D-4612-BF45-9988C054A6F1}"/>
              </a:ext>
            </a:extLst>
          </p:cNvPr>
          <p:cNvSpPr>
            <a:spLocks noGrp="1"/>
          </p:cNvSpPr>
          <p:nvPr/>
        </p:nvSpPr>
        <p:spPr>
          <a:xfrm>
            <a:off x="4400550" y="4743450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Speech-to-text workloads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EE584495-E740-4B3A-A9A3-E80308C887A3}"/>
              </a:ext>
            </a:extLst>
          </p:cNvPr>
          <p:cNvSpPr>
            <a:spLocks noGrp="1"/>
          </p:cNvSpPr>
          <p:nvPr/>
        </p:nvSpPr>
        <p:spPr>
          <a:xfrm>
            <a:off x="7877175" y="4381500"/>
            <a:ext cx="9525" cy="876300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29C9336-24A1-4398-8606-5CE52FE3B7BA}"/>
              </a:ext>
            </a:extLst>
          </p:cNvPr>
          <p:cNvSpPr>
            <a:spLocks noGrp="1"/>
          </p:cNvSpPr>
          <p:nvPr/>
        </p:nvSpPr>
        <p:spPr>
          <a:xfrm>
            <a:off x="8134350" y="43815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0C9EB"/>
                </a:solidFill>
              </a:defRPr>
            </a:pPr>
            <a:r>
              <a:rPr sz="1350" b="1">
                <a:solidFill>
                  <a:srgbClr val="00C9EB"/>
                </a:solidFill>
              </a:rPr>
              <a:t>/v1/models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F7904D5-6B56-40B2-899B-4C8B3D0B0A3D}"/>
              </a:ext>
            </a:extLst>
          </p:cNvPr>
          <p:cNvSpPr>
            <a:spLocks noGrp="1"/>
          </p:cNvSpPr>
          <p:nvPr/>
        </p:nvSpPr>
        <p:spPr>
          <a:xfrm>
            <a:off x="8134350" y="4743450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Discover models allowed to the caller</a:t>
            </a:r>
          </a:p>
        </p:txBody>
      </p:sp>
    </p:spTree>
    <p:extLst>
      <p:ext uri="{BB962C8B-B14F-4D97-AF65-F5344CB8AC3E}">
        <p14:creationId xmlns:p14="http://schemas.microsoft.com/office/powerpoint/2010/main" val="833043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rand-rail">
            <a:extLst>
              <a:ext uri="{FF2B5EF4-FFF2-40B4-BE49-F238E27FC236}">
                <a16:creationId xmlns:a16="http://schemas.microsoft.com/office/drawing/2014/main" id="{30D14E91-B342-41A9-B1E8-F00D038738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06BC8942-4CF4-42D5-A435-8B541F88DCDD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KEY ENDPOINTS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3560E384-9161-4A63-B2A5-2C1BA47A48A6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Responses API is the path for agentic apps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1FCC6861-41B8-408B-8023-637DC077F15B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EEE26E-2838-4ED7-9CFC-CF582FBFDF77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401A94-876D-4BD2-9911-89A1F97681F7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07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A9F4A6-A3E9-4454-A487-5547571EDBF0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5810250" cy="3714750"/>
          </a:xfrm>
          <a:prstGeom prst="roundRect">
            <a:avLst>
              <a:gd name="adj" fmla="val 5128"/>
            </a:avLst>
          </a:prstGeom>
          <a:solidFill>
            <a:srgbClr val="04111F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78A092-76C7-4042-9160-4F299BD00BCA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7E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6E6D5F-5B72-4BD6-AC8A-A9D4834E25B9}"/>
              </a:ext>
            </a:extLst>
          </p:cNvPr>
          <p:cNvSpPr>
            <a:spLocks noGrp="1"/>
          </p:cNvSpPr>
          <p:nvPr/>
        </p:nvSpPr>
        <p:spPr>
          <a:xfrm>
            <a:off x="1028700" y="19812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D33111-2F81-4DD0-BF49-D878EECD694F}"/>
              </a:ext>
            </a:extLst>
          </p:cNvPr>
          <p:cNvSpPr>
            <a:spLocks noGrp="1"/>
          </p:cNvSpPr>
          <p:nvPr/>
        </p:nvSpPr>
        <p:spPr>
          <a:xfrm>
            <a:off x="1200150" y="19812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2D5A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1A7C2E-155A-4AAB-9DC4-96CD2534AFDC}"/>
              </a:ext>
            </a:extLst>
          </p:cNvPr>
          <p:cNvSpPr>
            <a:spLocks noGrp="1"/>
          </p:cNvSpPr>
          <p:nvPr/>
        </p:nvSpPr>
        <p:spPr>
          <a:xfrm>
            <a:off x="1466850" y="1924050"/>
            <a:ext cx="4819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8FB5CF"/>
                </a:solidFill>
              </a:defRPr>
            </a:pPr>
            <a:r>
              <a:rPr sz="1050" b="1">
                <a:solidFill>
                  <a:srgbClr val="8FB5CF"/>
                </a:solidFill>
              </a:rPr>
              <a:t>POST /v1/responses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9A111E9A-944B-4FD5-975B-AB8CDC5A6831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542925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592F52-9085-44C4-8715-D19BD69F765F}"/>
              </a:ext>
            </a:extLst>
          </p:cNvPr>
          <p:cNvSpPr>
            <a:spLocks noGrp="1"/>
          </p:cNvSpPr>
          <p:nvPr/>
        </p:nvSpPr>
        <p:spPr>
          <a:xfrm>
            <a:off x="895350" y="2343150"/>
            <a:ext cx="535305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{</a:t>
            </a:r>
          </a:p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  "model": "support-smart",</a:t>
            </a:r>
          </a:p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  "instructions": "Be concise and factual.",</a:t>
            </a:r>
          </a:p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  "input": "Resolve this customer issue.",</a:t>
            </a:r>
          </a:p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  "tools": [{ "type": "function", ... }],</a:t>
            </a:r>
          </a:p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  "max_output_tokens": 400,</a:t>
            </a:r>
          </a:p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  "stream": true</a:t>
            </a:r>
          </a:p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13EB95-BF0B-4C55-8DC3-721643C09CB4}"/>
              </a:ext>
            </a:extLst>
          </p:cNvPr>
          <p:cNvSpPr>
            <a:spLocks noGrp="1"/>
          </p:cNvSpPr>
          <p:nvPr/>
        </p:nvSpPr>
        <p:spPr>
          <a:xfrm>
            <a:off x="7124700" y="200025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0C9EB"/>
                </a:solidFill>
              </a:defRPr>
            </a:pPr>
            <a:r>
              <a:rPr sz="2550" b="1">
                <a:solidFill>
                  <a:srgbClr val="00C9EB"/>
                </a:solidFill>
              </a:rPr>
              <a:t>input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482986-2CB1-498D-A534-C131E7F7F645}"/>
              </a:ext>
            </a:extLst>
          </p:cNvPr>
          <p:cNvSpPr>
            <a:spLocks noGrp="1"/>
          </p:cNvSpPr>
          <p:nvPr/>
        </p:nvSpPr>
        <p:spPr>
          <a:xfrm>
            <a:off x="7124700" y="2457450"/>
            <a:ext cx="3905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8FB5CF"/>
                </a:solidFill>
              </a:defRPr>
            </a:pPr>
            <a:r>
              <a:rPr sz="1200" b="0">
                <a:solidFill>
                  <a:srgbClr val="8FB5CF"/>
                </a:solidFill>
              </a:rPr>
              <a:t>Text, files, images, or structured content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119748-E98A-4B0D-A7CA-B0AE31A7B135}"/>
              </a:ext>
            </a:extLst>
          </p:cNvPr>
          <p:cNvSpPr>
            <a:spLocks noGrp="1"/>
          </p:cNvSpPr>
          <p:nvPr/>
        </p:nvSpPr>
        <p:spPr>
          <a:xfrm>
            <a:off x="7124700" y="316230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9A8CFF"/>
                </a:solidFill>
              </a:defRPr>
            </a:pPr>
            <a:r>
              <a:rPr sz="2550" b="1">
                <a:solidFill>
                  <a:srgbClr val="9A8CFF"/>
                </a:solidFill>
              </a:rPr>
              <a:t>tools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E550E7-D8BF-4ED8-985B-20989E58C858}"/>
              </a:ext>
            </a:extLst>
          </p:cNvPr>
          <p:cNvSpPr>
            <a:spLocks noGrp="1"/>
          </p:cNvSpPr>
          <p:nvPr/>
        </p:nvSpPr>
        <p:spPr>
          <a:xfrm>
            <a:off x="7124700" y="3619500"/>
            <a:ext cx="3905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8FB5CF"/>
                </a:solidFill>
              </a:defRPr>
            </a:pPr>
            <a:r>
              <a:rPr sz="1200" b="0">
                <a:solidFill>
                  <a:srgbClr val="8FB5CF"/>
                </a:solidFill>
              </a:rPr>
              <a:t>Functions and agent actions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F45339-9332-4D02-A5C0-C16EF45A7C79}"/>
              </a:ext>
            </a:extLst>
          </p:cNvPr>
          <p:cNvSpPr>
            <a:spLocks noGrp="1"/>
          </p:cNvSpPr>
          <p:nvPr/>
        </p:nvSpPr>
        <p:spPr>
          <a:xfrm>
            <a:off x="7124700" y="432435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42D5A4"/>
                </a:solidFill>
              </a:defRPr>
            </a:pPr>
            <a:r>
              <a:rPr sz="2550" b="1">
                <a:solidFill>
                  <a:srgbClr val="42D5A4"/>
                </a:solidFill>
              </a:rPr>
              <a:t>output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8F5159-AAE9-4CEE-BB1B-307BCB54078F}"/>
              </a:ext>
            </a:extLst>
          </p:cNvPr>
          <p:cNvSpPr>
            <a:spLocks noGrp="1"/>
          </p:cNvSpPr>
          <p:nvPr/>
        </p:nvSpPr>
        <p:spPr>
          <a:xfrm>
            <a:off x="7124700" y="4781550"/>
            <a:ext cx="3905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8FB5CF"/>
                </a:solidFill>
              </a:defRPr>
            </a:pPr>
            <a:r>
              <a:rPr sz="1200" b="0">
                <a:solidFill>
                  <a:srgbClr val="8FB5CF"/>
                </a:solidFill>
              </a:rPr>
              <a:t>Typed response items and usage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B66ED7-A1D9-4E3A-9703-B3840796696D}"/>
              </a:ext>
            </a:extLst>
          </p:cNvPr>
          <p:cNvSpPr>
            <a:spLocks noGrp="1"/>
          </p:cNvSpPr>
          <p:nvPr/>
        </p:nvSpPr>
        <p:spPr>
          <a:xfrm>
            <a:off x="7124700" y="54673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8FB5CF"/>
                </a:solidFill>
              </a:defRPr>
            </a:pPr>
            <a:r>
              <a:rPr sz="1275" b="0">
                <a:solidFill>
                  <a:srgbClr val="8FB5CF"/>
                </a:solidFill>
              </a:rPr>
              <a:t>Use `max_output_tokens` for the output ceiling.</a:t>
            </a:r>
          </a:p>
        </p:txBody>
      </p:sp>
    </p:spTree>
    <p:extLst>
      <p:ext uri="{BB962C8B-B14F-4D97-AF65-F5344CB8AC3E}">
        <p14:creationId xmlns:p14="http://schemas.microsoft.com/office/powerpoint/2010/main" val="110234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rand-rail">
            <a:extLst>
              <a:ext uri="{FF2B5EF4-FFF2-40B4-BE49-F238E27FC236}">
                <a16:creationId xmlns:a16="http://schemas.microsoft.com/office/drawing/2014/main" id="{43062D8C-28E9-4D8F-A716-7495A0E2FF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DBF4D8E9-E182-4D3A-A1EE-E00EE17ABFDE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BCE1"/>
                </a:solidFill>
              </a:defRPr>
            </a:pPr>
            <a:r>
              <a:rPr sz="1050" b="1">
                <a:solidFill>
                  <a:srgbClr val="00BCE1"/>
                </a:solidFill>
              </a:rPr>
              <a:t>KEY ENDPOINTS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CCEE7A71-808B-4F00-94DC-A577A7C28395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8233E"/>
                </a:solidFill>
              </a:defRPr>
            </a:pPr>
            <a:r>
              <a:rPr sz="2700" b="1">
                <a:solidFill>
                  <a:srgbClr val="08233E"/>
                </a:solidFill>
              </a:rPr>
              <a:t>Chat Completions stays ideal for conversation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40A37532-E0BE-4552-A29D-765206B7E344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F6669D-86EA-4E05-9393-2B9A01B33AF5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30C17A-53E6-4EB3-80CC-5516D1D4CFB7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08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72371D-A86C-4D79-8BC0-7784106E515C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5810250" cy="3790950"/>
          </a:xfrm>
          <a:prstGeom prst="roundRect">
            <a:avLst>
              <a:gd name="adj" fmla="val 5025"/>
            </a:avLst>
          </a:prstGeom>
          <a:solidFill>
            <a:srgbClr val="E5F1F8"/>
          </a:solidFill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91BD03-0D64-4BA1-8BB2-3DB7594CC66F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7E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DD9BC0-4570-45C7-8F9F-7EDF441713A5}"/>
              </a:ext>
            </a:extLst>
          </p:cNvPr>
          <p:cNvSpPr>
            <a:spLocks noGrp="1"/>
          </p:cNvSpPr>
          <p:nvPr/>
        </p:nvSpPr>
        <p:spPr>
          <a:xfrm>
            <a:off x="1028700" y="19812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54B43D2-2B29-48A6-A5C5-DA125BB50B99}"/>
              </a:ext>
            </a:extLst>
          </p:cNvPr>
          <p:cNvSpPr>
            <a:spLocks noGrp="1"/>
          </p:cNvSpPr>
          <p:nvPr/>
        </p:nvSpPr>
        <p:spPr>
          <a:xfrm>
            <a:off x="1200150" y="19812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2D5A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3BC660-68FB-4E42-A8B6-2B23E1B15FB5}"/>
              </a:ext>
            </a:extLst>
          </p:cNvPr>
          <p:cNvSpPr>
            <a:spLocks noGrp="1"/>
          </p:cNvSpPr>
          <p:nvPr/>
        </p:nvSpPr>
        <p:spPr>
          <a:xfrm>
            <a:off x="1466850" y="1924050"/>
            <a:ext cx="4819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E7189"/>
                </a:solidFill>
              </a:defRPr>
            </a:pPr>
            <a:r>
              <a:rPr sz="1050" b="1">
                <a:solidFill>
                  <a:srgbClr val="4E7189"/>
                </a:solidFill>
              </a:rPr>
              <a:t>POST /v1/chat/completions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D7D5ECCC-B262-459E-A9C1-BF2E46310241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5429250" cy="9525"/>
          </a:xfrm>
          <a:prstGeom prst="line">
            <a:avLst/>
          </a:prstGeom>
          <a:noFill/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15B0F4-769C-403F-A8D5-B13A515248D3}"/>
              </a:ext>
            </a:extLst>
          </p:cNvPr>
          <p:cNvSpPr>
            <a:spLocks noGrp="1"/>
          </p:cNvSpPr>
          <p:nvPr/>
        </p:nvSpPr>
        <p:spPr>
          <a:xfrm>
            <a:off x="895350" y="2343150"/>
            <a:ext cx="5353050" cy="3105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{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  "model": "chat-stable",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  "messages": [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    { "role": "system", "content": "..." },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    { "role": "user", "content": "..." }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  ],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  "response_format": { "type": "json_schema" },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  "stream": true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CE7C10-743E-4DD1-9673-248C68FB6548}"/>
              </a:ext>
            </a:extLst>
          </p:cNvPr>
          <p:cNvSpPr>
            <a:spLocks noGrp="1"/>
          </p:cNvSpPr>
          <p:nvPr/>
        </p:nvSpPr>
        <p:spPr>
          <a:xfrm>
            <a:off x="723900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8233E"/>
                </a:solidFill>
              </a:defRPr>
            </a:pPr>
            <a:r>
              <a:rPr sz="1800" b="1">
                <a:solidFill>
                  <a:srgbClr val="08233E"/>
                </a:solidFill>
              </a:rPr>
              <a:t>Best fit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1C18BE4-BBF2-4EA9-9337-001B94FA8228}"/>
              </a:ext>
            </a:extLst>
          </p:cNvPr>
          <p:cNvSpPr>
            <a:spLocks noGrp="1"/>
          </p:cNvSpPr>
          <p:nvPr/>
        </p:nvSpPr>
        <p:spPr>
          <a:xfrm>
            <a:off x="7239000" y="2524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B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DD3E30-EFD9-4640-A747-ADD4EFE96139}"/>
              </a:ext>
            </a:extLst>
          </p:cNvPr>
          <p:cNvSpPr>
            <a:spLocks noGrp="1"/>
          </p:cNvSpPr>
          <p:nvPr/>
        </p:nvSpPr>
        <p:spPr>
          <a:xfrm>
            <a:off x="7467600" y="2457450"/>
            <a:ext cx="3390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8233E"/>
                </a:solidFill>
              </a:defRPr>
            </a:pPr>
            <a:r>
              <a:rPr sz="1350" b="0">
                <a:solidFill>
                  <a:srgbClr val="08233E"/>
                </a:solidFill>
              </a:rPr>
              <a:t>Multi-turn chat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70BD58-9D8F-48FE-9BFD-8E9ED29C1E9C}"/>
              </a:ext>
            </a:extLst>
          </p:cNvPr>
          <p:cNvSpPr>
            <a:spLocks noGrp="1"/>
          </p:cNvSpPr>
          <p:nvPr/>
        </p:nvSpPr>
        <p:spPr>
          <a:xfrm>
            <a:off x="7239000" y="3038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B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F5E1A2-DB9F-41EC-AE76-4B95224E2612}"/>
              </a:ext>
            </a:extLst>
          </p:cNvPr>
          <p:cNvSpPr>
            <a:spLocks noGrp="1"/>
          </p:cNvSpPr>
          <p:nvPr/>
        </p:nvSpPr>
        <p:spPr>
          <a:xfrm>
            <a:off x="7467600" y="2971800"/>
            <a:ext cx="3390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8233E"/>
                </a:solidFill>
              </a:defRPr>
            </a:pPr>
            <a:r>
              <a:rPr sz="1350" b="0">
                <a:solidFill>
                  <a:srgbClr val="08233E"/>
                </a:solidFill>
              </a:rPr>
              <a:t>Structured output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4B75A98-B532-48F2-8FCE-80B114D9C78B}"/>
              </a:ext>
            </a:extLst>
          </p:cNvPr>
          <p:cNvSpPr>
            <a:spLocks noGrp="1"/>
          </p:cNvSpPr>
          <p:nvPr/>
        </p:nvSpPr>
        <p:spPr>
          <a:xfrm>
            <a:off x="7239000" y="3552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B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7A5A9A-3F73-493A-8EE3-DB69EFB800B8}"/>
              </a:ext>
            </a:extLst>
          </p:cNvPr>
          <p:cNvSpPr>
            <a:spLocks noGrp="1"/>
          </p:cNvSpPr>
          <p:nvPr/>
        </p:nvSpPr>
        <p:spPr>
          <a:xfrm>
            <a:off x="7467600" y="3486150"/>
            <a:ext cx="3390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8233E"/>
                </a:solidFill>
              </a:defRPr>
            </a:pPr>
            <a:r>
              <a:rPr sz="1350" b="0">
                <a:solidFill>
                  <a:srgbClr val="08233E"/>
                </a:solidFill>
              </a:rPr>
              <a:t>Tool calling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8619F89-91CF-47C0-A167-FDBD6A48763A}"/>
              </a:ext>
            </a:extLst>
          </p:cNvPr>
          <p:cNvSpPr>
            <a:spLocks noGrp="1"/>
          </p:cNvSpPr>
          <p:nvPr/>
        </p:nvSpPr>
        <p:spPr>
          <a:xfrm>
            <a:off x="7239000" y="40671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B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F7C1EC-0FF2-41A6-9AA6-AD64D1252F79}"/>
              </a:ext>
            </a:extLst>
          </p:cNvPr>
          <p:cNvSpPr>
            <a:spLocks noGrp="1"/>
          </p:cNvSpPr>
          <p:nvPr/>
        </p:nvSpPr>
        <p:spPr>
          <a:xfrm>
            <a:off x="7467600" y="4000500"/>
            <a:ext cx="3390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8233E"/>
                </a:solidFill>
              </a:defRPr>
            </a:pPr>
            <a:r>
              <a:rPr sz="1350" b="0">
                <a:solidFill>
                  <a:srgbClr val="08233E"/>
                </a:solidFill>
              </a:rPr>
              <a:t>Streaming interfaces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B963343-10A3-4D32-85C6-A2736980A845}"/>
              </a:ext>
            </a:extLst>
          </p:cNvPr>
          <p:cNvSpPr>
            <a:spLocks noGrp="1"/>
          </p:cNvSpPr>
          <p:nvPr/>
        </p:nvSpPr>
        <p:spPr>
          <a:xfrm>
            <a:off x="7239000" y="4819650"/>
            <a:ext cx="3714750" cy="762000"/>
          </a:xfrm>
          <a:prstGeom prst="roundRect">
            <a:avLst>
              <a:gd name="adj" fmla="val 20000"/>
            </a:avLst>
          </a:prstGeom>
          <a:solidFill>
            <a:srgbClr val="E5F1F8"/>
          </a:solidFill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148FCD-A859-4235-B575-B8ACF156FB4D}"/>
              </a:ext>
            </a:extLst>
          </p:cNvPr>
          <p:cNvSpPr>
            <a:spLocks noGrp="1"/>
          </p:cNvSpPr>
          <p:nvPr/>
        </p:nvSpPr>
        <p:spPr>
          <a:xfrm>
            <a:off x="7448550" y="4972050"/>
            <a:ext cx="3295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4E7189"/>
                </a:solidFill>
              </a:defRPr>
            </a:pPr>
            <a:r>
              <a:rPr sz="1200" b="1">
                <a:solidFill>
                  <a:srgbClr val="4E7189"/>
                </a:solidFill>
              </a:rPr>
              <a:t>Legacy `/v1/completions` can remain for compatibility; prefer Responses or Chat Completions for new work.</a:t>
            </a:r>
          </a:p>
        </p:txBody>
      </p:sp>
    </p:spTree>
    <p:extLst>
      <p:ext uri="{BB962C8B-B14F-4D97-AF65-F5344CB8AC3E}">
        <p14:creationId xmlns:p14="http://schemas.microsoft.com/office/powerpoint/2010/main" val="1155906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rand-rail">
            <a:extLst>
              <a:ext uri="{FF2B5EF4-FFF2-40B4-BE49-F238E27FC236}">
                <a16:creationId xmlns:a16="http://schemas.microsoft.com/office/drawing/2014/main" id="{774F6D1F-31C2-48A9-9A14-5B06DD1609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2733C429-8298-4B69-A109-CB04C8E313C0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KEY ENDPOINTS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429B2994-24D2-4758-8F0E-BA9B80842DE5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Data and media share the same policy layer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54943B59-589B-4EC9-8F14-CC5F1D71BC8F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36777F-BC19-4C28-AE85-EA5A73CDA855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119FE-E439-49D3-9DF5-09D9397E24FD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A9D8FF-7BAC-4916-B8A8-741226AB5470}"/>
              </a:ext>
            </a:extLst>
          </p:cNvPr>
          <p:cNvSpPr>
            <a:spLocks noGrp="1"/>
          </p:cNvSpPr>
          <p:nvPr/>
        </p:nvSpPr>
        <p:spPr>
          <a:xfrm>
            <a:off x="666750" y="1962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EMBED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63B0CB-C870-4B62-9EFC-02AE01974C8C}"/>
              </a:ext>
            </a:extLst>
          </p:cNvPr>
          <p:cNvSpPr>
            <a:spLocks noGrp="1"/>
          </p:cNvSpPr>
          <p:nvPr/>
        </p:nvSpPr>
        <p:spPr>
          <a:xfrm>
            <a:off x="2190750" y="19431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6FBFF"/>
                </a:solidFill>
              </a:defRPr>
            </a:pPr>
            <a:r>
              <a:rPr sz="1575" b="1">
                <a:solidFill>
                  <a:srgbClr val="F6FBFF"/>
                </a:solidFill>
              </a:rPr>
              <a:t>/v1/embeddings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5167C9-E5BA-48E1-BC40-8D9B5E223A6C}"/>
              </a:ext>
            </a:extLst>
          </p:cNvPr>
          <p:cNvSpPr>
            <a:spLocks noGrp="1"/>
          </p:cNvSpPr>
          <p:nvPr/>
        </p:nvSpPr>
        <p:spPr>
          <a:xfrm>
            <a:off x="6610350" y="19621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8FB5CF"/>
                </a:solidFill>
              </a:defRPr>
            </a:pPr>
            <a:r>
              <a:rPr sz="1275" b="0">
                <a:solidFill>
                  <a:srgbClr val="8FB5CF"/>
                </a:solidFill>
              </a:rPr>
              <a:t>search • RAG • clustering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B83AD70-54D6-48BE-9399-25E18187E7A6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9906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C6D9DD-6F01-4600-881F-1C27AF7CDE27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9A8CFF"/>
                </a:solidFill>
              </a:defRPr>
            </a:pPr>
            <a:r>
              <a:rPr sz="1050" b="1">
                <a:solidFill>
                  <a:srgbClr val="9A8CFF"/>
                </a:solidFill>
              </a:rPr>
              <a:t>RERANK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5A66C0-725A-48F9-ACDD-97EE2B742C1C}"/>
              </a:ext>
            </a:extLst>
          </p:cNvPr>
          <p:cNvSpPr>
            <a:spLocks noGrp="1"/>
          </p:cNvSpPr>
          <p:nvPr/>
        </p:nvSpPr>
        <p:spPr>
          <a:xfrm>
            <a:off x="2190750" y="28384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6FBFF"/>
                </a:solidFill>
              </a:defRPr>
            </a:pPr>
            <a:r>
              <a:rPr sz="1575" b="1">
                <a:solidFill>
                  <a:srgbClr val="F6FBFF"/>
                </a:solidFill>
              </a:rPr>
              <a:t>/v1/rerank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9FB964-1740-417A-B13E-C28677AB000C}"/>
              </a:ext>
            </a:extLst>
          </p:cNvPr>
          <p:cNvSpPr>
            <a:spLocks noGrp="1"/>
          </p:cNvSpPr>
          <p:nvPr/>
        </p:nvSpPr>
        <p:spPr>
          <a:xfrm>
            <a:off x="6610350" y="28575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8FB5CF"/>
                </a:solidFill>
              </a:defRPr>
            </a:pPr>
            <a:r>
              <a:rPr sz="1275" b="0">
                <a:solidFill>
                  <a:srgbClr val="8FB5CF"/>
                </a:solidFill>
              </a:rPr>
              <a:t>relevance • ordering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B8F75320-73E6-41A8-8526-95398D58E406}"/>
              </a:ext>
            </a:extLst>
          </p:cNvPr>
          <p:cNvSpPr>
            <a:spLocks noGrp="1"/>
          </p:cNvSpPr>
          <p:nvPr/>
        </p:nvSpPr>
        <p:spPr>
          <a:xfrm>
            <a:off x="666750" y="3352800"/>
            <a:ext cx="9906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5A050F-3E08-4068-8325-EE262606746A}"/>
              </a:ext>
            </a:extLst>
          </p:cNvPr>
          <p:cNvSpPr>
            <a:spLocks noGrp="1"/>
          </p:cNvSpPr>
          <p:nvPr/>
        </p:nvSpPr>
        <p:spPr>
          <a:xfrm>
            <a:off x="666750" y="3752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2D5A4"/>
                </a:solidFill>
              </a:defRPr>
            </a:pPr>
            <a:r>
              <a:rPr sz="1050" b="1">
                <a:solidFill>
                  <a:srgbClr val="42D5A4"/>
                </a:solidFill>
              </a:rPr>
              <a:t>MODERATE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F90B08-112D-4A7F-AD1A-ED5071262CB9}"/>
              </a:ext>
            </a:extLst>
          </p:cNvPr>
          <p:cNvSpPr>
            <a:spLocks noGrp="1"/>
          </p:cNvSpPr>
          <p:nvPr/>
        </p:nvSpPr>
        <p:spPr>
          <a:xfrm>
            <a:off x="2190750" y="37338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6FBFF"/>
                </a:solidFill>
              </a:defRPr>
            </a:pPr>
            <a:r>
              <a:rPr sz="1575" b="1">
                <a:solidFill>
                  <a:srgbClr val="F6FBFF"/>
                </a:solidFill>
              </a:rPr>
              <a:t>/v1/moderations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1EC104-5051-43D2-BD36-B440DBA9C852}"/>
              </a:ext>
            </a:extLst>
          </p:cNvPr>
          <p:cNvSpPr>
            <a:spLocks noGrp="1"/>
          </p:cNvSpPr>
          <p:nvPr/>
        </p:nvSpPr>
        <p:spPr>
          <a:xfrm>
            <a:off x="6610350" y="37528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8FB5CF"/>
                </a:solidFill>
              </a:defRPr>
            </a:pPr>
            <a:r>
              <a:rPr sz="1275" b="0">
                <a:solidFill>
                  <a:srgbClr val="8FB5CF"/>
                </a:solidFill>
              </a:rPr>
              <a:t>content policy signal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52BE55A0-354C-4EC7-821C-FCE2CC6166EE}"/>
              </a:ext>
            </a:extLst>
          </p:cNvPr>
          <p:cNvSpPr>
            <a:spLocks noGrp="1"/>
          </p:cNvSpPr>
          <p:nvPr/>
        </p:nvSpPr>
        <p:spPr>
          <a:xfrm>
            <a:off x="666750" y="4248150"/>
            <a:ext cx="9906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CF62A2-FB60-44E2-886E-1A9D2EB5F62C}"/>
              </a:ext>
            </a:extLst>
          </p:cNvPr>
          <p:cNvSpPr>
            <a:spLocks noGrp="1"/>
          </p:cNvSpPr>
          <p:nvPr/>
        </p:nvSpPr>
        <p:spPr>
          <a:xfrm>
            <a:off x="666750" y="46482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FC857"/>
                </a:solidFill>
              </a:defRPr>
            </a:pPr>
            <a:r>
              <a:rPr sz="1050" b="1">
                <a:solidFill>
                  <a:srgbClr val="FFC857"/>
                </a:solidFill>
              </a:rPr>
              <a:t>TRANSCRIBE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7E484C-9E31-4542-A858-45FE3471A55F}"/>
              </a:ext>
            </a:extLst>
          </p:cNvPr>
          <p:cNvSpPr>
            <a:spLocks noGrp="1"/>
          </p:cNvSpPr>
          <p:nvPr/>
        </p:nvSpPr>
        <p:spPr>
          <a:xfrm>
            <a:off x="2190750" y="4629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6FBFF"/>
                </a:solidFill>
              </a:defRPr>
            </a:pPr>
            <a:r>
              <a:rPr sz="1575" b="1">
                <a:solidFill>
                  <a:srgbClr val="F6FBFF"/>
                </a:solidFill>
              </a:rPr>
              <a:t>/v1/audio/transcriptions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6CDDE0-9DC8-4D91-A04E-A384F40EA3FC}"/>
              </a:ext>
            </a:extLst>
          </p:cNvPr>
          <p:cNvSpPr>
            <a:spLocks noGrp="1"/>
          </p:cNvSpPr>
          <p:nvPr/>
        </p:nvSpPr>
        <p:spPr>
          <a:xfrm>
            <a:off x="6610350" y="46482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8FB5CF"/>
                </a:solidFill>
              </a:defRPr>
            </a:pPr>
            <a:r>
              <a:rPr sz="1275" b="0">
                <a:solidFill>
                  <a:srgbClr val="8FB5CF"/>
                </a:solidFill>
              </a:rPr>
              <a:t>speech → text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10866751-328A-46C2-B8B5-6342EB8F2BD9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9906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E957F6D-FE28-47D9-AAB9-E6397BFE0F23}"/>
              </a:ext>
            </a:extLst>
          </p:cNvPr>
          <p:cNvSpPr>
            <a:spLocks noGrp="1"/>
          </p:cNvSpPr>
          <p:nvPr/>
        </p:nvSpPr>
        <p:spPr>
          <a:xfrm>
            <a:off x="1714500" y="5600700"/>
            <a:ext cx="104775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AUTH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EAA60AA-17AC-4EBF-BBB2-0C63E4C3051E}"/>
              </a:ext>
            </a:extLst>
          </p:cNvPr>
          <p:cNvSpPr>
            <a:spLocks noGrp="1"/>
          </p:cNvSpPr>
          <p:nvPr/>
        </p:nvSpPr>
        <p:spPr>
          <a:xfrm>
            <a:off x="2952750" y="5600700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BUDGET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17AC522-7C87-4F2B-9F57-59831D84CBEB}"/>
              </a:ext>
            </a:extLst>
          </p:cNvPr>
          <p:cNvSpPr>
            <a:spLocks noGrp="1"/>
          </p:cNvSpPr>
          <p:nvPr/>
        </p:nvSpPr>
        <p:spPr>
          <a:xfrm>
            <a:off x="4286250" y="560070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GUARDRAILS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CD80C01-AF41-43C8-B451-740B550A225D}"/>
              </a:ext>
            </a:extLst>
          </p:cNvPr>
          <p:cNvSpPr>
            <a:spLocks noGrp="1"/>
          </p:cNvSpPr>
          <p:nvPr/>
        </p:nvSpPr>
        <p:spPr>
          <a:xfrm>
            <a:off x="5905500" y="560070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LOGS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A2FF855-6A59-411D-8662-8BAC5DF51328}"/>
              </a:ext>
            </a:extLst>
          </p:cNvPr>
          <p:cNvSpPr>
            <a:spLocks noGrp="1"/>
          </p:cNvSpPr>
          <p:nvPr/>
        </p:nvSpPr>
        <p:spPr>
          <a:xfrm>
            <a:off x="7048500" y="5600700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BILLING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011BE3F-FAAD-4F6E-862C-8341C7AFF03B}"/>
              </a:ext>
            </a:extLst>
          </p:cNvPr>
          <p:cNvSpPr>
            <a:spLocks noGrp="1"/>
          </p:cNvSpPr>
          <p:nvPr/>
        </p:nvSpPr>
        <p:spPr>
          <a:xfrm>
            <a:off x="8382000" y="5600700"/>
            <a:ext cx="104775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TRACE</a:t>
            </a:r>
          </a:p>
        </p:txBody>
      </p:sp>
    </p:spTree>
    <p:extLst>
      <p:ext uri="{BB962C8B-B14F-4D97-AF65-F5344CB8AC3E}">
        <p14:creationId xmlns:p14="http://schemas.microsoft.com/office/powerpoint/2010/main" val="1317563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rand-rail">
            <a:extLst>
              <a:ext uri="{FF2B5EF4-FFF2-40B4-BE49-F238E27FC236}">
                <a16:creationId xmlns:a16="http://schemas.microsoft.com/office/drawing/2014/main" id="{31D857C0-122C-4B65-A063-967FB069D7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1F661B03-9BDE-4D8A-AA3C-BFF09F639D45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BCE1"/>
                </a:solidFill>
              </a:defRPr>
            </a:pPr>
            <a:r>
              <a:rPr sz="1050" b="1">
                <a:solidFill>
                  <a:srgbClr val="00BCE1"/>
                </a:solidFill>
              </a:rPr>
              <a:t>BRING YOUR OWN KEY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48BD749-A64A-4AC6-B39D-159F3E225393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8233E"/>
                </a:solidFill>
              </a:defRPr>
            </a:pPr>
            <a:r>
              <a:rPr sz="2700" b="1">
                <a:solidFill>
                  <a:srgbClr val="08233E"/>
                </a:solidFill>
              </a:rPr>
              <a:t>BYOK separates access from credential ownership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D8D9035A-8B1C-4F98-A965-EDE29B667044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8490A5-981F-4F22-9CC1-B94DE550B111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684478-1F95-4331-BB69-7155F14D93DC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BAD6DD-D97B-4314-A67A-6C4374A3D0F5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E7189"/>
                </a:solidFill>
              </a:defRPr>
            </a:pPr>
            <a:r>
              <a:rPr sz="1050" b="1">
                <a:solidFill>
                  <a:srgbClr val="4E7189"/>
                </a:solidFill>
              </a:rPr>
              <a:t>APPLICATION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24C6C18-EAE0-49FB-A5AB-17A12532887A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2095500" cy="876300"/>
          </a:xfrm>
          <a:prstGeom prst="roundRect">
            <a:avLst>
              <a:gd name="adj" fmla="val 19565"/>
            </a:avLst>
          </a:prstGeom>
          <a:solidFill>
            <a:srgbClr val="012651"/>
          </a:solidFill>
          <a:ln w="9525">
            <a:solidFill>
              <a:srgbClr val="012651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PAT / VAT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2E95C42-C43D-4F21-81E7-C9804BEAA76E}"/>
              </a:ext>
            </a:extLst>
          </p:cNvPr>
          <p:cNvSpPr>
            <a:spLocks noGrp="1"/>
          </p:cNvSpPr>
          <p:nvPr/>
        </p:nvSpPr>
        <p:spPr>
          <a:xfrm>
            <a:off x="2819400" y="2781300"/>
            <a:ext cx="1905000" cy="9525"/>
          </a:xfrm>
          <a:prstGeom prst="line">
            <a:avLst/>
          </a:prstGeom>
          <a:noFill/>
          <a:ln w="3810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2CCC54-0946-415C-9E9F-628C64F1CF95}"/>
              </a:ext>
            </a:extLst>
          </p:cNvPr>
          <p:cNvSpPr>
            <a:spLocks noGrp="1"/>
          </p:cNvSpPr>
          <p:nvPr/>
        </p:nvSpPr>
        <p:spPr>
          <a:xfrm>
            <a:off x="4857750" y="19621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E7189"/>
                </a:solidFill>
              </a:defRPr>
            </a:pPr>
            <a:r>
              <a:rPr sz="1050" b="1">
                <a:solidFill>
                  <a:srgbClr val="4E7189"/>
                </a:solidFill>
              </a:rPr>
              <a:t>GATEWAY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D18F863-8CAF-4162-B0FF-222E5BE9E21E}"/>
              </a:ext>
            </a:extLst>
          </p:cNvPr>
          <p:cNvSpPr>
            <a:spLocks noGrp="1"/>
          </p:cNvSpPr>
          <p:nvPr/>
        </p:nvSpPr>
        <p:spPr>
          <a:xfrm>
            <a:off x="4857750" y="2247900"/>
            <a:ext cx="2381250" cy="1276350"/>
          </a:xfrm>
          <a:prstGeom prst="roundRect">
            <a:avLst>
              <a:gd name="adj" fmla="val 13433"/>
            </a:avLst>
          </a:prstGeom>
          <a:solidFill>
            <a:srgbClr val="D8EDF8"/>
          </a:solidFill>
          <a:ln w="9525">
            <a:solidFill>
              <a:srgbClr val="00BCE1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8233E"/>
                </a:solidFill>
              </a:defRPr>
            </a:pPr>
            <a:r>
              <a:rPr sz="1500" b="1">
                <a:solidFill>
                  <a:srgbClr val="08233E"/>
                </a:solidFill>
              </a:rPr>
              <a:t>Authenticate</a:t>
            </a:r>
          </a:p>
          <a:p>
            <a:pPr algn="ctr">
              <a:defRPr sz="1500" b="1">
                <a:solidFill>
                  <a:srgbClr val="08233E"/>
                </a:solidFill>
              </a:defRPr>
            </a:pPr>
            <a:r>
              <a:rPr sz="1500" b="1">
                <a:solidFill>
                  <a:srgbClr val="08233E"/>
                </a:solidFill>
              </a:rPr>
              <a:t>Authorize</a:t>
            </a:r>
          </a:p>
          <a:p>
            <a:pPr algn="ctr">
              <a:defRPr sz="1500" b="1">
                <a:solidFill>
                  <a:srgbClr val="08233E"/>
                </a:solidFill>
              </a:defRPr>
            </a:pPr>
            <a:r>
              <a:rPr sz="1500" b="1">
                <a:solidFill>
                  <a:srgbClr val="08233E"/>
                </a:solidFill>
              </a:rPr>
              <a:t>Route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54708D9F-DCB6-4CEB-9A37-B8A0965E76E8}"/>
              </a:ext>
            </a:extLst>
          </p:cNvPr>
          <p:cNvSpPr>
            <a:spLocks noGrp="1"/>
          </p:cNvSpPr>
          <p:nvPr/>
        </p:nvSpPr>
        <p:spPr>
          <a:xfrm>
            <a:off x="7239000" y="2781300"/>
            <a:ext cx="1809750" cy="9525"/>
          </a:xfrm>
          <a:prstGeom prst="line">
            <a:avLst/>
          </a:prstGeom>
          <a:noFill/>
          <a:ln w="3810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86807E-5944-4DA4-AA88-266B82D81300}"/>
              </a:ext>
            </a:extLst>
          </p:cNvPr>
          <p:cNvSpPr>
            <a:spLocks noGrp="1"/>
          </p:cNvSpPr>
          <p:nvPr/>
        </p:nvSpPr>
        <p:spPr>
          <a:xfrm>
            <a:off x="9182100" y="19621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E7189"/>
                </a:solidFill>
              </a:defRPr>
            </a:pPr>
            <a:r>
              <a:rPr sz="1050" b="1">
                <a:solidFill>
                  <a:srgbClr val="4E7189"/>
                </a:solidFill>
              </a:rPr>
              <a:t>UPSTREAM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5ED5BF2-4B58-4F60-BD8E-465E4047FB52}"/>
              </a:ext>
            </a:extLst>
          </p:cNvPr>
          <p:cNvSpPr>
            <a:spLocks noGrp="1"/>
          </p:cNvSpPr>
          <p:nvPr/>
        </p:nvSpPr>
        <p:spPr>
          <a:xfrm>
            <a:off x="9182100" y="2247900"/>
            <a:ext cx="2095500" cy="1276350"/>
          </a:xfrm>
          <a:prstGeom prst="roundRect">
            <a:avLst>
              <a:gd name="adj" fmla="val 13433"/>
            </a:avLst>
          </a:prstGeom>
          <a:solidFill>
            <a:srgbClr val="012651"/>
          </a:solidFill>
          <a:ln w="9525">
            <a:solidFill>
              <a:srgbClr val="012651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6FBFF"/>
                </a:solidFill>
              </a:defRPr>
            </a:pPr>
            <a:r>
              <a:rPr sz="1425" b="1">
                <a:solidFill>
                  <a:srgbClr val="F6FBFF"/>
                </a:solidFill>
              </a:rPr>
              <a:t>Tenant BYOK</a:t>
            </a:r>
          </a:p>
          <a:p>
            <a:pPr algn="ctr">
              <a:defRPr sz="1425" b="1">
                <a:solidFill>
                  <a:srgbClr val="F6FBFF"/>
                </a:solidFill>
              </a:defRPr>
            </a:pPr>
            <a:r>
              <a:rPr sz="1425" b="1">
                <a:solidFill>
                  <a:srgbClr val="F6FBFF"/>
                </a:solidFill>
              </a:rPr>
              <a:t>provider credential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6E606A6-C699-481E-8B58-AA24582DB2B1}"/>
              </a:ext>
            </a:extLst>
          </p:cNvPr>
          <p:cNvSpPr>
            <a:spLocks noGrp="1"/>
          </p:cNvSpPr>
          <p:nvPr/>
        </p:nvSpPr>
        <p:spPr>
          <a:xfrm>
            <a:off x="876300" y="4324350"/>
            <a:ext cx="10248900" cy="1104900"/>
          </a:xfrm>
          <a:prstGeom prst="roundRect">
            <a:avLst>
              <a:gd name="adj" fmla="val 15517"/>
            </a:avLst>
          </a:prstGeom>
          <a:solidFill>
            <a:srgbClr val="E5F1F8"/>
          </a:solidFill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7307DE-0208-43C8-980A-F5C8B2896BB2}"/>
              </a:ext>
            </a:extLst>
          </p:cNvPr>
          <p:cNvSpPr>
            <a:spLocks noGrp="1"/>
          </p:cNvSpPr>
          <p:nvPr/>
        </p:nvSpPr>
        <p:spPr>
          <a:xfrm>
            <a:off x="1200150" y="45339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8233E"/>
                </a:solidFill>
              </a:defRPr>
            </a:pPr>
            <a:r>
              <a:rPr sz="1875" b="1">
                <a:solidFill>
                  <a:srgbClr val="08233E"/>
                </a:solidFill>
              </a:rPr>
              <a:t>The app holds a GodarAI token—not every provider key.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4097ED-C48C-4D41-85FD-5113DD5527C0}"/>
              </a:ext>
            </a:extLst>
          </p:cNvPr>
          <p:cNvSpPr>
            <a:spLocks noGrp="1"/>
          </p:cNvSpPr>
          <p:nvPr/>
        </p:nvSpPr>
        <p:spPr>
          <a:xfrm>
            <a:off x="1200150" y="49530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E7189"/>
                </a:solidFill>
              </a:defRPr>
            </a:pPr>
            <a:r>
              <a:rPr sz="1275" b="0">
                <a:solidFill>
                  <a:srgbClr val="4E7189"/>
                </a:solidFill>
              </a:rPr>
              <a:t>Credential source is explicit: BYOK can remain externally billed; platform-managed usage can remain wallet billed.</a:t>
            </a:r>
          </a:p>
        </p:txBody>
      </p:sp>
    </p:spTree>
    <p:extLst>
      <p:ext uri="{BB962C8B-B14F-4D97-AF65-F5344CB8AC3E}">
        <p14:creationId xmlns:p14="http://schemas.microsoft.com/office/powerpoint/2010/main" val="321815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rand-rail">
            <a:extLst>
              <a:ext uri="{FF2B5EF4-FFF2-40B4-BE49-F238E27FC236}">
                <a16:creationId xmlns:a16="http://schemas.microsoft.com/office/drawing/2014/main" id="{2B151FF3-BEA5-4210-A78B-7086DB1F96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57053E9F-0C80-4287-AE0A-F8176CE1B4F6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BRING YOUR OWN KEY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41A9F722-B5B8-4F10-935B-6F5BA38DBC32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Provider secrets stay behind the gateway boundary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F3E4DA65-451B-45AB-A6EF-26B5C4EF012E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9337D9-1456-4BB0-AFB2-EDF806C98171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F89501-710A-4398-BA53-9F3FE204CD81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11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F2A84B-96ED-449C-9130-7DE982A01627}"/>
              </a:ext>
            </a:extLst>
          </p:cNvPr>
          <p:cNvSpPr>
            <a:spLocks noGrp="1"/>
          </p:cNvSpPr>
          <p:nvPr/>
        </p:nvSpPr>
        <p:spPr>
          <a:xfrm>
            <a:off x="666750" y="1847850"/>
            <a:ext cx="6953250" cy="3790950"/>
          </a:xfrm>
          <a:prstGeom prst="roundRect">
            <a:avLst>
              <a:gd name="adj" fmla="val 6030"/>
            </a:avLst>
          </a:prstGeom>
          <a:solidFill>
            <a:srgbClr val="081F34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2328B-3609-4AA3-AD93-33EFA2C6BD6B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6FBFF"/>
                </a:solidFill>
              </a:defRPr>
            </a:pPr>
            <a:r>
              <a:rPr sz="1875" b="1">
                <a:solidFill>
                  <a:srgbClr val="F6FBFF"/>
                </a:solidFill>
              </a:rPr>
              <a:t>Trusted control boundary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A1FD32-B2E0-4086-B182-CF315AB1F109}"/>
              </a:ext>
            </a:extLst>
          </p:cNvPr>
          <p:cNvSpPr>
            <a:spLocks noGrp="1"/>
          </p:cNvSpPr>
          <p:nvPr/>
        </p:nvSpPr>
        <p:spPr>
          <a:xfrm>
            <a:off x="990600" y="2771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E7B6ED-879C-4FBA-8581-02D85E34B700}"/>
              </a:ext>
            </a:extLst>
          </p:cNvPr>
          <p:cNvSpPr>
            <a:spLocks noGrp="1"/>
          </p:cNvSpPr>
          <p:nvPr/>
        </p:nvSpPr>
        <p:spPr>
          <a:xfrm>
            <a:off x="1219200" y="2705100"/>
            <a:ext cx="548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EFF"/>
                </a:solidFill>
              </a:defRPr>
            </a:pPr>
            <a:r>
              <a:rPr sz="1350" b="0">
                <a:solidFill>
                  <a:srgbClr val="D9EEFF"/>
                </a:solidFill>
              </a:rPr>
              <a:t>Encrypt secret material at rest.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309EA2-963C-4888-B824-8DDE007B37E0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A482C1-A827-4917-A779-FF54B4A0537E}"/>
              </a:ext>
            </a:extLst>
          </p:cNvPr>
          <p:cNvSpPr>
            <a:spLocks noGrp="1"/>
          </p:cNvSpPr>
          <p:nvPr/>
        </p:nvSpPr>
        <p:spPr>
          <a:xfrm>
            <a:off x="1219200" y="3276600"/>
            <a:ext cx="548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EFF"/>
                </a:solidFill>
              </a:defRPr>
            </a:pPr>
            <a:r>
              <a:rPr sz="1350" b="0">
                <a:solidFill>
                  <a:srgbClr val="D9EEFF"/>
                </a:solidFill>
              </a:rPr>
              <a:t>Return metadata—not the stored value.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11472ED-AA88-47D5-A045-594C06D365A0}"/>
              </a:ext>
            </a:extLst>
          </p:cNvPr>
          <p:cNvSpPr>
            <a:spLocks noGrp="1"/>
          </p:cNvSpPr>
          <p:nvPr/>
        </p:nvSpPr>
        <p:spPr>
          <a:xfrm>
            <a:off x="990600" y="3914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FF943D-E89C-4F8C-9401-E6591C12917E}"/>
              </a:ext>
            </a:extLst>
          </p:cNvPr>
          <p:cNvSpPr>
            <a:spLocks noGrp="1"/>
          </p:cNvSpPr>
          <p:nvPr/>
        </p:nvSpPr>
        <p:spPr>
          <a:xfrm>
            <a:off x="1219200" y="3848100"/>
            <a:ext cx="548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EFF"/>
                </a:solidFill>
              </a:defRPr>
            </a:pPr>
            <a:r>
              <a:rPr sz="1350" b="0">
                <a:solidFill>
                  <a:srgbClr val="D9EEFF"/>
                </a:solidFill>
              </a:rPr>
              <a:t>Inject credentials only for dispatch.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7058CEF-DA4B-4843-86ED-8BF1C98511FE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F6884A-35E5-496D-861D-4B45B26EE800}"/>
              </a:ext>
            </a:extLst>
          </p:cNvPr>
          <p:cNvSpPr>
            <a:spLocks noGrp="1"/>
          </p:cNvSpPr>
          <p:nvPr/>
        </p:nvSpPr>
        <p:spPr>
          <a:xfrm>
            <a:off x="1219200" y="4419600"/>
            <a:ext cx="548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EFF"/>
                </a:solidFill>
              </a:defRPr>
            </a:pPr>
            <a:r>
              <a:rPr sz="1350" b="0">
                <a:solidFill>
                  <a:srgbClr val="D9EEFF"/>
                </a:solidFill>
              </a:rPr>
              <a:t>Redact auth headers from logs and traces.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A521D4C-4479-4D8B-959E-B1B7A9B4B937}"/>
              </a:ext>
            </a:extLst>
          </p:cNvPr>
          <p:cNvSpPr>
            <a:spLocks noGrp="1"/>
          </p:cNvSpPr>
          <p:nvPr/>
        </p:nvSpPr>
        <p:spPr>
          <a:xfrm>
            <a:off x="8020050" y="1981200"/>
            <a:ext cx="9525" cy="3524250"/>
          </a:xfrm>
          <a:prstGeom prst="line">
            <a:avLst/>
          </a:prstGeom>
          <a:noFill/>
          <a:ln w="19050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C3EA6C-22FE-4AC3-A9EA-6A4B06C589D5}"/>
              </a:ext>
            </a:extLst>
          </p:cNvPr>
          <p:cNvSpPr>
            <a:spLocks noGrp="1"/>
          </p:cNvSpPr>
          <p:nvPr/>
        </p:nvSpPr>
        <p:spPr>
          <a:xfrm>
            <a:off x="8705850" y="22669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FF7E88"/>
                </a:solidFill>
              </a:defRPr>
            </a:pPr>
            <a:r>
              <a:rPr sz="2100" b="1">
                <a:solidFill>
                  <a:srgbClr val="FF7E88"/>
                </a:solidFill>
              </a:rPr>
              <a:t>NEVER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241542-BD4A-4C00-A852-A0A3C0489209}"/>
              </a:ext>
            </a:extLst>
          </p:cNvPr>
          <p:cNvSpPr>
            <a:spLocks noGrp="1"/>
          </p:cNvSpPr>
          <p:nvPr/>
        </p:nvSpPr>
        <p:spPr>
          <a:xfrm>
            <a:off x="8286750" y="2895600"/>
            <a:ext cx="285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950" b="1">
                <a:solidFill>
                  <a:srgbClr val="F6FBFF"/>
                </a:solidFill>
              </a:defRPr>
            </a:pPr>
            <a:r>
              <a:rPr sz="1950" b="1">
                <a:solidFill>
                  <a:srgbClr val="F6FBFF"/>
                </a:solidFill>
              </a:rPr>
              <a:t>provider keys</a:t>
            </a:r>
          </a:p>
          <a:p>
            <a:pPr algn="ctr">
              <a:defRPr sz="1950" b="1">
                <a:solidFill>
                  <a:srgbClr val="F6FBFF"/>
                </a:solidFill>
              </a:defRPr>
            </a:pPr>
            <a:r>
              <a:rPr sz="1950" b="1">
                <a:solidFill>
                  <a:srgbClr val="F6FBFF"/>
                </a:solidFill>
              </a:rPr>
              <a:t>in client code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7FA8F1-A022-44C3-B77F-B1530C819169}"/>
              </a:ext>
            </a:extLst>
          </p:cNvPr>
          <p:cNvSpPr>
            <a:spLocks noGrp="1"/>
          </p:cNvSpPr>
          <p:nvPr/>
        </p:nvSpPr>
        <p:spPr>
          <a:xfrm>
            <a:off x="8286750" y="4000500"/>
            <a:ext cx="285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0">
                <a:solidFill>
                  <a:srgbClr val="8FB5CF"/>
                </a:solidFill>
              </a:defRPr>
            </a:pPr>
            <a:r>
              <a:rPr sz="1650" b="0">
                <a:solidFill>
                  <a:srgbClr val="8FB5CF"/>
                </a:solidFill>
              </a:rPr>
              <a:t>or</a:t>
            </a:r>
          </a:p>
          <a:p>
            <a:pPr algn="ctr">
              <a:defRPr sz="1650" b="0">
                <a:solidFill>
                  <a:srgbClr val="8FB5CF"/>
                </a:solidFill>
              </a:defRPr>
            </a:pPr>
            <a:r>
              <a:rPr sz="1650" b="0">
                <a:solidFill>
                  <a:srgbClr val="8FB5CF"/>
                </a:solidFill>
              </a:rPr>
              <a:t>observable payloads</a:t>
            </a:r>
          </a:p>
        </p:txBody>
      </p:sp>
    </p:spTree>
    <p:extLst>
      <p:ext uri="{BB962C8B-B14F-4D97-AF65-F5344CB8AC3E}">
        <p14:creationId xmlns:p14="http://schemas.microsoft.com/office/powerpoint/2010/main" val="2140726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rand-rail">
            <a:extLst>
              <a:ext uri="{FF2B5EF4-FFF2-40B4-BE49-F238E27FC236}">
                <a16:creationId xmlns:a16="http://schemas.microsoft.com/office/drawing/2014/main" id="{E19F72BD-E371-4914-83DC-6E6B5E8626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FCADD576-4732-4CE4-86BA-50DA8BD0778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BRING YOUR OWN KEY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61FFF7ED-A0ED-4409-B241-9A7DB9C51616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Credentials follow a controlled lifecycle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B0AA8CAA-6DA0-437D-9B05-FA8AD0249A66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D38FC8-41D7-4D01-83EE-68F1D75B4795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7338E3-5789-4073-A089-3F6DE38D08B6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12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A20A7C7C-1592-490D-BEFD-7576399E164F}"/>
              </a:ext>
            </a:extLst>
          </p:cNvPr>
          <p:cNvSpPr>
            <a:spLocks noGrp="1"/>
          </p:cNvSpPr>
          <p:nvPr/>
        </p:nvSpPr>
        <p:spPr>
          <a:xfrm>
            <a:off x="1200150" y="3219450"/>
            <a:ext cx="9201150" cy="9525"/>
          </a:xfrm>
          <a:prstGeom prst="line">
            <a:avLst/>
          </a:prstGeom>
          <a:noFill/>
          <a:ln w="476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B7824A8-4167-474E-AB0C-D41BFC0B4FD2}"/>
              </a:ext>
            </a:extLst>
          </p:cNvPr>
          <p:cNvSpPr>
            <a:spLocks noGrp="1"/>
          </p:cNvSpPr>
          <p:nvPr/>
        </p:nvSpPr>
        <p:spPr>
          <a:xfrm>
            <a:off x="1257300" y="2781300"/>
            <a:ext cx="666750" cy="666750"/>
          </a:xfrm>
          <a:prstGeom prst="ellipse">
            <a:avLst/>
          </a:prstGeom>
          <a:solidFill>
            <a:srgbClr val="012651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99A7CF-83F1-40D6-8671-5D5E0E8C637A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F3C6B0-7047-41F2-8867-9A7B8C9D5FDC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F6FBFF"/>
                </a:solidFill>
              </a:defRPr>
            </a:pPr>
            <a:r>
              <a:rPr sz="1575" b="1">
                <a:solidFill>
                  <a:srgbClr val="F6FBFF"/>
                </a:solidFill>
              </a:rPr>
              <a:t>Draft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411BE-C45F-4F85-BDAB-5B7D2A7B7A54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FB5CF"/>
                </a:solidFill>
              </a:defRPr>
            </a:pPr>
            <a:r>
              <a:rPr sz="1125" b="0">
                <a:solidFill>
                  <a:srgbClr val="8FB5CF"/>
                </a:solidFill>
              </a:rPr>
              <a:t>new version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92D57EB-0370-46BF-9EE3-3B64553CFEBC}"/>
              </a:ext>
            </a:extLst>
          </p:cNvPr>
          <p:cNvSpPr>
            <a:spLocks noGrp="1"/>
          </p:cNvSpPr>
          <p:nvPr/>
        </p:nvSpPr>
        <p:spPr>
          <a:xfrm>
            <a:off x="3390900" y="2781300"/>
            <a:ext cx="666750" cy="666750"/>
          </a:xfrm>
          <a:prstGeom prst="ellipse">
            <a:avLst/>
          </a:prstGeom>
          <a:solidFill>
            <a:srgbClr val="012651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CAC284-6A65-4375-A422-B6AC843A852A}"/>
              </a:ext>
            </a:extLst>
          </p:cNvPr>
          <p:cNvSpPr>
            <a:spLocks noGrp="1"/>
          </p:cNvSpPr>
          <p:nvPr/>
        </p:nvSpPr>
        <p:spPr>
          <a:xfrm>
            <a:off x="3390900" y="29527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25A0A5-8FE7-44BC-A96F-4633B18F4948}"/>
              </a:ext>
            </a:extLst>
          </p:cNvPr>
          <p:cNvSpPr>
            <a:spLocks noGrp="1"/>
          </p:cNvSpPr>
          <p:nvPr/>
        </p:nvSpPr>
        <p:spPr>
          <a:xfrm>
            <a:off x="2914650" y="37338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F6FBFF"/>
                </a:solidFill>
              </a:defRPr>
            </a:pPr>
            <a:r>
              <a:rPr sz="1575" b="1">
                <a:solidFill>
                  <a:srgbClr val="F6FBFF"/>
                </a:solidFill>
              </a:rPr>
              <a:t>Test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E3E76C-BCCA-4C5A-BBCD-135FB14CE234}"/>
              </a:ext>
            </a:extLst>
          </p:cNvPr>
          <p:cNvSpPr>
            <a:spLocks noGrp="1"/>
          </p:cNvSpPr>
          <p:nvPr/>
        </p:nvSpPr>
        <p:spPr>
          <a:xfrm>
            <a:off x="2914650" y="40957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FB5CF"/>
                </a:solidFill>
              </a:defRPr>
            </a:pPr>
            <a:r>
              <a:rPr sz="1125" b="0">
                <a:solidFill>
                  <a:srgbClr val="8FB5CF"/>
                </a:solidFill>
              </a:rPr>
              <a:t>minimal probe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E39BCE5-1508-4814-8F02-989FE0302A89}"/>
              </a:ext>
            </a:extLst>
          </p:cNvPr>
          <p:cNvSpPr>
            <a:spLocks noGrp="1"/>
          </p:cNvSpPr>
          <p:nvPr/>
        </p:nvSpPr>
        <p:spPr>
          <a:xfrm>
            <a:off x="5524500" y="2781300"/>
            <a:ext cx="666750" cy="666750"/>
          </a:xfrm>
          <a:prstGeom prst="ellipse">
            <a:avLst/>
          </a:prstGeom>
          <a:solidFill>
            <a:srgbClr val="00C9EB"/>
          </a:solidFill>
          <a:ln w="9525">
            <a:solidFill>
              <a:srgbClr val="00C9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B20204-42DF-40BC-86BB-368329657BDD}"/>
              </a:ext>
            </a:extLst>
          </p:cNvPr>
          <p:cNvSpPr>
            <a:spLocks noGrp="1"/>
          </p:cNvSpPr>
          <p:nvPr/>
        </p:nvSpPr>
        <p:spPr>
          <a:xfrm>
            <a:off x="5524500" y="29527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06182D"/>
                </a:solidFill>
              </a:defRPr>
            </a:pPr>
            <a:r>
              <a:rPr sz="1650" b="1">
                <a:solidFill>
                  <a:srgbClr val="06182D"/>
                </a:solidFill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EBB78C-E9B4-4BDE-9F20-5C48A25416C2}"/>
              </a:ext>
            </a:extLst>
          </p:cNvPr>
          <p:cNvSpPr>
            <a:spLocks noGrp="1"/>
          </p:cNvSpPr>
          <p:nvPr/>
        </p:nvSpPr>
        <p:spPr>
          <a:xfrm>
            <a:off x="5048250" y="37338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F6FBFF"/>
                </a:solidFill>
              </a:defRPr>
            </a:pPr>
            <a:r>
              <a:rPr sz="1575" b="1">
                <a:solidFill>
                  <a:srgbClr val="F6FBFF"/>
                </a:solidFill>
              </a:rPr>
              <a:t>Activate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B1D1B7-F967-484C-824C-F9A964CB6C30}"/>
              </a:ext>
            </a:extLst>
          </p:cNvPr>
          <p:cNvSpPr>
            <a:spLocks noGrp="1"/>
          </p:cNvSpPr>
          <p:nvPr/>
        </p:nvSpPr>
        <p:spPr>
          <a:xfrm>
            <a:off x="5048250" y="40957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FB5CF"/>
                </a:solidFill>
              </a:defRPr>
            </a:pPr>
            <a:r>
              <a:rPr sz="1125" b="0">
                <a:solidFill>
                  <a:srgbClr val="8FB5CF"/>
                </a:solidFill>
              </a:rPr>
              <a:t>audited switch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4947271-ADF9-461C-AE1D-91CE644D64FC}"/>
              </a:ext>
            </a:extLst>
          </p:cNvPr>
          <p:cNvSpPr>
            <a:spLocks noGrp="1"/>
          </p:cNvSpPr>
          <p:nvPr/>
        </p:nvSpPr>
        <p:spPr>
          <a:xfrm>
            <a:off x="7658100" y="2781300"/>
            <a:ext cx="666750" cy="666750"/>
          </a:xfrm>
          <a:prstGeom prst="ellipse">
            <a:avLst/>
          </a:prstGeom>
          <a:solidFill>
            <a:srgbClr val="012651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55CD1B-92EF-4F86-95DA-46D6B1F8ED99}"/>
              </a:ext>
            </a:extLst>
          </p:cNvPr>
          <p:cNvSpPr>
            <a:spLocks noGrp="1"/>
          </p:cNvSpPr>
          <p:nvPr/>
        </p:nvSpPr>
        <p:spPr>
          <a:xfrm>
            <a:off x="7658100" y="29527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C690F7-1E8E-4B4D-A4C0-63213BCBBB3C}"/>
              </a:ext>
            </a:extLst>
          </p:cNvPr>
          <p:cNvSpPr>
            <a:spLocks noGrp="1"/>
          </p:cNvSpPr>
          <p:nvPr/>
        </p:nvSpPr>
        <p:spPr>
          <a:xfrm>
            <a:off x="7181850" y="37338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F6FBFF"/>
                </a:solidFill>
              </a:defRPr>
            </a:pPr>
            <a:r>
              <a:rPr sz="1575" b="1">
                <a:solidFill>
                  <a:srgbClr val="F6FBFF"/>
                </a:solidFill>
              </a:rPr>
              <a:t>Rotate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9CB224-3A94-4B9D-A3F4-07B738CC383B}"/>
              </a:ext>
            </a:extLst>
          </p:cNvPr>
          <p:cNvSpPr>
            <a:spLocks noGrp="1"/>
          </p:cNvSpPr>
          <p:nvPr/>
        </p:nvSpPr>
        <p:spPr>
          <a:xfrm>
            <a:off x="7181850" y="40957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FB5CF"/>
                </a:solidFill>
              </a:defRPr>
            </a:pPr>
            <a:r>
              <a:rPr sz="1125" b="0">
                <a:solidFill>
                  <a:srgbClr val="8FB5CF"/>
                </a:solidFill>
              </a:rPr>
              <a:t>grace period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5BC7607-74FB-4D0C-8E14-1E66C8E00380}"/>
              </a:ext>
            </a:extLst>
          </p:cNvPr>
          <p:cNvSpPr>
            <a:spLocks noGrp="1"/>
          </p:cNvSpPr>
          <p:nvPr/>
        </p:nvSpPr>
        <p:spPr>
          <a:xfrm>
            <a:off x="9791700" y="2781300"/>
            <a:ext cx="666750" cy="666750"/>
          </a:xfrm>
          <a:prstGeom prst="ellipse">
            <a:avLst/>
          </a:prstGeom>
          <a:solidFill>
            <a:srgbClr val="012651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7809F2-72F7-4AF2-97FE-1016AC14C035}"/>
              </a:ext>
            </a:extLst>
          </p:cNvPr>
          <p:cNvSpPr>
            <a:spLocks noGrp="1"/>
          </p:cNvSpPr>
          <p:nvPr/>
        </p:nvSpPr>
        <p:spPr>
          <a:xfrm>
            <a:off x="9791700" y="29527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EA107A-6054-46D6-8FBC-2BF529D96A4B}"/>
              </a:ext>
            </a:extLst>
          </p:cNvPr>
          <p:cNvSpPr>
            <a:spLocks noGrp="1"/>
          </p:cNvSpPr>
          <p:nvPr/>
        </p:nvSpPr>
        <p:spPr>
          <a:xfrm>
            <a:off x="9315450" y="37338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F6FBFF"/>
                </a:solidFill>
              </a:defRPr>
            </a:pPr>
            <a:r>
              <a:rPr sz="1575" b="1">
                <a:solidFill>
                  <a:srgbClr val="F6FBFF"/>
                </a:solidFill>
              </a:rPr>
              <a:t>Rollback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5334AD-72C5-4BD7-98D2-0DFC0505B2D0}"/>
              </a:ext>
            </a:extLst>
          </p:cNvPr>
          <p:cNvSpPr>
            <a:spLocks noGrp="1"/>
          </p:cNvSpPr>
          <p:nvPr/>
        </p:nvSpPr>
        <p:spPr>
          <a:xfrm>
            <a:off x="9315450" y="40957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FB5CF"/>
                </a:solidFill>
              </a:defRPr>
            </a:pPr>
            <a:r>
              <a:rPr sz="1125" b="0">
                <a:solidFill>
                  <a:srgbClr val="8FB5CF"/>
                </a:solidFill>
              </a:rPr>
              <a:t>known good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5D2AC5-D296-4638-804E-A6D174BC26FC}"/>
              </a:ext>
            </a:extLst>
          </p:cNvPr>
          <p:cNvSpPr>
            <a:spLocks noGrp="1"/>
          </p:cNvSpPr>
          <p:nvPr/>
        </p:nvSpPr>
        <p:spPr>
          <a:xfrm>
            <a:off x="2381250" y="5124450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D9EEFF"/>
                </a:solidFill>
              </a:defRPr>
            </a:pPr>
            <a:r>
              <a:rPr sz="1725" b="1">
                <a:solidFill>
                  <a:srgbClr val="D9EEFF"/>
                </a:solidFill>
              </a:rPr>
              <a:t>Save does not silently overwrite an active credential.</a:t>
            </a:r>
          </a:p>
        </p:txBody>
      </p:sp>
    </p:spTree>
    <p:extLst>
      <p:ext uri="{BB962C8B-B14F-4D97-AF65-F5344CB8AC3E}">
        <p14:creationId xmlns:p14="http://schemas.microsoft.com/office/powerpoint/2010/main" val="1603015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rand-rail">
            <a:extLst>
              <a:ext uri="{FF2B5EF4-FFF2-40B4-BE49-F238E27FC236}">
                <a16:creationId xmlns:a16="http://schemas.microsoft.com/office/drawing/2014/main" id="{6C4F373C-B37D-4F5B-A2AD-DE1F15D3BF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D1598CD9-D2A6-470A-B66E-BC46E46CD6EB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BCE1"/>
                </a:solidFill>
              </a:defRPr>
            </a:pPr>
            <a:r>
              <a:rPr sz="1050" b="1">
                <a:solidFill>
                  <a:srgbClr val="00BCE1"/>
                </a:solidFill>
              </a:rPr>
              <a:t>VIRTUAL MODELS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60E89B87-4A9D-4865-83BD-AB65D4F7E6D6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8233E"/>
                </a:solidFill>
              </a:defRPr>
            </a:pPr>
            <a:r>
              <a:rPr sz="2700" b="1">
                <a:solidFill>
                  <a:srgbClr val="08233E"/>
                </a:solidFill>
              </a:rPr>
              <a:t>Virtual Models decouple products from providers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3628A6D6-99D0-4040-9E29-C5153BE27E01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63B27A-40A7-4C80-97FF-E9749E359DE2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883E8B-2876-4149-A13D-A11D84E121D1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13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D0A7FC-E127-46AD-82B8-B99EEF21EB66}"/>
              </a:ext>
            </a:extLst>
          </p:cNvPr>
          <p:cNvSpPr>
            <a:spLocks noGrp="1"/>
          </p:cNvSpPr>
          <p:nvPr/>
        </p:nvSpPr>
        <p:spPr>
          <a:xfrm>
            <a:off x="762000" y="2362200"/>
            <a:ext cx="3048000" cy="1333500"/>
          </a:xfrm>
          <a:prstGeom prst="roundRect">
            <a:avLst>
              <a:gd name="adj" fmla="val 12857"/>
            </a:avLst>
          </a:prstGeom>
          <a:solidFill>
            <a:srgbClr val="012651"/>
          </a:solidFill>
          <a:ln w="9525">
            <a:solidFill>
              <a:srgbClr val="012651"/>
            </a:solidFill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F6FBFF"/>
                </a:solidFill>
              </a:defRPr>
            </a:pPr>
            <a:r>
              <a:rPr sz="2100" b="1">
                <a:solidFill>
                  <a:srgbClr val="F6FBFF"/>
                </a:solidFill>
              </a:rPr>
              <a:t>support-smart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966B20-F7FC-4F4C-B2DA-4D7127550B9E}"/>
              </a:ext>
            </a:extLst>
          </p:cNvPr>
          <p:cNvSpPr>
            <a:spLocks noGrp="1"/>
          </p:cNvSpPr>
          <p:nvPr/>
        </p:nvSpPr>
        <p:spPr>
          <a:xfrm>
            <a:off x="1009650" y="3905250"/>
            <a:ext cx="253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4E7189"/>
                </a:solidFill>
              </a:defRPr>
            </a:pPr>
            <a:r>
              <a:rPr sz="1350" b="1">
                <a:solidFill>
                  <a:srgbClr val="4E7189"/>
                </a:solidFill>
              </a:rPr>
              <a:t>Stable model alias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7396B26-F61D-4B9A-9A4D-C9AF11ECADCD}"/>
              </a:ext>
            </a:extLst>
          </p:cNvPr>
          <p:cNvSpPr>
            <a:spLocks noGrp="1"/>
          </p:cNvSpPr>
          <p:nvPr/>
        </p:nvSpPr>
        <p:spPr>
          <a:xfrm>
            <a:off x="3810000" y="2114550"/>
            <a:ext cx="2190750" cy="914400"/>
          </a:xfrm>
          <a:prstGeom prst="line">
            <a:avLst/>
          </a:prstGeom>
          <a:noFill/>
          <a:ln w="2857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EC110086-0713-4DF1-9141-3F6E691E9C0A}"/>
              </a:ext>
            </a:extLst>
          </p:cNvPr>
          <p:cNvSpPr>
            <a:spLocks noGrp="1"/>
          </p:cNvSpPr>
          <p:nvPr/>
        </p:nvSpPr>
        <p:spPr>
          <a:xfrm>
            <a:off x="3810000" y="3028950"/>
            <a:ext cx="2190750" cy="9525"/>
          </a:xfrm>
          <a:prstGeom prst="line">
            <a:avLst/>
          </a:prstGeom>
          <a:noFill/>
          <a:ln w="2857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1BE538E-DFEC-4C29-9CB6-96465C6F54BB}"/>
              </a:ext>
            </a:extLst>
          </p:cNvPr>
          <p:cNvSpPr>
            <a:spLocks noGrp="1"/>
          </p:cNvSpPr>
          <p:nvPr/>
        </p:nvSpPr>
        <p:spPr>
          <a:xfrm>
            <a:off x="3810000" y="3028950"/>
            <a:ext cx="2190750" cy="914400"/>
          </a:xfrm>
          <a:prstGeom prst="line">
            <a:avLst/>
          </a:prstGeom>
          <a:noFill/>
          <a:ln w="2857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ADBEDD-A3DC-4104-8372-00E61CAEFE6F}"/>
              </a:ext>
            </a:extLst>
          </p:cNvPr>
          <p:cNvSpPr>
            <a:spLocks noGrp="1"/>
          </p:cNvSpPr>
          <p:nvPr/>
        </p:nvSpPr>
        <p:spPr>
          <a:xfrm>
            <a:off x="6572250" y="1714500"/>
            <a:ext cx="2857500" cy="800100"/>
          </a:xfrm>
          <a:prstGeom prst="roundRect">
            <a:avLst>
              <a:gd name="adj" fmla="val 21429"/>
            </a:avLst>
          </a:prstGeom>
          <a:solidFill>
            <a:srgbClr val="D8EDF8"/>
          </a:solidFill>
          <a:ln w="9525">
            <a:solidFill>
              <a:srgbClr val="00BCE1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8233E"/>
                </a:solidFill>
              </a:defRPr>
            </a:pPr>
            <a:r>
              <a:rPr sz="1425" b="1">
                <a:solidFill>
                  <a:srgbClr val="08233E"/>
                </a:solidFill>
              </a:rPr>
              <a:t>OpenAI</a:t>
            </a:r>
          </a:p>
          <a:p>
            <a:pPr algn="ctr">
              <a:defRPr sz="1425" b="1">
                <a:solidFill>
                  <a:srgbClr val="08233E"/>
                </a:solidFill>
              </a:defRPr>
            </a:pPr>
            <a:r>
              <a:rPr sz="1425" b="1">
                <a:solidFill>
                  <a:srgbClr val="08233E"/>
                </a:solidFill>
              </a:rPr>
              <a:t>model target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317AD2-02F7-4A18-BA35-C75FE73D5DE6}"/>
              </a:ext>
            </a:extLst>
          </p:cNvPr>
          <p:cNvSpPr>
            <a:spLocks noGrp="1"/>
          </p:cNvSpPr>
          <p:nvPr/>
        </p:nvSpPr>
        <p:spPr>
          <a:xfrm>
            <a:off x="6572250" y="2628900"/>
            <a:ext cx="2857500" cy="800100"/>
          </a:xfrm>
          <a:prstGeom prst="roundRect">
            <a:avLst>
              <a:gd name="adj" fmla="val 21429"/>
            </a:avLst>
          </a:prstGeom>
          <a:solidFill>
            <a:srgbClr val="D8EDF8"/>
          </a:solidFill>
          <a:ln w="9525">
            <a:solidFill>
              <a:srgbClr val="00BCE1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8233E"/>
                </a:solidFill>
              </a:defRPr>
            </a:pPr>
            <a:r>
              <a:rPr sz="1425" b="1">
                <a:solidFill>
                  <a:srgbClr val="08233E"/>
                </a:solidFill>
              </a:rPr>
              <a:t>Anthropic</a:t>
            </a:r>
          </a:p>
          <a:p>
            <a:pPr algn="ctr">
              <a:defRPr sz="1425" b="1">
                <a:solidFill>
                  <a:srgbClr val="08233E"/>
                </a:solidFill>
              </a:defRPr>
            </a:pPr>
            <a:r>
              <a:rPr sz="1425" b="1">
                <a:solidFill>
                  <a:srgbClr val="08233E"/>
                </a:solidFill>
              </a:rPr>
              <a:t>model target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B21107E-59F3-4BBE-9B2F-47434BBAF5A0}"/>
              </a:ext>
            </a:extLst>
          </p:cNvPr>
          <p:cNvSpPr>
            <a:spLocks noGrp="1"/>
          </p:cNvSpPr>
          <p:nvPr/>
        </p:nvSpPr>
        <p:spPr>
          <a:xfrm>
            <a:off x="6572250" y="3543300"/>
            <a:ext cx="2857500" cy="800100"/>
          </a:xfrm>
          <a:prstGeom prst="roundRect">
            <a:avLst>
              <a:gd name="adj" fmla="val 21429"/>
            </a:avLst>
          </a:prstGeom>
          <a:solidFill>
            <a:srgbClr val="D8EDF8"/>
          </a:solidFill>
          <a:ln w="9525">
            <a:solidFill>
              <a:srgbClr val="00BCE1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8233E"/>
                </a:solidFill>
              </a:defRPr>
            </a:pPr>
            <a:r>
              <a:rPr sz="1425" b="1">
                <a:solidFill>
                  <a:srgbClr val="08233E"/>
                </a:solidFill>
              </a:rPr>
              <a:t>Google</a:t>
            </a:r>
          </a:p>
          <a:p>
            <a:pPr algn="ctr">
              <a:defRPr sz="1425" b="1">
                <a:solidFill>
                  <a:srgbClr val="08233E"/>
                </a:solidFill>
              </a:defRPr>
            </a:pPr>
            <a:r>
              <a:rPr sz="1425" b="1">
                <a:solidFill>
                  <a:srgbClr val="08233E"/>
                </a:solidFill>
              </a:rPr>
              <a:t>model target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63ACA0-85C1-40D4-BFA0-DB7BD2E40439}"/>
              </a:ext>
            </a:extLst>
          </p:cNvPr>
          <p:cNvSpPr>
            <a:spLocks noGrp="1"/>
          </p:cNvSpPr>
          <p:nvPr/>
        </p:nvSpPr>
        <p:spPr>
          <a:xfrm>
            <a:off x="2000250" y="5181600"/>
            <a:ext cx="819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08233E"/>
                </a:solidFill>
              </a:defRPr>
            </a:pPr>
            <a:r>
              <a:rPr sz="1650" b="1">
                <a:solidFill>
                  <a:srgbClr val="08233E"/>
                </a:solidFill>
              </a:rPr>
              <a:t>Change targets, order, and weights—without changing application code.</a:t>
            </a:r>
          </a:p>
        </p:txBody>
      </p:sp>
    </p:spTree>
    <p:extLst>
      <p:ext uri="{BB962C8B-B14F-4D97-AF65-F5344CB8AC3E}">
        <p14:creationId xmlns:p14="http://schemas.microsoft.com/office/powerpoint/2010/main" val="483544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rand-rail">
            <a:extLst>
              <a:ext uri="{FF2B5EF4-FFF2-40B4-BE49-F238E27FC236}">
                <a16:creationId xmlns:a16="http://schemas.microsoft.com/office/drawing/2014/main" id="{A61C46CC-B59E-43BC-816F-0EA5C0B1AB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171842AF-6CE2-404E-B7F9-B60D35C6A957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VIRTUAL MODELS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E65A1682-3F0F-4980-B7F4-8F08F257052D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Priority routing makes failover explicit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4ACC06CC-9766-4790-89E0-4E99B90E6555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35B3FC-EB26-4758-B892-9F9FCC222E36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FBE583-4891-4368-85AA-91EE90AAEE1D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14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660BFF-9399-4BC0-B892-530C1F3DB567}"/>
              </a:ext>
            </a:extLst>
          </p:cNvPr>
          <p:cNvSpPr>
            <a:spLocks noGrp="1"/>
          </p:cNvSpPr>
          <p:nvPr/>
        </p:nvSpPr>
        <p:spPr>
          <a:xfrm>
            <a:off x="666750" y="19240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ORDERED TARGET CHAIN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354485F-D859-40B0-95A8-837C7B16CA3A}"/>
              </a:ext>
            </a:extLst>
          </p:cNvPr>
          <p:cNvSpPr>
            <a:spLocks noGrp="1"/>
          </p:cNvSpPr>
          <p:nvPr/>
        </p:nvSpPr>
        <p:spPr>
          <a:xfrm>
            <a:off x="1619250" y="3371850"/>
            <a:ext cx="8496300" cy="9525"/>
          </a:xfrm>
          <a:prstGeom prst="line">
            <a:avLst/>
          </a:prstGeom>
          <a:noFill/>
          <a:ln w="476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31C820-DA32-4E4C-9AAF-0DF1B289B330}"/>
              </a:ext>
            </a:extLst>
          </p:cNvPr>
          <p:cNvSpPr>
            <a:spLocks noGrp="1"/>
          </p:cNvSpPr>
          <p:nvPr/>
        </p:nvSpPr>
        <p:spPr>
          <a:xfrm>
            <a:off x="1047750" y="2876550"/>
            <a:ext cx="990600" cy="990600"/>
          </a:xfrm>
          <a:prstGeom prst="ellipse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85382D-B725-4791-9195-79145ECFAE30}"/>
              </a:ext>
            </a:extLst>
          </p:cNvPr>
          <p:cNvSpPr>
            <a:spLocks noGrp="1"/>
          </p:cNvSpPr>
          <p:nvPr/>
        </p:nvSpPr>
        <p:spPr>
          <a:xfrm>
            <a:off x="1047750" y="3143250"/>
            <a:ext cx="99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06182D"/>
                </a:solidFill>
              </a:defRPr>
            </a:pPr>
            <a:r>
              <a:rPr sz="2250" b="1">
                <a:solidFill>
                  <a:srgbClr val="06182D"/>
                </a:solidFill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8D2313-F441-4818-AF65-4B2D598623AD}"/>
              </a:ext>
            </a:extLst>
          </p:cNvPr>
          <p:cNvSpPr>
            <a:spLocks noGrp="1"/>
          </p:cNvSpPr>
          <p:nvPr/>
        </p:nvSpPr>
        <p:spPr>
          <a:xfrm>
            <a:off x="628650" y="41338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6FBFF"/>
                </a:solidFill>
              </a:defRPr>
            </a:pPr>
            <a:r>
              <a:rPr sz="1800" b="1">
                <a:solidFill>
                  <a:srgbClr val="F6FBFF"/>
                </a:solidFill>
              </a:rPr>
              <a:t>Primary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10725B-781E-4A2C-A170-68A73A82298D}"/>
              </a:ext>
            </a:extLst>
          </p:cNvPr>
          <p:cNvSpPr>
            <a:spLocks noGrp="1"/>
          </p:cNvSpPr>
          <p:nvPr/>
        </p:nvSpPr>
        <p:spPr>
          <a:xfrm>
            <a:off x="628650" y="45529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8FB5CF"/>
                </a:solidFill>
              </a:defRPr>
            </a:pPr>
            <a:r>
              <a:rPr sz="1200" b="0">
                <a:solidFill>
                  <a:srgbClr val="8FB5CF"/>
                </a:solidFill>
              </a:rPr>
              <a:t>try first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5C2578A-6639-403B-A9A8-665F8212894D}"/>
              </a:ext>
            </a:extLst>
          </p:cNvPr>
          <p:cNvSpPr>
            <a:spLocks noGrp="1"/>
          </p:cNvSpPr>
          <p:nvPr/>
        </p:nvSpPr>
        <p:spPr>
          <a:xfrm>
            <a:off x="4762500" y="2876550"/>
            <a:ext cx="990600" cy="990600"/>
          </a:xfrm>
          <a:prstGeom prst="ellipse">
            <a:avLst/>
          </a:prstGeom>
          <a:solidFill>
            <a:srgbClr val="9A8C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4177A4-B047-4A71-A9EA-13DAAA1357DC}"/>
              </a:ext>
            </a:extLst>
          </p:cNvPr>
          <p:cNvSpPr>
            <a:spLocks noGrp="1"/>
          </p:cNvSpPr>
          <p:nvPr/>
        </p:nvSpPr>
        <p:spPr>
          <a:xfrm>
            <a:off x="4762500" y="3143250"/>
            <a:ext cx="99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06182D"/>
                </a:solidFill>
              </a:defRPr>
            </a:pPr>
            <a:r>
              <a:rPr sz="2250" b="1">
                <a:solidFill>
                  <a:srgbClr val="06182D"/>
                </a:solidFill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F3EFCE-C66A-4ACB-80B5-894A90041869}"/>
              </a:ext>
            </a:extLst>
          </p:cNvPr>
          <p:cNvSpPr>
            <a:spLocks noGrp="1"/>
          </p:cNvSpPr>
          <p:nvPr/>
        </p:nvSpPr>
        <p:spPr>
          <a:xfrm>
            <a:off x="4343400" y="41338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6FBFF"/>
                </a:solidFill>
              </a:defRPr>
            </a:pPr>
            <a:r>
              <a:rPr sz="1800" b="1">
                <a:solidFill>
                  <a:srgbClr val="F6FBFF"/>
                </a:solidFill>
              </a:rPr>
              <a:t>Secondary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B8E6A6-C262-4440-8542-F9C4552A5F09}"/>
              </a:ext>
            </a:extLst>
          </p:cNvPr>
          <p:cNvSpPr>
            <a:spLocks noGrp="1"/>
          </p:cNvSpPr>
          <p:nvPr/>
        </p:nvSpPr>
        <p:spPr>
          <a:xfrm>
            <a:off x="4343400" y="45529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8FB5CF"/>
                </a:solidFill>
              </a:defRPr>
            </a:pPr>
            <a:r>
              <a:rPr sz="1200" b="0">
                <a:solidFill>
                  <a:srgbClr val="8FB5CF"/>
                </a:solidFill>
              </a:rPr>
              <a:t>on eligible failure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A872253-CF8A-4CAA-94D8-CEC3CDBA5057}"/>
              </a:ext>
            </a:extLst>
          </p:cNvPr>
          <p:cNvSpPr>
            <a:spLocks noGrp="1"/>
          </p:cNvSpPr>
          <p:nvPr/>
        </p:nvSpPr>
        <p:spPr>
          <a:xfrm>
            <a:off x="8477250" y="2876550"/>
            <a:ext cx="990600" cy="990600"/>
          </a:xfrm>
          <a:prstGeom prst="ellipse">
            <a:avLst/>
          </a:prstGeom>
          <a:solidFill>
            <a:srgbClr val="42D5A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3E58DF-A99F-4592-8AEF-A1B9D7016469}"/>
              </a:ext>
            </a:extLst>
          </p:cNvPr>
          <p:cNvSpPr>
            <a:spLocks noGrp="1"/>
          </p:cNvSpPr>
          <p:nvPr/>
        </p:nvSpPr>
        <p:spPr>
          <a:xfrm>
            <a:off x="8477250" y="3143250"/>
            <a:ext cx="99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06182D"/>
                </a:solidFill>
              </a:defRPr>
            </a:pPr>
            <a:r>
              <a:rPr sz="2250" b="1">
                <a:solidFill>
                  <a:srgbClr val="06182D"/>
                </a:solidFill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EC56BB-DC4E-47AC-832E-E1FB89F285F1}"/>
              </a:ext>
            </a:extLst>
          </p:cNvPr>
          <p:cNvSpPr>
            <a:spLocks noGrp="1"/>
          </p:cNvSpPr>
          <p:nvPr/>
        </p:nvSpPr>
        <p:spPr>
          <a:xfrm>
            <a:off x="8058150" y="41338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6FBFF"/>
                </a:solidFill>
              </a:defRPr>
            </a:pPr>
            <a:r>
              <a:rPr sz="1800" b="1">
                <a:solidFill>
                  <a:srgbClr val="F6FBFF"/>
                </a:solidFill>
              </a:rPr>
              <a:t>Fallback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E8E84B-71D1-452D-9461-2ADCD01840AE}"/>
              </a:ext>
            </a:extLst>
          </p:cNvPr>
          <p:cNvSpPr>
            <a:spLocks noGrp="1"/>
          </p:cNvSpPr>
          <p:nvPr/>
        </p:nvSpPr>
        <p:spPr>
          <a:xfrm>
            <a:off x="8058150" y="45529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8FB5CF"/>
                </a:solidFill>
              </a:defRPr>
            </a:pPr>
            <a:r>
              <a:rPr sz="1200" b="0">
                <a:solidFill>
                  <a:srgbClr val="8FB5CF"/>
                </a:solidFill>
              </a:rPr>
              <a:t>last candidate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59F75E1-AE82-4BFD-B407-3248F6B207B4}"/>
              </a:ext>
            </a:extLst>
          </p:cNvPr>
          <p:cNvSpPr>
            <a:spLocks noGrp="1"/>
          </p:cNvSpPr>
          <p:nvPr/>
        </p:nvSpPr>
        <p:spPr>
          <a:xfrm>
            <a:off x="3067050" y="5410200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RETRY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C968638-4D81-4BB9-8602-2A06300E01C8}"/>
              </a:ext>
            </a:extLst>
          </p:cNvPr>
          <p:cNvSpPr>
            <a:spLocks noGrp="1"/>
          </p:cNvSpPr>
          <p:nvPr/>
        </p:nvSpPr>
        <p:spPr>
          <a:xfrm>
            <a:off x="4419600" y="541020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COOLDOWN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CB8278C-BCB9-49E0-8D38-8608E85D3EB9}"/>
              </a:ext>
            </a:extLst>
          </p:cNvPr>
          <p:cNvSpPr>
            <a:spLocks noGrp="1"/>
          </p:cNvSpPr>
          <p:nvPr/>
        </p:nvSpPr>
        <p:spPr>
          <a:xfrm>
            <a:off x="5962650" y="541020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FALLBACK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3A39F4A-5E4F-4E80-8378-28FE15EB58CA}"/>
              </a:ext>
            </a:extLst>
          </p:cNvPr>
          <p:cNvSpPr>
            <a:spLocks noGrp="1"/>
          </p:cNvSpPr>
          <p:nvPr/>
        </p:nvSpPr>
        <p:spPr>
          <a:xfrm>
            <a:off x="7505700" y="54102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STABLE ERROR</a:t>
            </a:r>
          </a:p>
        </p:txBody>
      </p:sp>
    </p:spTree>
    <p:extLst>
      <p:ext uri="{BB962C8B-B14F-4D97-AF65-F5344CB8AC3E}">
        <p14:creationId xmlns:p14="http://schemas.microsoft.com/office/powerpoint/2010/main" val="675681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rand-rail">
            <a:extLst>
              <a:ext uri="{FF2B5EF4-FFF2-40B4-BE49-F238E27FC236}">
                <a16:creationId xmlns:a16="http://schemas.microsoft.com/office/drawing/2014/main" id="{FBD31E4D-B7F7-4045-8E2A-72CC08A43B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EAA78CA7-31F0-415C-A5FC-C9A571BAE040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VIRTUAL MODELS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3C28A563-B44A-46F6-8862-B5E2ED78FD7A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Weighted routing spreads initial traffic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08A9052E-F721-4445-B00C-BEE0BFCDDF85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C431A6-A13F-4914-B1E4-1EB725713F42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CFFF32-94A1-4CA1-8549-4B74E9AA0983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15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0EFE43-8729-4CAB-B7CD-F5ABE712DBE4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2476500" cy="1104900"/>
          </a:xfrm>
          <a:prstGeom prst="roundRect">
            <a:avLst>
              <a:gd name="adj" fmla="val 15517"/>
            </a:avLst>
          </a:prstGeom>
          <a:solidFill>
            <a:srgbClr val="012651"/>
          </a:solidFill>
          <a:ln w="9525">
            <a:solidFill>
              <a:srgbClr val="00C9EB"/>
            </a:solidFill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6FBFF"/>
                </a:solidFill>
              </a:defRPr>
            </a:pPr>
            <a:r>
              <a:rPr sz="1800" b="1">
                <a:solidFill>
                  <a:srgbClr val="F6FBFF"/>
                </a:solidFill>
              </a:rPr>
              <a:t>virtual model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F921494-691A-4CE4-BAC6-5CE9B9F9DB6B}"/>
              </a:ext>
            </a:extLst>
          </p:cNvPr>
          <p:cNvSpPr>
            <a:spLocks noGrp="1"/>
          </p:cNvSpPr>
          <p:nvPr/>
        </p:nvSpPr>
        <p:spPr>
          <a:xfrm>
            <a:off x="3143250" y="1981200"/>
            <a:ext cx="2476500" cy="1047750"/>
          </a:xfrm>
          <a:prstGeom prst="line">
            <a:avLst/>
          </a:prstGeom>
          <a:noFill/>
          <a:ln w="2857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489EA39E-9501-4898-A995-39B7E19B651B}"/>
              </a:ext>
            </a:extLst>
          </p:cNvPr>
          <p:cNvSpPr>
            <a:spLocks noGrp="1"/>
          </p:cNvSpPr>
          <p:nvPr/>
        </p:nvSpPr>
        <p:spPr>
          <a:xfrm>
            <a:off x="3143250" y="3028950"/>
            <a:ext cx="2476500" cy="9525"/>
          </a:xfrm>
          <a:prstGeom prst="line">
            <a:avLst/>
          </a:prstGeom>
          <a:noFill/>
          <a:ln w="2857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1CDE9B3-9127-4074-8981-17AD06D93D8C}"/>
              </a:ext>
            </a:extLst>
          </p:cNvPr>
          <p:cNvSpPr>
            <a:spLocks noGrp="1"/>
          </p:cNvSpPr>
          <p:nvPr/>
        </p:nvSpPr>
        <p:spPr>
          <a:xfrm>
            <a:off x="3143250" y="3028950"/>
            <a:ext cx="2476500" cy="1047750"/>
          </a:xfrm>
          <a:prstGeom prst="line">
            <a:avLst/>
          </a:prstGeom>
          <a:noFill/>
          <a:ln w="2857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3C4AE5-C363-489F-AB86-4B387A3290AC}"/>
              </a:ext>
            </a:extLst>
          </p:cNvPr>
          <p:cNvSpPr>
            <a:spLocks noGrp="1"/>
          </p:cNvSpPr>
          <p:nvPr/>
        </p:nvSpPr>
        <p:spPr>
          <a:xfrm>
            <a:off x="6096000" y="1885950"/>
            <a:ext cx="2381250" cy="800100"/>
          </a:xfrm>
          <a:prstGeom prst="roundRect">
            <a:avLst>
              <a:gd name="adj" fmla="val 21429"/>
            </a:avLst>
          </a:prstGeom>
          <a:solidFill>
            <a:srgbClr val="102D47"/>
          </a:solidFill>
          <a:ln w="9525">
            <a:solidFill>
              <a:srgbClr val="00C9EB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Target 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B6DF68-DCCE-4FB0-A65D-206A8F40DAAB}"/>
              </a:ext>
            </a:extLst>
          </p:cNvPr>
          <p:cNvSpPr>
            <a:spLocks noGrp="1"/>
          </p:cNvSpPr>
          <p:nvPr/>
        </p:nvSpPr>
        <p:spPr>
          <a:xfrm>
            <a:off x="8858250" y="2057400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00C9EB"/>
                </a:solidFill>
              </a:defRPr>
            </a:pPr>
            <a:r>
              <a:rPr sz="2250" b="1">
                <a:solidFill>
                  <a:srgbClr val="00C9EB"/>
                </a:solidFill>
              </a:rPr>
              <a:t>60%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BAABE8-A126-43A7-80F5-2F139521273E}"/>
              </a:ext>
            </a:extLst>
          </p:cNvPr>
          <p:cNvSpPr>
            <a:spLocks noGrp="1"/>
          </p:cNvSpPr>
          <p:nvPr/>
        </p:nvSpPr>
        <p:spPr>
          <a:xfrm>
            <a:off x="6096000" y="2933700"/>
            <a:ext cx="2381250" cy="800100"/>
          </a:xfrm>
          <a:prstGeom prst="roundRect">
            <a:avLst>
              <a:gd name="adj" fmla="val 21429"/>
            </a:avLst>
          </a:prstGeom>
          <a:solidFill>
            <a:srgbClr val="102D47"/>
          </a:solidFill>
          <a:ln w="9525">
            <a:solidFill>
              <a:srgbClr val="9A8CFF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Target 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DE4373-88D3-429F-8879-5DA7A3AD3E44}"/>
              </a:ext>
            </a:extLst>
          </p:cNvPr>
          <p:cNvSpPr>
            <a:spLocks noGrp="1"/>
          </p:cNvSpPr>
          <p:nvPr/>
        </p:nvSpPr>
        <p:spPr>
          <a:xfrm>
            <a:off x="8858250" y="3105150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9A8CFF"/>
                </a:solidFill>
              </a:defRPr>
            </a:pPr>
            <a:r>
              <a:rPr sz="2250" b="1">
                <a:solidFill>
                  <a:srgbClr val="9A8CFF"/>
                </a:solidFill>
              </a:rPr>
              <a:t>30%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BA3EC67-48B6-4DB1-8B29-46545730A1F8}"/>
              </a:ext>
            </a:extLst>
          </p:cNvPr>
          <p:cNvSpPr>
            <a:spLocks noGrp="1"/>
          </p:cNvSpPr>
          <p:nvPr/>
        </p:nvSpPr>
        <p:spPr>
          <a:xfrm>
            <a:off x="6096000" y="3981450"/>
            <a:ext cx="2381250" cy="800100"/>
          </a:xfrm>
          <a:prstGeom prst="roundRect">
            <a:avLst>
              <a:gd name="adj" fmla="val 21429"/>
            </a:avLst>
          </a:prstGeom>
          <a:solidFill>
            <a:srgbClr val="102D47"/>
          </a:solidFill>
          <a:ln w="9525">
            <a:solidFill>
              <a:srgbClr val="42D5A4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Target 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640778-939B-41A2-8B29-36C83E2AC16F}"/>
              </a:ext>
            </a:extLst>
          </p:cNvPr>
          <p:cNvSpPr>
            <a:spLocks noGrp="1"/>
          </p:cNvSpPr>
          <p:nvPr/>
        </p:nvSpPr>
        <p:spPr>
          <a:xfrm>
            <a:off x="8858250" y="4152900"/>
            <a:ext cx="152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42D5A4"/>
                </a:solidFill>
              </a:defRPr>
            </a:pPr>
            <a:r>
              <a:rPr sz="2250" b="1">
                <a:solidFill>
                  <a:srgbClr val="42D5A4"/>
                </a:solidFill>
              </a:rPr>
              <a:t>10%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6BA405-CF17-4149-972E-3B13490E2F94}"/>
              </a:ext>
            </a:extLst>
          </p:cNvPr>
          <p:cNvSpPr>
            <a:spLocks noGrp="1"/>
          </p:cNvSpPr>
          <p:nvPr/>
        </p:nvSpPr>
        <p:spPr>
          <a:xfrm>
            <a:off x="1771650" y="53340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D9EEFF"/>
                </a:solidFill>
              </a:defRPr>
            </a:pPr>
            <a:r>
              <a:rPr sz="1650" b="1">
                <a:solidFill>
                  <a:srgbClr val="D9EEFF"/>
                </a:solidFill>
              </a:rPr>
              <a:t>The selected target is probabilistic; retry and fallback remain deterministic.</a:t>
            </a:r>
          </a:p>
        </p:txBody>
      </p:sp>
    </p:spTree>
    <p:extLst>
      <p:ext uri="{BB962C8B-B14F-4D97-AF65-F5344CB8AC3E}">
        <p14:creationId xmlns:p14="http://schemas.microsoft.com/office/powerpoint/2010/main" val="2086935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rand-rail">
            <a:extLst>
              <a:ext uri="{FF2B5EF4-FFF2-40B4-BE49-F238E27FC236}">
                <a16:creationId xmlns:a16="http://schemas.microsoft.com/office/drawing/2014/main" id="{CB60C094-DC70-4BBC-99CF-BEFC2BA776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4886EDC6-6AE0-48F0-B21F-375AF8D87CD2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BCE1"/>
                </a:solidFill>
              </a:defRPr>
            </a:pPr>
            <a:r>
              <a:rPr sz="1050" b="1">
                <a:solidFill>
                  <a:srgbClr val="00BCE1"/>
                </a:solidFill>
              </a:rPr>
              <a:t>ROUTING STRATEGIES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0F7225EF-7406-41BB-BFA4-AB171DB250A3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8233E"/>
                </a:solidFill>
              </a:defRPr>
            </a:pPr>
            <a:r>
              <a:rPr sz="2700" b="1">
                <a:solidFill>
                  <a:srgbClr val="08233E"/>
                </a:solidFill>
              </a:rPr>
              <a:t>Strategy is a policy choice—not application code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9ABAEC78-C7D5-4B4F-AB04-15CD1D748E47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C386B4-BBC6-43D8-8BA0-CA6469D26E50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641DB2-CA65-4243-B4B7-187B98052D35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5AF0FC-7728-4022-A87E-4963A7D0CD8C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BCE1"/>
                </a:solidFill>
              </a:defRPr>
            </a:pPr>
            <a:r>
              <a:rPr sz="1050" b="1">
                <a:solidFill>
                  <a:srgbClr val="00BCE1"/>
                </a:solidFill>
              </a:rPr>
              <a:t>CORE VIRTUAL MODEL STRATEGIES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83EAAE-6C28-4076-BDE3-3ACA31D6C331}"/>
              </a:ext>
            </a:extLst>
          </p:cNvPr>
          <p:cNvSpPr>
            <a:spLocks noGrp="1"/>
          </p:cNvSpPr>
          <p:nvPr/>
        </p:nvSpPr>
        <p:spPr>
          <a:xfrm>
            <a:off x="666750" y="23241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8233E"/>
                </a:solidFill>
              </a:defRPr>
            </a:pPr>
            <a:r>
              <a:rPr sz="1950" b="1">
                <a:solidFill>
                  <a:srgbClr val="08233E"/>
                </a:solidFill>
              </a:rPr>
              <a:t>Priority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28D97D-992C-45D9-8269-E9C6C05E8CD2}"/>
              </a:ext>
            </a:extLst>
          </p:cNvPr>
          <p:cNvSpPr>
            <a:spLocks noGrp="1"/>
          </p:cNvSpPr>
          <p:nvPr/>
        </p:nvSpPr>
        <p:spPr>
          <a:xfrm>
            <a:off x="3429000" y="23241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8233E"/>
                </a:solidFill>
              </a:defRPr>
            </a:pPr>
            <a:r>
              <a:rPr sz="1950" b="1">
                <a:solidFill>
                  <a:srgbClr val="08233E"/>
                </a:solidFill>
              </a:rPr>
              <a:t>Weighted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835510-E085-479E-9AC9-BE032D297B52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E7189"/>
                </a:solidFill>
              </a:defRPr>
            </a:pPr>
            <a:r>
              <a:rPr sz="1275" b="0">
                <a:solidFill>
                  <a:srgbClr val="4E7189"/>
                </a:solidFill>
              </a:rPr>
              <a:t>Ordered resilience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ADECC1-8BC4-4784-83F5-6C918DD7F211}"/>
              </a:ext>
            </a:extLst>
          </p:cNvPr>
          <p:cNvSpPr>
            <a:spLocks noGrp="1"/>
          </p:cNvSpPr>
          <p:nvPr/>
        </p:nvSpPr>
        <p:spPr>
          <a:xfrm>
            <a:off x="3429000" y="27241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E7189"/>
                </a:solidFill>
              </a:defRPr>
            </a:pPr>
            <a:r>
              <a:rPr sz="1275" b="0">
                <a:solidFill>
                  <a:srgbClr val="4E7189"/>
                </a:solidFill>
              </a:rPr>
              <a:t>Traffic distribution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CD54E126-11FC-442D-95B7-DED1E570AE80}"/>
              </a:ext>
            </a:extLst>
          </p:cNvPr>
          <p:cNvSpPr>
            <a:spLocks noGrp="1"/>
          </p:cNvSpPr>
          <p:nvPr/>
        </p:nvSpPr>
        <p:spPr>
          <a:xfrm>
            <a:off x="666750" y="3219450"/>
            <a:ext cx="4953000" cy="9525"/>
          </a:xfrm>
          <a:prstGeom prst="line">
            <a:avLst/>
          </a:prstGeom>
          <a:noFill/>
          <a:ln w="1905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214AA6-4100-4B12-BCF2-71A8A101D28A}"/>
              </a:ext>
            </a:extLst>
          </p:cNvPr>
          <p:cNvSpPr>
            <a:spLocks noGrp="1"/>
          </p:cNvSpPr>
          <p:nvPr/>
        </p:nvSpPr>
        <p:spPr>
          <a:xfrm>
            <a:off x="666750" y="36385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9A8CFF"/>
                </a:solidFill>
              </a:defRPr>
            </a:pPr>
            <a:r>
              <a:rPr sz="1050" b="1">
                <a:solidFill>
                  <a:srgbClr val="9A8CFF"/>
                </a:solidFill>
              </a:rPr>
              <a:t>EXTENSIBLE POLICY STRATEGIES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FA464D-0773-48A8-BA18-4A1EBA914394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8233E"/>
                </a:solidFill>
              </a:defRPr>
            </a:pPr>
            <a:r>
              <a:rPr sz="1500" b="1">
                <a:solidFill>
                  <a:srgbClr val="08233E"/>
                </a:solidFill>
              </a:rPr>
              <a:t>Lowest cost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B4CE71-478C-4345-BCBC-666C00326F69}"/>
              </a:ext>
            </a:extLst>
          </p:cNvPr>
          <p:cNvSpPr>
            <a:spLocks noGrp="1"/>
          </p:cNvSpPr>
          <p:nvPr/>
        </p:nvSpPr>
        <p:spPr>
          <a:xfrm>
            <a:off x="666750" y="44005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4E7189"/>
                </a:solidFill>
              </a:defRPr>
            </a:pPr>
            <a:r>
              <a:rPr sz="1125" b="0">
                <a:solidFill>
                  <a:srgbClr val="4E7189"/>
                </a:solidFill>
              </a:rPr>
              <a:t>optimize unit economics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83AE10-E655-489F-8DBD-2D28C5B2C3FA}"/>
              </a:ext>
            </a:extLst>
          </p:cNvPr>
          <p:cNvSpPr>
            <a:spLocks noGrp="1"/>
          </p:cNvSpPr>
          <p:nvPr/>
        </p:nvSpPr>
        <p:spPr>
          <a:xfrm>
            <a:off x="3619500" y="40957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8233E"/>
                </a:solidFill>
              </a:defRPr>
            </a:pPr>
            <a:r>
              <a:rPr sz="1500" b="1">
                <a:solidFill>
                  <a:srgbClr val="08233E"/>
                </a:solidFill>
              </a:rPr>
              <a:t>Lowest latency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DB6DA9-B255-475B-9FDD-C0946DA2F77A}"/>
              </a:ext>
            </a:extLst>
          </p:cNvPr>
          <p:cNvSpPr>
            <a:spLocks noGrp="1"/>
          </p:cNvSpPr>
          <p:nvPr/>
        </p:nvSpPr>
        <p:spPr>
          <a:xfrm>
            <a:off x="3619500" y="44005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4E7189"/>
                </a:solidFill>
              </a:defRPr>
            </a:pPr>
            <a:r>
              <a:rPr sz="1125" b="0">
                <a:solidFill>
                  <a:srgbClr val="4E7189"/>
                </a:solidFill>
              </a:rPr>
              <a:t>optimize response time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EA0865-D743-4B2F-AB79-52B3B42BFDC9}"/>
              </a:ext>
            </a:extLst>
          </p:cNvPr>
          <p:cNvSpPr>
            <a:spLocks noGrp="1"/>
          </p:cNvSpPr>
          <p:nvPr/>
        </p:nvSpPr>
        <p:spPr>
          <a:xfrm>
            <a:off x="666750" y="48768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8233E"/>
                </a:solidFill>
              </a:defRPr>
            </a:pPr>
            <a:r>
              <a:rPr sz="1500" b="1">
                <a:solidFill>
                  <a:srgbClr val="08233E"/>
                </a:solidFill>
              </a:rPr>
              <a:t>Least busy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8537B8-3B60-4C25-A2E1-2823CCD9110C}"/>
              </a:ext>
            </a:extLst>
          </p:cNvPr>
          <p:cNvSpPr>
            <a:spLocks noGrp="1"/>
          </p:cNvSpPr>
          <p:nvPr/>
        </p:nvSpPr>
        <p:spPr>
          <a:xfrm>
            <a:off x="666750" y="51816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4E7189"/>
                </a:solidFill>
              </a:defRPr>
            </a:pPr>
            <a:r>
              <a:rPr sz="1125" b="0">
                <a:solidFill>
                  <a:srgbClr val="4E7189"/>
                </a:solidFill>
              </a:rPr>
              <a:t>balance live capacity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853AAC-427F-4B80-8BF7-ECA67FE07563}"/>
              </a:ext>
            </a:extLst>
          </p:cNvPr>
          <p:cNvSpPr>
            <a:spLocks noGrp="1"/>
          </p:cNvSpPr>
          <p:nvPr/>
        </p:nvSpPr>
        <p:spPr>
          <a:xfrm>
            <a:off x="3619500" y="48768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8233E"/>
                </a:solidFill>
              </a:defRPr>
            </a:pPr>
            <a:r>
              <a:rPr sz="1500" b="1">
                <a:solidFill>
                  <a:srgbClr val="08233E"/>
                </a:solidFill>
              </a:rPr>
              <a:t>Simple shuffle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CAB80A-A793-4F8E-B830-3D4351B0D7C4}"/>
              </a:ext>
            </a:extLst>
          </p:cNvPr>
          <p:cNvSpPr>
            <a:spLocks noGrp="1"/>
          </p:cNvSpPr>
          <p:nvPr/>
        </p:nvSpPr>
        <p:spPr>
          <a:xfrm>
            <a:off x="3619500" y="51816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4E7189"/>
                </a:solidFill>
              </a:defRPr>
            </a:pPr>
            <a:r>
              <a:rPr sz="1125" b="0">
                <a:solidFill>
                  <a:srgbClr val="4E7189"/>
                </a:solidFill>
              </a:rPr>
              <a:t>spread attempts simply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DC7AA78-0E98-44DD-8324-A75A859F0D96}"/>
              </a:ext>
            </a:extLst>
          </p:cNvPr>
          <p:cNvSpPr>
            <a:spLocks noGrp="1"/>
          </p:cNvSpPr>
          <p:nvPr/>
        </p:nvSpPr>
        <p:spPr>
          <a:xfrm>
            <a:off x="6781800" y="1962150"/>
            <a:ext cx="4057650" cy="3238500"/>
          </a:xfrm>
          <a:prstGeom prst="roundRect">
            <a:avLst>
              <a:gd name="adj" fmla="val 7059"/>
            </a:avLst>
          </a:prstGeom>
          <a:solidFill>
            <a:srgbClr val="012651"/>
          </a:solidFill>
          <a:ln w="9525">
            <a:solidFill>
              <a:srgbClr val="0126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56F946-CE76-44B4-B3E9-FFFA34B0434C}"/>
              </a:ext>
            </a:extLst>
          </p:cNvPr>
          <p:cNvSpPr>
            <a:spLocks noGrp="1"/>
          </p:cNvSpPr>
          <p:nvPr/>
        </p:nvSpPr>
        <p:spPr>
          <a:xfrm>
            <a:off x="7315200" y="2400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6FBFF"/>
                </a:solidFill>
              </a:defRPr>
            </a:pPr>
            <a:r>
              <a:rPr sz="1800" b="1">
                <a:solidFill>
                  <a:srgbClr val="F6FBFF"/>
                </a:solidFill>
              </a:rPr>
              <a:t>app request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DC580F-C4D6-439D-9935-503F9288C941}"/>
              </a:ext>
            </a:extLst>
          </p:cNvPr>
          <p:cNvSpPr>
            <a:spLocks noGrp="1"/>
          </p:cNvSpPr>
          <p:nvPr/>
        </p:nvSpPr>
        <p:spPr>
          <a:xfrm>
            <a:off x="7334250" y="29337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00C9EB"/>
                </a:solidFill>
              </a:defRPr>
            </a:pPr>
            <a:r>
              <a:rPr sz="1350" b="1">
                <a:solidFill>
                  <a:srgbClr val="00C9EB"/>
                </a:solidFill>
              </a:rPr>
              <a:t>model: "support-smart"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9ABB4950-2E57-4AFC-B36A-BE10C587A8EE}"/>
              </a:ext>
            </a:extLst>
          </p:cNvPr>
          <p:cNvSpPr>
            <a:spLocks noGrp="1"/>
          </p:cNvSpPr>
          <p:nvPr/>
        </p:nvSpPr>
        <p:spPr>
          <a:xfrm>
            <a:off x="8810625" y="3505200"/>
            <a:ext cx="9525" cy="590550"/>
          </a:xfrm>
          <a:prstGeom prst="line">
            <a:avLst/>
          </a:prstGeom>
          <a:noFill/>
          <a:ln w="38100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E27873-3A9A-47D5-A937-EF0AE3010A57}"/>
              </a:ext>
            </a:extLst>
          </p:cNvPr>
          <p:cNvSpPr>
            <a:spLocks noGrp="1"/>
          </p:cNvSpPr>
          <p:nvPr/>
        </p:nvSpPr>
        <p:spPr>
          <a:xfrm>
            <a:off x="7334250" y="4267200"/>
            <a:ext cx="2914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D9EEFF"/>
                </a:solidFill>
              </a:defRPr>
            </a:pPr>
            <a:r>
              <a:rPr sz="1500" b="1">
                <a:solidFill>
                  <a:srgbClr val="D9EEFF"/>
                </a:solidFill>
              </a:rPr>
              <a:t>Routing policy can change</a:t>
            </a:r>
          </a:p>
          <a:p>
            <a:pPr algn="ctr">
              <a:defRPr sz="1500" b="1">
                <a:solidFill>
                  <a:srgbClr val="D9EEFF"/>
                </a:solidFill>
              </a:defRPr>
            </a:pPr>
            <a:r>
              <a:rPr sz="1500" b="1">
                <a:solidFill>
                  <a:srgbClr val="D9EEFF"/>
                </a:solidFill>
              </a:rPr>
              <a:t>without a new product release.</a:t>
            </a:r>
          </a:p>
        </p:txBody>
      </p:sp>
    </p:spTree>
    <p:extLst>
      <p:ext uri="{BB962C8B-B14F-4D97-AF65-F5344CB8AC3E}">
        <p14:creationId xmlns:p14="http://schemas.microsoft.com/office/powerpoint/2010/main" val="982492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rand-rail">
            <a:extLst>
              <a:ext uri="{FF2B5EF4-FFF2-40B4-BE49-F238E27FC236}">
                <a16:creationId xmlns:a16="http://schemas.microsoft.com/office/drawing/2014/main" id="{9ADC587B-5F4F-488B-B5B6-80D973CAD3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22C58EB3-F9BD-45C7-99D7-12B6400BBF35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ROUTING RESILIENCE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15B17528-1F7B-4C60-ADB8-A7EA1E1B97FA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Retries, cooldowns, and fallback protect availability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88E341EE-DE6A-4FCE-9899-50CE43BBF665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110B6E-2013-4CE3-AA8D-D1F60816137E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A855C5-680A-4AF1-9AC5-FC562AB9399B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17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956EC11-6042-4BD3-8549-AD10BF86BEC5}"/>
              </a:ext>
            </a:extLst>
          </p:cNvPr>
          <p:cNvSpPr>
            <a:spLocks noGrp="1"/>
          </p:cNvSpPr>
          <p:nvPr/>
        </p:nvSpPr>
        <p:spPr>
          <a:xfrm>
            <a:off x="1524000" y="3143250"/>
            <a:ext cx="8477250" cy="9525"/>
          </a:xfrm>
          <a:prstGeom prst="line">
            <a:avLst/>
          </a:prstGeom>
          <a:noFill/>
          <a:ln w="38100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4464AA-BF4A-472D-AA0A-5DAB11BC11B1}"/>
              </a:ext>
            </a:extLst>
          </p:cNvPr>
          <p:cNvSpPr>
            <a:spLocks noGrp="1"/>
          </p:cNvSpPr>
          <p:nvPr/>
        </p:nvSpPr>
        <p:spPr>
          <a:xfrm>
            <a:off x="1295400" y="2647950"/>
            <a:ext cx="800100" cy="800100"/>
          </a:xfrm>
          <a:prstGeom prst="ellipse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090C3C-374F-4E94-9745-E8D90ECF92F0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80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06182D"/>
                </a:solidFill>
              </a:defRPr>
            </a:pPr>
            <a:r>
              <a:rPr sz="1875" b="1">
                <a:solidFill>
                  <a:srgbClr val="06182D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0F6029-B5C1-4810-B1D2-09DCD407E61B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Attempt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A28C2D-9FF0-449F-AA16-BEE6642E94CF}"/>
              </a:ext>
            </a:extLst>
          </p:cNvPr>
          <p:cNvSpPr>
            <a:spLocks noGrp="1"/>
          </p:cNvSpPr>
          <p:nvPr/>
        </p:nvSpPr>
        <p:spPr>
          <a:xfrm>
            <a:off x="857250" y="41148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8FB5CF"/>
                </a:solidFill>
              </a:defRPr>
            </a:pPr>
            <a:r>
              <a:rPr sz="1200" b="0">
                <a:solidFill>
                  <a:srgbClr val="8FB5CF"/>
                </a:solidFill>
              </a:rPr>
              <a:t>target 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7F711B-47F7-4656-85C4-CD84712B7FB1}"/>
              </a:ext>
            </a:extLst>
          </p:cNvPr>
          <p:cNvSpPr>
            <a:spLocks noGrp="1"/>
          </p:cNvSpPr>
          <p:nvPr/>
        </p:nvSpPr>
        <p:spPr>
          <a:xfrm>
            <a:off x="4019550" y="2647950"/>
            <a:ext cx="800100" cy="800100"/>
          </a:xfrm>
          <a:prstGeom prst="ellipse">
            <a:avLst/>
          </a:prstGeom>
          <a:solidFill>
            <a:srgbClr val="9A8C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7C81FC-FB52-48DC-821B-A7C9E043ECB5}"/>
              </a:ext>
            </a:extLst>
          </p:cNvPr>
          <p:cNvSpPr>
            <a:spLocks noGrp="1"/>
          </p:cNvSpPr>
          <p:nvPr/>
        </p:nvSpPr>
        <p:spPr>
          <a:xfrm>
            <a:off x="4019550" y="2857500"/>
            <a:ext cx="80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06182D"/>
                </a:solidFill>
              </a:defRPr>
            </a:pPr>
            <a:r>
              <a:rPr sz="1875" b="1">
                <a:solidFill>
                  <a:srgbClr val="06182D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414759-4EE9-4E08-9BE1-A4F3048386E7}"/>
              </a:ext>
            </a:extLst>
          </p:cNvPr>
          <p:cNvSpPr>
            <a:spLocks noGrp="1"/>
          </p:cNvSpPr>
          <p:nvPr/>
        </p:nvSpPr>
        <p:spPr>
          <a:xfrm>
            <a:off x="3581400" y="3733800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Retry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CC3D64-9F32-4D0E-B52C-F2804817C3A3}"/>
              </a:ext>
            </a:extLst>
          </p:cNvPr>
          <p:cNvSpPr>
            <a:spLocks noGrp="1"/>
          </p:cNvSpPr>
          <p:nvPr/>
        </p:nvSpPr>
        <p:spPr>
          <a:xfrm>
            <a:off x="3581400" y="41148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8FB5CF"/>
                </a:solidFill>
              </a:defRPr>
            </a:pPr>
            <a:r>
              <a:rPr sz="1200" b="0">
                <a:solidFill>
                  <a:srgbClr val="8FB5CF"/>
                </a:solidFill>
              </a:rPr>
              <a:t>same policy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DAE3768-E0C5-4BF0-8FA2-0EAF560003B3}"/>
              </a:ext>
            </a:extLst>
          </p:cNvPr>
          <p:cNvSpPr>
            <a:spLocks noGrp="1"/>
          </p:cNvSpPr>
          <p:nvPr/>
        </p:nvSpPr>
        <p:spPr>
          <a:xfrm>
            <a:off x="6743700" y="2647950"/>
            <a:ext cx="800100" cy="800100"/>
          </a:xfrm>
          <a:prstGeom prst="ellipse">
            <a:avLst/>
          </a:prstGeom>
          <a:solidFill>
            <a:srgbClr val="FFC8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E4180E-B9D5-465B-A3D4-3044F1EBC31F}"/>
              </a:ext>
            </a:extLst>
          </p:cNvPr>
          <p:cNvSpPr>
            <a:spLocks noGrp="1"/>
          </p:cNvSpPr>
          <p:nvPr/>
        </p:nvSpPr>
        <p:spPr>
          <a:xfrm>
            <a:off x="6743700" y="2857500"/>
            <a:ext cx="80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06182D"/>
                </a:solidFill>
              </a:defRPr>
            </a:pPr>
            <a:r>
              <a:rPr sz="1875" b="1">
                <a:solidFill>
                  <a:srgbClr val="06182D"/>
                </a:solidFill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34D7FA-1D1C-4E77-B171-086C4B227937}"/>
              </a:ext>
            </a:extLst>
          </p:cNvPr>
          <p:cNvSpPr>
            <a:spLocks noGrp="1"/>
          </p:cNvSpPr>
          <p:nvPr/>
        </p:nvSpPr>
        <p:spPr>
          <a:xfrm>
            <a:off x="6305550" y="3733800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Cooldown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96F85B-679F-4E71-9B2A-0A2539861027}"/>
              </a:ext>
            </a:extLst>
          </p:cNvPr>
          <p:cNvSpPr>
            <a:spLocks noGrp="1"/>
          </p:cNvSpPr>
          <p:nvPr/>
        </p:nvSpPr>
        <p:spPr>
          <a:xfrm>
            <a:off x="6305550" y="41148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8FB5CF"/>
                </a:solidFill>
              </a:defRPr>
            </a:pPr>
            <a:r>
              <a:rPr sz="1200" b="0">
                <a:solidFill>
                  <a:srgbClr val="8FB5CF"/>
                </a:solidFill>
              </a:rPr>
              <a:t>unhealthy target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084B81E-B7DA-41D7-B86C-F2E060B56B72}"/>
              </a:ext>
            </a:extLst>
          </p:cNvPr>
          <p:cNvSpPr>
            <a:spLocks noGrp="1"/>
          </p:cNvSpPr>
          <p:nvPr/>
        </p:nvSpPr>
        <p:spPr>
          <a:xfrm>
            <a:off x="9467850" y="2647950"/>
            <a:ext cx="800100" cy="800100"/>
          </a:xfrm>
          <a:prstGeom prst="ellipse">
            <a:avLst/>
          </a:prstGeom>
          <a:solidFill>
            <a:srgbClr val="42D5A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DF124F-F68D-4DB3-91C7-12A91216A112}"/>
              </a:ext>
            </a:extLst>
          </p:cNvPr>
          <p:cNvSpPr>
            <a:spLocks noGrp="1"/>
          </p:cNvSpPr>
          <p:nvPr/>
        </p:nvSpPr>
        <p:spPr>
          <a:xfrm>
            <a:off x="9467850" y="2857500"/>
            <a:ext cx="80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06182D"/>
                </a:solidFill>
              </a:defRPr>
            </a:pPr>
            <a:r>
              <a:rPr sz="1875" b="1">
                <a:solidFill>
                  <a:srgbClr val="06182D"/>
                </a:solidFill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B726EC-88CE-441E-9728-738E77ECF51F}"/>
              </a:ext>
            </a:extLst>
          </p:cNvPr>
          <p:cNvSpPr>
            <a:spLocks noGrp="1"/>
          </p:cNvSpPr>
          <p:nvPr/>
        </p:nvSpPr>
        <p:spPr>
          <a:xfrm>
            <a:off x="9029700" y="3733800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Fallback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35FD89-4521-47FB-A2AA-D441A9FCE709}"/>
              </a:ext>
            </a:extLst>
          </p:cNvPr>
          <p:cNvSpPr>
            <a:spLocks noGrp="1"/>
          </p:cNvSpPr>
          <p:nvPr/>
        </p:nvSpPr>
        <p:spPr>
          <a:xfrm>
            <a:off x="9029700" y="41148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8FB5CF"/>
                </a:solidFill>
              </a:defRPr>
            </a:pPr>
            <a:r>
              <a:rPr sz="1200" b="0">
                <a:solidFill>
                  <a:srgbClr val="8FB5CF"/>
                </a:solidFill>
              </a:rPr>
              <a:t>next target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FC8AF5C-82BD-4169-A5BF-2C7DB932E144}"/>
              </a:ext>
            </a:extLst>
          </p:cNvPr>
          <p:cNvSpPr>
            <a:spLocks noGrp="1"/>
          </p:cNvSpPr>
          <p:nvPr/>
        </p:nvSpPr>
        <p:spPr>
          <a:xfrm>
            <a:off x="2362200" y="5010150"/>
            <a:ext cx="7467600" cy="685800"/>
          </a:xfrm>
          <a:prstGeom prst="roundRect">
            <a:avLst>
              <a:gd name="adj" fmla="val 25000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D422DB-F0E8-4F4A-9BDE-037701F6CE46}"/>
              </a:ext>
            </a:extLst>
          </p:cNvPr>
          <p:cNvSpPr>
            <a:spLocks noGrp="1"/>
          </p:cNvSpPr>
          <p:nvPr/>
        </p:nvSpPr>
        <p:spPr>
          <a:xfrm>
            <a:off x="2724150" y="5200650"/>
            <a:ext cx="6743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D9EEFF"/>
                </a:solidFill>
              </a:defRPr>
            </a:pPr>
            <a:r>
              <a:rPr sz="1650" b="1">
                <a:solidFill>
                  <a:srgbClr val="D9EEFF"/>
                </a:solidFill>
              </a:rPr>
              <a:t>Failure behavior is centralized, observable, and consistent.</a:t>
            </a:r>
          </a:p>
        </p:txBody>
      </p:sp>
    </p:spTree>
    <p:extLst>
      <p:ext uri="{BB962C8B-B14F-4D97-AF65-F5344CB8AC3E}">
        <p14:creationId xmlns:p14="http://schemas.microsoft.com/office/powerpoint/2010/main" val="1437653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rand-rail">
            <a:extLst>
              <a:ext uri="{FF2B5EF4-FFF2-40B4-BE49-F238E27FC236}">
                <a16:creationId xmlns:a16="http://schemas.microsoft.com/office/drawing/2014/main" id="{42C67878-8EEA-4AE2-B135-BB0E02EA4C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00B4B7F3-D189-4DB0-A0DC-1A5BA97DBF3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BCE1"/>
                </a:solidFill>
              </a:defRPr>
            </a:pPr>
            <a:r>
              <a:rPr sz="1050" b="1">
                <a:solidFill>
                  <a:srgbClr val="00BCE1"/>
                </a:solidFill>
              </a:rPr>
              <a:t>IDENTITY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B481684-6103-4012-910A-1BB61483C021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8233E"/>
                </a:solidFill>
              </a:defRPr>
            </a:pPr>
            <a:r>
              <a:rPr sz="2700" b="1">
                <a:solidFill>
                  <a:srgbClr val="08233E"/>
                </a:solidFill>
              </a:rPr>
              <a:t>PAT and VAT separate human and service identities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362BDB2A-AF8D-4DB5-9945-E9ABE302D5A1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6B0E20-0636-4DA6-A08D-69C14FB612F2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262320-A118-463F-B572-E56B70A039FF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18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CA0D1B-FFA7-4D89-913A-A502C92D81BA}"/>
              </a:ext>
            </a:extLst>
          </p:cNvPr>
          <p:cNvSpPr>
            <a:spLocks noGrp="1"/>
          </p:cNvSpPr>
          <p:nvPr/>
        </p:nvSpPr>
        <p:spPr>
          <a:xfrm>
            <a:off x="1200150" y="2152650"/>
            <a:ext cx="1809750" cy="1809750"/>
          </a:xfrm>
          <a:prstGeom prst="ellipse">
            <a:avLst/>
          </a:prstGeom>
          <a:solidFill>
            <a:srgbClr val="D8EDF8"/>
          </a:solidFill>
          <a:ln w="9525">
            <a:solidFill>
              <a:srgbClr val="00BC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7A6EC5-43B5-4CB0-A233-44915F9C2342}"/>
              </a:ext>
            </a:extLst>
          </p:cNvPr>
          <p:cNvSpPr>
            <a:spLocks noGrp="1"/>
          </p:cNvSpPr>
          <p:nvPr/>
        </p:nvSpPr>
        <p:spPr>
          <a:xfrm>
            <a:off x="1200150" y="255270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850" b="1">
                <a:solidFill>
                  <a:srgbClr val="012651"/>
                </a:solidFill>
              </a:defRPr>
            </a:pPr>
            <a:r>
              <a:rPr sz="2850" b="1">
                <a:solidFill>
                  <a:srgbClr val="012651"/>
                </a:solidFill>
              </a:rPr>
              <a:t>PAT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6FD42F-3BDD-4238-913D-A6278F1554DA}"/>
              </a:ext>
            </a:extLst>
          </p:cNvPr>
          <p:cNvSpPr>
            <a:spLocks noGrp="1"/>
          </p:cNvSpPr>
          <p:nvPr/>
        </p:nvSpPr>
        <p:spPr>
          <a:xfrm>
            <a:off x="1200150" y="31051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4E7189"/>
                </a:solidFill>
              </a:defRPr>
            </a:pPr>
            <a:r>
              <a:rPr sz="1350" b="1">
                <a:solidFill>
                  <a:srgbClr val="4E7189"/>
                </a:solidFill>
              </a:rPr>
              <a:t>human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E8CB6F0-A5E5-4BFC-A80D-725A89EA6CCE}"/>
              </a:ext>
            </a:extLst>
          </p:cNvPr>
          <p:cNvSpPr>
            <a:spLocks noGrp="1"/>
          </p:cNvSpPr>
          <p:nvPr/>
        </p:nvSpPr>
        <p:spPr>
          <a:xfrm>
            <a:off x="4495800" y="2152650"/>
            <a:ext cx="1809750" cy="1809750"/>
          </a:xfrm>
          <a:prstGeom prst="ellipse">
            <a:avLst/>
          </a:prstGeom>
          <a:solidFill>
            <a:srgbClr val="012651"/>
          </a:solidFill>
          <a:ln w="9525">
            <a:solidFill>
              <a:srgbClr val="0126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8FCF56-65A9-4DA6-923E-96B404D62F10}"/>
              </a:ext>
            </a:extLst>
          </p:cNvPr>
          <p:cNvSpPr>
            <a:spLocks noGrp="1"/>
          </p:cNvSpPr>
          <p:nvPr/>
        </p:nvSpPr>
        <p:spPr>
          <a:xfrm>
            <a:off x="4495800" y="255270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850" b="1">
                <a:solidFill>
                  <a:srgbClr val="F6FBFF"/>
                </a:solidFill>
              </a:defRPr>
            </a:pPr>
            <a:r>
              <a:rPr sz="2850" b="1">
                <a:solidFill>
                  <a:srgbClr val="F6FBFF"/>
                </a:solidFill>
              </a:rPr>
              <a:t>VAT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F07E0-21C2-4E8A-939D-F38AF21D1F30}"/>
              </a:ext>
            </a:extLst>
          </p:cNvPr>
          <p:cNvSpPr>
            <a:spLocks noGrp="1"/>
          </p:cNvSpPr>
          <p:nvPr/>
        </p:nvSpPr>
        <p:spPr>
          <a:xfrm>
            <a:off x="4495800" y="31051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00C9EB"/>
                </a:solidFill>
              </a:defRPr>
            </a:pPr>
            <a:r>
              <a:rPr sz="1350" b="1">
                <a:solidFill>
                  <a:srgbClr val="00C9EB"/>
                </a:solidFill>
              </a:rPr>
              <a:t>service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381C659-0E45-4A1B-96E0-75A086BD6094}"/>
              </a:ext>
            </a:extLst>
          </p:cNvPr>
          <p:cNvSpPr>
            <a:spLocks noGrp="1"/>
          </p:cNvSpPr>
          <p:nvPr/>
        </p:nvSpPr>
        <p:spPr>
          <a:xfrm>
            <a:off x="7124700" y="2038350"/>
            <a:ext cx="9525" cy="2495550"/>
          </a:xfrm>
          <a:prstGeom prst="line">
            <a:avLst/>
          </a:prstGeom>
          <a:noFill/>
          <a:ln w="1905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9FDE3C3-8F8F-42C0-8DC6-D745A33F8784}"/>
              </a:ext>
            </a:extLst>
          </p:cNvPr>
          <p:cNvSpPr>
            <a:spLocks noGrp="1"/>
          </p:cNvSpPr>
          <p:nvPr/>
        </p:nvSpPr>
        <p:spPr>
          <a:xfrm>
            <a:off x="7677150" y="2257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B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4510F7-746D-4184-8ACC-5D394C71CF62}"/>
              </a:ext>
            </a:extLst>
          </p:cNvPr>
          <p:cNvSpPr>
            <a:spLocks noGrp="1"/>
          </p:cNvSpPr>
          <p:nvPr/>
        </p:nvSpPr>
        <p:spPr>
          <a:xfrm>
            <a:off x="7905750" y="2190750"/>
            <a:ext cx="320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8233E"/>
                </a:solidFill>
              </a:defRPr>
            </a:pPr>
            <a:r>
              <a:rPr sz="1350" b="0">
                <a:solidFill>
                  <a:srgbClr val="08233E"/>
                </a:solidFill>
              </a:rPr>
              <a:t>Same Bearer-token developer experience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A499CDB-981C-49AA-9B1C-4C31247143B4}"/>
              </a:ext>
            </a:extLst>
          </p:cNvPr>
          <p:cNvSpPr>
            <a:spLocks noGrp="1"/>
          </p:cNvSpPr>
          <p:nvPr/>
        </p:nvSpPr>
        <p:spPr>
          <a:xfrm>
            <a:off x="7677150" y="2905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B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C3C640-9767-4A84-9164-0697030C26B2}"/>
              </a:ext>
            </a:extLst>
          </p:cNvPr>
          <p:cNvSpPr>
            <a:spLocks noGrp="1"/>
          </p:cNvSpPr>
          <p:nvPr/>
        </p:nvSpPr>
        <p:spPr>
          <a:xfrm>
            <a:off x="7905750" y="2838450"/>
            <a:ext cx="320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8233E"/>
                </a:solidFill>
              </a:defRPr>
            </a:pPr>
            <a:r>
              <a:rPr sz="1350" b="0">
                <a:solidFill>
                  <a:srgbClr val="08233E"/>
                </a:solidFill>
              </a:rPr>
              <a:t>Different ownership and lifecycle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5280A57-AE74-4B84-B1EB-FEFDDC272078}"/>
              </a:ext>
            </a:extLst>
          </p:cNvPr>
          <p:cNvSpPr>
            <a:spLocks noGrp="1"/>
          </p:cNvSpPr>
          <p:nvPr/>
        </p:nvSpPr>
        <p:spPr>
          <a:xfrm>
            <a:off x="7677150" y="3552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B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8012F-31EC-41CD-8D6F-B0ABB0D9F712}"/>
              </a:ext>
            </a:extLst>
          </p:cNvPr>
          <p:cNvSpPr>
            <a:spLocks noGrp="1"/>
          </p:cNvSpPr>
          <p:nvPr/>
        </p:nvSpPr>
        <p:spPr>
          <a:xfrm>
            <a:off x="7905750" y="3486150"/>
            <a:ext cx="320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8233E"/>
                </a:solidFill>
              </a:defRPr>
            </a:pPr>
            <a:r>
              <a:rPr sz="1350" b="0">
                <a:solidFill>
                  <a:srgbClr val="08233E"/>
                </a:solidFill>
              </a:rPr>
              <a:t>Scoped model and policy access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AFC769D-5F7A-46D0-A1D4-3103D261D3C7}"/>
              </a:ext>
            </a:extLst>
          </p:cNvPr>
          <p:cNvSpPr>
            <a:spLocks noGrp="1"/>
          </p:cNvSpPr>
          <p:nvPr/>
        </p:nvSpPr>
        <p:spPr>
          <a:xfrm>
            <a:off x="7677150" y="42005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B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6C71BE-FD06-4BE5-B79C-D156EC4BB81F}"/>
              </a:ext>
            </a:extLst>
          </p:cNvPr>
          <p:cNvSpPr>
            <a:spLocks noGrp="1"/>
          </p:cNvSpPr>
          <p:nvPr/>
        </p:nvSpPr>
        <p:spPr>
          <a:xfrm>
            <a:off x="7905750" y="4133850"/>
            <a:ext cx="320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8233E"/>
                </a:solidFill>
              </a:defRPr>
            </a:pPr>
            <a:r>
              <a:rPr sz="1350" b="0">
                <a:solidFill>
                  <a:srgbClr val="08233E"/>
                </a:solidFill>
              </a:rPr>
              <a:t>Independent revoke and rotation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82C191-D244-4686-ABC1-28079F175509}"/>
              </a:ext>
            </a:extLst>
          </p:cNvPr>
          <p:cNvSpPr>
            <a:spLocks noGrp="1"/>
          </p:cNvSpPr>
          <p:nvPr/>
        </p:nvSpPr>
        <p:spPr>
          <a:xfrm>
            <a:off x="2038350" y="5219700"/>
            <a:ext cx="809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08233E"/>
                </a:solidFill>
              </a:defRPr>
            </a:pPr>
            <a:r>
              <a:rPr sz="1725" b="1">
                <a:solidFill>
                  <a:srgbClr val="08233E"/>
                </a:solidFill>
              </a:rPr>
              <a:t>Identity is the anchor for audit, policy, and billing.</a:t>
            </a:r>
          </a:p>
        </p:txBody>
      </p:sp>
    </p:spTree>
    <p:extLst>
      <p:ext uri="{BB962C8B-B14F-4D97-AF65-F5344CB8AC3E}">
        <p14:creationId xmlns:p14="http://schemas.microsoft.com/office/powerpoint/2010/main" val="1771795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rand-rail">
            <a:extLst>
              <a:ext uri="{FF2B5EF4-FFF2-40B4-BE49-F238E27FC236}">
                <a16:creationId xmlns:a16="http://schemas.microsoft.com/office/drawing/2014/main" id="{8B108420-DD87-4381-B7B9-3A56C125ED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CD7B4FD7-EACC-4AA7-BBDB-D2E57CEA0367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IDENTITY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26C87E28-D30E-48A2-AA4B-6BB9B64B8DAA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PAT for people; VAT for production workloads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3207A677-262B-49A8-BAD3-6849A7D25C73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31B50F-FF12-4F9C-95AA-D1D2E191EE5B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2A6199-13AA-4648-BD62-2423D0A5D89A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19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00DD2D-7B0B-4671-82C1-3C3511CF53FD}"/>
              </a:ext>
            </a:extLst>
          </p:cNvPr>
          <p:cNvSpPr>
            <a:spLocks noGrp="1"/>
          </p:cNvSpPr>
          <p:nvPr/>
        </p:nvSpPr>
        <p:spPr>
          <a:xfrm>
            <a:off x="1676400" y="19050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400" b="1">
                <a:solidFill>
                  <a:srgbClr val="00C9EB"/>
                </a:solidFill>
              </a:defRPr>
            </a:pPr>
            <a:r>
              <a:rPr sz="2400" b="1">
                <a:solidFill>
                  <a:srgbClr val="00C9EB"/>
                </a:solidFill>
              </a:rPr>
              <a:t>PAT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31B20E-C6E6-48D3-9429-76367CF5AB8E}"/>
              </a:ext>
            </a:extLst>
          </p:cNvPr>
          <p:cNvSpPr>
            <a:spLocks noGrp="1"/>
          </p:cNvSpPr>
          <p:nvPr/>
        </p:nvSpPr>
        <p:spPr>
          <a:xfrm>
            <a:off x="8172450" y="19050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400" b="1">
                <a:solidFill>
                  <a:srgbClr val="42D5A4"/>
                </a:solidFill>
              </a:defRPr>
            </a:pPr>
            <a:r>
              <a:rPr sz="2400" b="1">
                <a:solidFill>
                  <a:srgbClr val="42D5A4"/>
                </a:solidFill>
              </a:rPr>
              <a:t>VAT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53F0040-E193-4A19-B2EC-5A8FBBE170CF}"/>
              </a:ext>
            </a:extLst>
          </p:cNvPr>
          <p:cNvSpPr>
            <a:spLocks noGrp="1"/>
          </p:cNvSpPr>
          <p:nvPr/>
        </p:nvSpPr>
        <p:spPr>
          <a:xfrm>
            <a:off x="6096000" y="1885950"/>
            <a:ext cx="9525" cy="3714750"/>
          </a:xfrm>
          <a:prstGeom prst="line">
            <a:avLst/>
          </a:prstGeom>
          <a:noFill/>
          <a:ln w="19050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FA9A69-E0DD-4A1D-8A8E-778A1B4C9ED0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8FB5CF"/>
                </a:solidFill>
              </a:defRPr>
            </a:pPr>
            <a:r>
              <a:rPr sz="1125" b="1">
                <a:solidFill>
                  <a:srgbClr val="8FB5CF"/>
                </a:solidFill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B8D84D-8BB2-41A4-B662-CB2EA2612232}"/>
              </a:ext>
            </a:extLst>
          </p:cNvPr>
          <p:cNvSpPr>
            <a:spLocks noGrp="1"/>
          </p:cNvSpPr>
          <p:nvPr/>
        </p:nvSpPr>
        <p:spPr>
          <a:xfrm>
            <a:off x="2305050" y="27241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individual user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37718E-7AB3-465C-AFED-D55BD7300364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8FB5CF"/>
                </a:solidFill>
              </a:defRPr>
            </a:pPr>
            <a:r>
              <a:rPr sz="1125" b="1">
                <a:solidFill>
                  <a:srgbClr val="8FB5CF"/>
                </a:solidFill>
              </a:rPr>
              <a:t>Best for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058566-0C7C-4B20-B31E-BB829E5783FC}"/>
              </a:ext>
            </a:extLst>
          </p:cNvPr>
          <p:cNvSpPr>
            <a:spLocks noGrp="1"/>
          </p:cNvSpPr>
          <p:nvPr/>
        </p:nvSpPr>
        <p:spPr>
          <a:xfrm>
            <a:off x="2305050" y="33909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local development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0A8CEF-A937-40C7-9B7B-9C7ABC0A3D80}"/>
              </a:ext>
            </a:extLst>
          </p:cNvPr>
          <p:cNvSpPr>
            <a:spLocks noGrp="1"/>
          </p:cNvSpPr>
          <p:nvPr/>
        </p:nvSpPr>
        <p:spPr>
          <a:xfrm>
            <a:off x="876300" y="40576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8FB5CF"/>
                </a:solidFill>
              </a:defRPr>
            </a:pPr>
            <a:r>
              <a:rPr sz="1125" b="1">
                <a:solidFill>
                  <a:srgbClr val="8FB5CF"/>
                </a:solidFill>
              </a:rPr>
              <a:t>Lifecycle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7FBF56-2E8A-4CDC-AE08-3878DDFFCA09}"/>
              </a:ext>
            </a:extLst>
          </p:cNvPr>
          <p:cNvSpPr>
            <a:spLocks noGrp="1"/>
          </p:cNvSpPr>
          <p:nvPr/>
        </p:nvSpPr>
        <p:spPr>
          <a:xfrm>
            <a:off x="2305050" y="405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user-managed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36CEFC-8E88-454D-B090-5C0034119E89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8FB5CF"/>
                </a:solidFill>
              </a:defRPr>
            </a:pPr>
            <a:r>
              <a:rPr sz="1125" b="1">
                <a:solidFill>
                  <a:srgbClr val="8FB5CF"/>
                </a:solidFill>
              </a:rPr>
              <a:t>Risk boundary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D5AAFD-A42F-4530-B31C-78AA11C47F07}"/>
              </a:ext>
            </a:extLst>
          </p:cNvPr>
          <p:cNvSpPr>
            <a:spLocks noGrp="1"/>
          </p:cNvSpPr>
          <p:nvPr/>
        </p:nvSpPr>
        <p:spPr>
          <a:xfrm>
            <a:off x="2305050" y="47244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personal access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11CBC2-848C-468C-A902-EFA3F513630F}"/>
              </a:ext>
            </a:extLst>
          </p:cNvPr>
          <p:cNvSpPr>
            <a:spLocks noGrp="1"/>
          </p:cNvSpPr>
          <p:nvPr/>
        </p:nvSpPr>
        <p:spPr>
          <a:xfrm>
            <a:off x="6743700" y="27241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8FB5CF"/>
                </a:solidFill>
              </a:defRPr>
            </a:pPr>
            <a:r>
              <a:rPr sz="1125" b="1">
                <a:solidFill>
                  <a:srgbClr val="8FB5CF"/>
                </a:solidFill>
              </a:rPr>
              <a:t>Owner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D77AE1-7A9A-4312-86BB-B087F68152CC}"/>
              </a:ext>
            </a:extLst>
          </p:cNvPr>
          <p:cNvSpPr>
            <a:spLocks noGrp="1"/>
          </p:cNvSpPr>
          <p:nvPr/>
        </p:nvSpPr>
        <p:spPr>
          <a:xfrm>
            <a:off x="8172450" y="27241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virtual user / service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96DEA1-940B-4B83-ABD5-11E4EE8CBA1C}"/>
              </a:ext>
            </a:extLst>
          </p:cNvPr>
          <p:cNvSpPr>
            <a:spLocks noGrp="1"/>
          </p:cNvSpPr>
          <p:nvPr/>
        </p:nvSpPr>
        <p:spPr>
          <a:xfrm>
            <a:off x="6743700" y="33909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8FB5CF"/>
                </a:solidFill>
              </a:defRPr>
            </a:pPr>
            <a:r>
              <a:rPr sz="1125" b="1">
                <a:solidFill>
                  <a:srgbClr val="8FB5CF"/>
                </a:solidFill>
              </a:rPr>
              <a:t>Best for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674A58-0A13-4B22-B898-F102B3DDA774}"/>
              </a:ext>
            </a:extLst>
          </p:cNvPr>
          <p:cNvSpPr>
            <a:spLocks noGrp="1"/>
          </p:cNvSpPr>
          <p:nvPr/>
        </p:nvSpPr>
        <p:spPr>
          <a:xfrm>
            <a:off x="8172450" y="33909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apps, CI/CD, jobs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467403-637A-433A-A699-5F0CD64B8DC1}"/>
              </a:ext>
            </a:extLst>
          </p:cNvPr>
          <p:cNvSpPr>
            <a:spLocks noGrp="1"/>
          </p:cNvSpPr>
          <p:nvPr/>
        </p:nvSpPr>
        <p:spPr>
          <a:xfrm>
            <a:off x="6743700" y="40576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8FB5CF"/>
                </a:solidFill>
              </a:defRPr>
            </a:pPr>
            <a:r>
              <a:rPr sz="1125" b="1">
                <a:solidFill>
                  <a:srgbClr val="8FB5CF"/>
                </a:solidFill>
              </a:rPr>
              <a:t>Lifecycle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CC1002-08ED-4248-8C8C-20B57C334363}"/>
              </a:ext>
            </a:extLst>
          </p:cNvPr>
          <p:cNvSpPr>
            <a:spLocks noGrp="1"/>
          </p:cNvSpPr>
          <p:nvPr/>
        </p:nvSpPr>
        <p:spPr>
          <a:xfrm>
            <a:off x="8172450" y="4057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team-managed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A9DC9E-D39A-4ADE-B367-00CE8ED5F2D8}"/>
              </a:ext>
            </a:extLst>
          </p:cNvPr>
          <p:cNvSpPr>
            <a:spLocks noGrp="1"/>
          </p:cNvSpPr>
          <p:nvPr/>
        </p:nvSpPr>
        <p:spPr>
          <a:xfrm>
            <a:off x="6743700" y="47244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8FB5CF"/>
                </a:solidFill>
              </a:defRPr>
            </a:pPr>
            <a:r>
              <a:rPr sz="1125" b="1">
                <a:solidFill>
                  <a:srgbClr val="8FB5CF"/>
                </a:solidFill>
              </a:rPr>
              <a:t>Risk boundary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EA08CD-39DA-498C-952F-1539ADB8FB3D}"/>
              </a:ext>
            </a:extLst>
          </p:cNvPr>
          <p:cNvSpPr>
            <a:spLocks noGrp="1"/>
          </p:cNvSpPr>
          <p:nvPr/>
        </p:nvSpPr>
        <p:spPr>
          <a:xfrm>
            <a:off x="8172450" y="47244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one workload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8FC3C2-DB5C-4BE7-BC31-B1AED9AC528E}"/>
              </a:ext>
            </a:extLst>
          </p:cNvPr>
          <p:cNvSpPr>
            <a:spLocks noGrp="1"/>
          </p:cNvSpPr>
          <p:nvPr/>
        </p:nvSpPr>
        <p:spPr>
          <a:xfrm>
            <a:off x="2971800" y="5619750"/>
            <a:ext cx="6248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D9EEFF"/>
                </a:solidFill>
              </a:defRPr>
            </a:pPr>
            <a:r>
              <a:rPr sz="1575" b="1">
                <a:solidFill>
                  <a:srgbClr val="D9EEFF"/>
                </a:solidFill>
              </a:rPr>
              <a:t>Do not bind production availability to a person’s account.</a:t>
            </a:r>
          </a:p>
        </p:txBody>
      </p:sp>
    </p:spTree>
    <p:extLst>
      <p:ext uri="{BB962C8B-B14F-4D97-AF65-F5344CB8AC3E}">
        <p14:creationId xmlns:p14="http://schemas.microsoft.com/office/powerpoint/2010/main" val="1393946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rand-rail">
            <a:extLst>
              <a:ext uri="{FF2B5EF4-FFF2-40B4-BE49-F238E27FC236}">
                <a16:creationId xmlns:a16="http://schemas.microsoft.com/office/drawing/2014/main" id="{DFEAA819-62E7-47F0-A4AB-0D3CB223D7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07272299-AA72-4BA0-AADB-725039B5CF7E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BCE1"/>
                </a:solidFill>
              </a:defRPr>
            </a:pPr>
            <a:r>
              <a:rPr sz="1050" b="1">
                <a:solidFill>
                  <a:srgbClr val="00BCE1"/>
                </a:solidFill>
              </a:rPr>
              <a:t>IDENTITY &amp; POLICY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D92522F-2D25-4F4A-BC01-7FE2ABEA238E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8233E"/>
                </a:solidFill>
              </a:defRPr>
            </a:pPr>
            <a:r>
              <a:rPr sz="2700" b="1">
                <a:solidFill>
                  <a:srgbClr val="08233E"/>
                </a:solidFill>
              </a:rPr>
              <a:t>Access narrows as it moves down the hierarchy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1A6A9152-A6CA-4B73-9B91-B3643185F6B8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CD5C5A-B480-4619-9892-6879E8A91D74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CEEC04-CD81-4F06-941D-5D1808EA9E8C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20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95F71F-65AD-444E-9464-97B2BE9CB465}"/>
              </a:ext>
            </a:extLst>
          </p:cNvPr>
          <p:cNvSpPr>
            <a:spLocks noGrp="1"/>
          </p:cNvSpPr>
          <p:nvPr/>
        </p:nvSpPr>
        <p:spPr>
          <a:xfrm>
            <a:off x="1666875" y="1809750"/>
            <a:ext cx="8858250" cy="590550"/>
          </a:xfrm>
          <a:prstGeom prst="roundRect">
            <a:avLst>
              <a:gd name="adj" fmla="val 22581"/>
            </a:avLst>
          </a:prstGeom>
          <a:solidFill>
            <a:srgbClr val="012651"/>
          </a:solidFill>
          <a:ln w="9525">
            <a:solidFill>
              <a:srgbClr val="0126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4311EC-F4E5-4B7F-8F8B-7F1F09C97BF9}"/>
              </a:ext>
            </a:extLst>
          </p:cNvPr>
          <p:cNvSpPr>
            <a:spLocks noGrp="1"/>
          </p:cNvSpPr>
          <p:nvPr/>
        </p:nvSpPr>
        <p:spPr>
          <a:xfrm>
            <a:off x="1895475" y="193357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Tenant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DFF933-6B88-402C-A35D-6731842510E5}"/>
              </a:ext>
            </a:extLst>
          </p:cNvPr>
          <p:cNvSpPr>
            <a:spLocks noGrp="1"/>
          </p:cNvSpPr>
          <p:nvPr/>
        </p:nvSpPr>
        <p:spPr>
          <a:xfrm>
            <a:off x="4333875" y="1943100"/>
            <a:ext cx="592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all approved provider accounts + models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6D1015D-CCD6-4060-B19C-911A17E47409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7810500" cy="590550"/>
          </a:xfrm>
          <a:prstGeom prst="roundRect">
            <a:avLst>
              <a:gd name="adj" fmla="val 22581"/>
            </a:avLst>
          </a:prstGeom>
          <a:solidFill>
            <a:srgbClr val="0A416D"/>
          </a:solidFill>
          <a:ln w="9525">
            <a:solidFill>
              <a:srgbClr val="0A41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DF0163-D644-47E3-B25B-B1ABF0B65082}"/>
              </a:ext>
            </a:extLst>
          </p:cNvPr>
          <p:cNvSpPr>
            <a:spLocks noGrp="1"/>
          </p:cNvSpPr>
          <p:nvPr/>
        </p:nvSpPr>
        <p:spPr>
          <a:xfrm>
            <a:off x="2419350" y="269557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Org unit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59A5B9-76F6-4C52-9DB3-1F049341C045}"/>
              </a:ext>
            </a:extLst>
          </p:cNvPr>
          <p:cNvSpPr>
            <a:spLocks noGrp="1"/>
          </p:cNvSpPr>
          <p:nvPr/>
        </p:nvSpPr>
        <p:spPr>
          <a:xfrm>
            <a:off x="4857750" y="2705100"/>
            <a:ext cx="487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business boundary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D68D1B5-EB43-45E8-B64E-F58C61A952D1}"/>
              </a:ext>
            </a:extLst>
          </p:cNvPr>
          <p:cNvSpPr>
            <a:spLocks noGrp="1"/>
          </p:cNvSpPr>
          <p:nvPr/>
        </p:nvSpPr>
        <p:spPr>
          <a:xfrm>
            <a:off x="2714625" y="3333750"/>
            <a:ext cx="6762750" cy="590550"/>
          </a:xfrm>
          <a:prstGeom prst="roundRect">
            <a:avLst>
              <a:gd name="adj" fmla="val 22581"/>
            </a:avLst>
          </a:prstGeom>
          <a:solidFill>
            <a:srgbClr val="0A5783"/>
          </a:solidFill>
          <a:ln w="9525">
            <a:solidFill>
              <a:srgbClr val="0A57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15F5EE-1ADF-4E23-B1BF-1A834477C5DF}"/>
              </a:ext>
            </a:extLst>
          </p:cNvPr>
          <p:cNvSpPr>
            <a:spLocks noGrp="1"/>
          </p:cNvSpPr>
          <p:nvPr/>
        </p:nvSpPr>
        <p:spPr>
          <a:xfrm>
            <a:off x="2943225" y="345757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Team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4BC16A-0A01-4C88-96B9-803A3FA4EBA6}"/>
              </a:ext>
            </a:extLst>
          </p:cNvPr>
          <p:cNvSpPr>
            <a:spLocks noGrp="1"/>
          </p:cNvSpPr>
          <p:nvPr/>
        </p:nvSpPr>
        <p:spPr>
          <a:xfrm>
            <a:off x="5381625" y="3467100"/>
            <a:ext cx="3829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shared workload scope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E35FB3A-905E-4382-B1C1-FB29B428E69A}"/>
              </a:ext>
            </a:extLst>
          </p:cNvPr>
          <p:cNvSpPr>
            <a:spLocks noGrp="1"/>
          </p:cNvSpPr>
          <p:nvPr/>
        </p:nvSpPr>
        <p:spPr>
          <a:xfrm>
            <a:off x="3238500" y="4095750"/>
            <a:ext cx="5715000" cy="590550"/>
          </a:xfrm>
          <a:prstGeom prst="roundRect">
            <a:avLst>
              <a:gd name="adj" fmla="val 22581"/>
            </a:avLst>
          </a:prstGeom>
          <a:solidFill>
            <a:srgbClr val="0089AC"/>
          </a:solidFill>
          <a:ln w="9525">
            <a:solidFill>
              <a:srgbClr val="0089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EB9F5C-AEF1-4533-9832-79D1B979029D}"/>
              </a:ext>
            </a:extLst>
          </p:cNvPr>
          <p:cNvSpPr>
            <a:spLocks noGrp="1"/>
          </p:cNvSpPr>
          <p:nvPr/>
        </p:nvSpPr>
        <p:spPr>
          <a:xfrm>
            <a:off x="3467100" y="421957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User / Virtual user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94DDA3-73B7-4B8F-BB14-93833C0FF945}"/>
              </a:ext>
            </a:extLst>
          </p:cNvPr>
          <p:cNvSpPr>
            <a:spLocks noGrp="1"/>
          </p:cNvSpPr>
          <p:nvPr/>
        </p:nvSpPr>
        <p:spPr>
          <a:xfrm>
            <a:off x="5905500" y="42291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identity permissions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3FDE090-C04D-4B20-8C50-A784A1EE5776}"/>
              </a:ext>
            </a:extLst>
          </p:cNvPr>
          <p:cNvSpPr>
            <a:spLocks noGrp="1"/>
          </p:cNvSpPr>
          <p:nvPr/>
        </p:nvSpPr>
        <p:spPr>
          <a:xfrm>
            <a:off x="3714750" y="4857750"/>
            <a:ext cx="4762500" cy="590550"/>
          </a:xfrm>
          <a:prstGeom prst="roundRect">
            <a:avLst>
              <a:gd name="adj" fmla="val 22581"/>
            </a:avLst>
          </a:prstGeom>
          <a:solidFill>
            <a:srgbClr val="00BCE1"/>
          </a:solidFill>
          <a:ln w="9525">
            <a:solidFill>
              <a:srgbClr val="00BC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70BBB0-9366-4083-85DE-C3B56F8EBEAE}"/>
              </a:ext>
            </a:extLst>
          </p:cNvPr>
          <p:cNvSpPr>
            <a:spLocks noGrp="1"/>
          </p:cNvSpPr>
          <p:nvPr/>
        </p:nvSpPr>
        <p:spPr>
          <a:xfrm>
            <a:off x="3943350" y="498157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PAT / VAT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CB4BB9-298F-436D-804E-044074F646A8}"/>
              </a:ext>
            </a:extLst>
          </p:cNvPr>
          <p:cNvSpPr>
            <a:spLocks noGrp="1"/>
          </p:cNvSpPr>
          <p:nvPr/>
        </p:nvSpPr>
        <p:spPr>
          <a:xfrm>
            <a:off x="6381750" y="499110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06182D"/>
                </a:solidFill>
              </a:defRPr>
            </a:pPr>
            <a:r>
              <a:rPr sz="1200" b="0">
                <a:solidFill>
                  <a:srgbClr val="06182D"/>
                </a:solidFill>
              </a:rPr>
              <a:t>final model + budget limits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A9D813-A5D6-4820-993C-255289EB70A7}"/>
              </a:ext>
            </a:extLst>
          </p:cNvPr>
          <p:cNvSpPr>
            <a:spLocks noGrp="1"/>
          </p:cNvSpPr>
          <p:nvPr/>
        </p:nvSpPr>
        <p:spPr>
          <a:xfrm>
            <a:off x="2190750" y="57721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8233E"/>
                </a:solidFill>
              </a:defRPr>
            </a:pPr>
            <a:r>
              <a:rPr sz="1500" b="1">
                <a:solidFill>
                  <a:srgbClr val="08233E"/>
                </a:solidFill>
              </a:rPr>
              <a:t>A token can inherit access—but it cannot expand beyond its parent scope.</a:t>
            </a:r>
          </a:p>
        </p:txBody>
      </p:sp>
    </p:spTree>
    <p:extLst>
      <p:ext uri="{BB962C8B-B14F-4D97-AF65-F5344CB8AC3E}">
        <p14:creationId xmlns:p14="http://schemas.microsoft.com/office/powerpoint/2010/main" val="534805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rand-rail">
            <a:extLst>
              <a:ext uri="{FF2B5EF4-FFF2-40B4-BE49-F238E27FC236}">
                <a16:creationId xmlns:a16="http://schemas.microsoft.com/office/drawing/2014/main" id="{02787570-995C-4B16-9D0B-0AD22872C0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F6F464CF-B251-4B15-B782-44D0700DA1D6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OBSERVABILITY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34B9E0A-C6F9-48D5-872C-D0EC36CDA72F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Every request becomes an observable event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DBCC9239-01D2-4472-A1DD-EC4DA343DD50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062BC2-3F7F-49D0-8EE9-FDA9EC5B732E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91686F-FF66-412B-92C9-92A10141331E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21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AA1103-51B7-4909-B4CE-D06F86023767}"/>
              </a:ext>
            </a:extLst>
          </p:cNvPr>
          <p:cNvSpPr>
            <a:spLocks noGrp="1"/>
          </p:cNvSpPr>
          <p:nvPr/>
        </p:nvSpPr>
        <p:spPr>
          <a:xfrm>
            <a:off x="742950" y="2628900"/>
            <a:ext cx="1714500" cy="876300"/>
          </a:xfrm>
          <a:prstGeom prst="roundRect">
            <a:avLst>
              <a:gd name="adj" fmla="val 19565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6FBFF"/>
                </a:solidFill>
              </a:defRPr>
            </a:pPr>
            <a:r>
              <a:rPr sz="1350" b="1">
                <a:solidFill>
                  <a:srgbClr val="F6FBFF"/>
                </a:solidFill>
              </a:rPr>
              <a:t>Request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1FBA31B-2845-4367-B8FB-1691A441ED42}"/>
              </a:ext>
            </a:extLst>
          </p:cNvPr>
          <p:cNvSpPr>
            <a:spLocks noGrp="1"/>
          </p:cNvSpPr>
          <p:nvPr/>
        </p:nvSpPr>
        <p:spPr>
          <a:xfrm>
            <a:off x="2457450" y="3067050"/>
            <a:ext cx="1333500" cy="9525"/>
          </a:xfrm>
          <a:prstGeom prst="line">
            <a:avLst/>
          </a:prstGeom>
          <a:noFill/>
          <a:ln w="38100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4A2F61-1429-440A-BB29-7AA364692AFB}"/>
              </a:ext>
            </a:extLst>
          </p:cNvPr>
          <p:cNvSpPr>
            <a:spLocks noGrp="1"/>
          </p:cNvSpPr>
          <p:nvPr/>
        </p:nvSpPr>
        <p:spPr>
          <a:xfrm>
            <a:off x="3886200" y="2343150"/>
            <a:ext cx="2762250" cy="1447800"/>
          </a:xfrm>
          <a:prstGeom prst="roundRect">
            <a:avLst>
              <a:gd name="adj" fmla="val 11842"/>
            </a:avLst>
          </a:prstGeom>
          <a:solidFill>
            <a:srgbClr val="012651"/>
          </a:solidFill>
          <a:ln w="9525">
            <a:solidFill>
              <a:srgbClr val="00C9EB"/>
            </a:solidFill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6FBFF"/>
                </a:solidFill>
              </a:defRPr>
            </a:pPr>
            <a:r>
              <a:rPr sz="1725" b="1">
                <a:solidFill>
                  <a:srgbClr val="F6FBFF"/>
                </a:solidFill>
              </a:rPr>
              <a:t>Gateway trace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67323894-D818-4D9A-A2F4-DDE79849EB8E}"/>
              </a:ext>
            </a:extLst>
          </p:cNvPr>
          <p:cNvSpPr>
            <a:spLocks noGrp="1"/>
          </p:cNvSpPr>
          <p:nvPr/>
        </p:nvSpPr>
        <p:spPr>
          <a:xfrm>
            <a:off x="6648450" y="2095500"/>
            <a:ext cx="1428750" cy="971550"/>
          </a:xfrm>
          <a:prstGeom prst="line">
            <a:avLst/>
          </a:prstGeom>
          <a:noFill/>
          <a:ln w="2857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79601CB-7A0C-4E4A-8380-FB5D9B38B982}"/>
              </a:ext>
            </a:extLst>
          </p:cNvPr>
          <p:cNvSpPr>
            <a:spLocks noGrp="1"/>
          </p:cNvSpPr>
          <p:nvPr/>
        </p:nvSpPr>
        <p:spPr>
          <a:xfrm>
            <a:off x="6648450" y="3067050"/>
            <a:ext cx="1428750" cy="9525"/>
          </a:xfrm>
          <a:prstGeom prst="line">
            <a:avLst/>
          </a:prstGeom>
          <a:noFill/>
          <a:ln w="2857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27D72B99-9F36-4E5B-A152-1923622E4459}"/>
              </a:ext>
            </a:extLst>
          </p:cNvPr>
          <p:cNvSpPr>
            <a:spLocks noGrp="1"/>
          </p:cNvSpPr>
          <p:nvPr/>
        </p:nvSpPr>
        <p:spPr>
          <a:xfrm>
            <a:off x="6648450" y="3067050"/>
            <a:ext cx="1428750" cy="971550"/>
          </a:xfrm>
          <a:prstGeom prst="line">
            <a:avLst/>
          </a:prstGeom>
          <a:noFill/>
          <a:ln w="2857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29A1980-D4C3-4D9E-B63B-2F83ADA055DF}"/>
              </a:ext>
            </a:extLst>
          </p:cNvPr>
          <p:cNvSpPr>
            <a:spLocks noGrp="1"/>
          </p:cNvSpPr>
          <p:nvPr/>
        </p:nvSpPr>
        <p:spPr>
          <a:xfrm>
            <a:off x="8572500" y="1695450"/>
            <a:ext cx="2095500" cy="723900"/>
          </a:xfrm>
          <a:prstGeom prst="roundRect">
            <a:avLst>
              <a:gd name="adj" fmla="val 23684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Logs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6F33CA1-D4E2-4797-8BA7-6D57738BEA82}"/>
              </a:ext>
            </a:extLst>
          </p:cNvPr>
          <p:cNvSpPr>
            <a:spLocks noGrp="1"/>
          </p:cNvSpPr>
          <p:nvPr/>
        </p:nvSpPr>
        <p:spPr>
          <a:xfrm>
            <a:off x="8572500" y="2705100"/>
            <a:ext cx="2095500" cy="723900"/>
          </a:xfrm>
          <a:prstGeom prst="roundRect">
            <a:avLst>
              <a:gd name="adj" fmla="val 23684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Metrics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894F6E2-9780-4A3B-AE28-167B8C9903E4}"/>
              </a:ext>
            </a:extLst>
          </p:cNvPr>
          <p:cNvSpPr>
            <a:spLocks noGrp="1"/>
          </p:cNvSpPr>
          <p:nvPr/>
        </p:nvSpPr>
        <p:spPr>
          <a:xfrm>
            <a:off x="8572500" y="3714750"/>
            <a:ext cx="2095500" cy="723900"/>
          </a:xfrm>
          <a:prstGeom prst="roundRect">
            <a:avLst>
              <a:gd name="adj" fmla="val 23684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Spend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3C24D5D-95AE-424D-8D4B-A84D6C3D7AFD}"/>
              </a:ext>
            </a:extLst>
          </p:cNvPr>
          <p:cNvSpPr>
            <a:spLocks noGrp="1"/>
          </p:cNvSpPr>
          <p:nvPr/>
        </p:nvSpPr>
        <p:spPr>
          <a:xfrm>
            <a:off x="2876550" y="489585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request_id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5FD3FF9-5D26-4869-B668-85871CD3F194}"/>
              </a:ext>
            </a:extLst>
          </p:cNvPr>
          <p:cNvSpPr>
            <a:spLocks noGrp="1"/>
          </p:cNvSpPr>
          <p:nvPr/>
        </p:nvSpPr>
        <p:spPr>
          <a:xfrm>
            <a:off x="4400550" y="489585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trace_id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54FB26-A15E-4FF1-BA10-55B3E2AA3636}"/>
              </a:ext>
            </a:extLst>
          </p:cNvPr>
          <p:cNvSpPr>
            <a:spLocks noGrp="1"/>
          </p:cNvSpPr>
          <p:nvPr/>
        </p:nvSpPr>
        <p:spPr>
          <a:xfrm>
            <a:off x="5829300" y="4895850"/>
            <a:ext cx="104775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model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6A50459-F9DA-4984-9015-1391D182DAB1}"/>
              </a:ext>
            </a:extLst>
          </p:cNvPr>
          <p:cNvSpPr>
            <a:spLocks noGrp="1"/>
          </p:cNvSpPr>
          <p:nvPr/>
        </p:nvSpPr>
        <p:spPr>
          <a:xfrm>
            <a:off x="7067550" y="489585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key_type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F18CD7C-1A92-4927-94B5-C697980F082F}"/>
              </a:ext>
            </a:extLst>
          </p:cNvPr>
          <p:cNvSpPr>
            <a:spLocks noGrp="1"/>
          </p:cNvSpPr>
          <p:nvPr/>
        </p:nvSpPr>
        <p:spPr>
          <a:xfrm>
            <a:off x="8496300" y="489585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cost</a:t>
            </a:r>
          </a:p>
        </p:txBody>
      </p:sp>
    </p:spTree>
    <p:extLst>
      <p:ext uri="{BB962C8B-B14F-4D97-AF65-F5344CB8AC3E}">
        <p14:creationId xmlns:p14="http://schemas.microsoft.com/office/powerpoint/2010/main" val="452360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rand-rail">
            <a:extLst>
              <a:ext uri="{FF2B5EF4-FFF2-40B4-BE49-F238E27FC236}">
                <a16:creationId xmlns:a16="http://schemas.microsoft.com/office/drawing/2014/main" id="{751C29A2-0952-45C0-9DB4-3CFDE10245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3599E68B-AAFA-42AF-B7B3-E47511628E51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OBSERVABILITY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54061037-0EB4-4AAE-8318-40BD7B2148C2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Logs and traces answer “what happened?”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7AAC94EC-B3E0-4463-A128-8F4482260C7E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7EC692-524F-4E2D-8ED1-2337CD76F475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E29ECF-86F6-4E77-9E2A-70030EFFDCA6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22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EAB0E6-7033-4FE1-8862-0C6FF7B616DF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REQUEST LOG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05D31B-CBD6-41B2-9022-8ABF2143E00A}"/>
              </a:ext>
            </a:extLst>
          </p:cNvPr>
          <p:cNvSpPr>
            <a:spLocks noGrp="1"/>
          </p:cNvSpPr>
          <p:nvPr/>
        </p:nvSpPr>
        <p:spPr>
          <a:xfrm>
            <a:off x="666750" y="2247900"/>
            <a:ext cx="4610100" cy="3390900"/>
          </a:xfrm>
          <a:prstGeom prst="roundRect">
            <a:avLst>
              <a:gd name="adj" fmla="val 5618"/>
            </a:avLst>
          </a:prstGeom>
          <a:solidFill>
            <a:srgbClr val="04111F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2CEAE9-6D38-49B2-8774-E7108FD80B52}"/>
              </a:ext>
            </a:extLst>
          </p:cNvPr>
          <p:cNvSpPr>
            <a:spLocks noGrp="1"/>
          </p:cNvSpPr>
          <p:nvPr/>
        </p:nvSpPr>
        <p:spPr>
          <a:xfrm>
            <a:off x="857250" y="2419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7E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B100B90-FC4F-4D66-8192-01701635AE06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E697969-914A-47E0-A838-BC953D43D624}"/>
              </a:ext>
            </a:extLst>
          </p:cNvPr>
          <p:cNvSpPr>
            <a:spLocks noGrp="1"/>
          </p:cNvSpPr>
          <p:nvPr/>
        </p:nvSpPr>
        <p:spPr>
          <a:xfrm>
            <a:off x="1200150" y="2419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2D5A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114AC1-9E28-44C4-9ED4-2D9D898CE2E9}"/>
              </a:ext>
            </a:extLst>
          </p:cNvPr>
          <p:cNvSpPr>
            <a:spLocks noGrp="1"/>
          </p:cNvSpPr>
          <p:nvPr/>
        </p:nvSpPr>
        <p:spPr>
          <a:xfrm>
            <a:off x="1466850" y="23622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8FB5CF"/>
                </a:solidFill>
              </a:defRPr>
            </a:pPr>
            <a:r>
              <a:rPr sz="1050" b="1">
                <a:solidFill>
                  <a:srgbClr val="8FB5CF"/>
                </a:solidFill>
              </a:rPr>
              <a:t>structured event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285A52E2-5D4F-4035-B372-A29ED6C70EFD}"/>
              </a:ext>
            </a:extLst>
          </p:cNvPr>
          <p:cNvSpPr>
            <a:spLocks noGrp="1"/>
          </p:cNvSpPr>
          <p:nvPr/>
        </p:nvSpPr>
        <p:spPr>
          <a:xfrm>
            <a:off x="857250" y="2647950"/>
            <a:ext cx="42291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F49505-55B9-4C91-859A-1BFF86E61E56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4152900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status=200</a:t>
            </a:r>
          </a:p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endpoint=/v1/chat/completions</a:t>
            </a:r>
          </a:p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model=support-smart</a:t>
            </a:r>
          </a:p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provider=anthropic</a:t>
            </a:r>
          </a:p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latency_ms=684</a:t>
            </a:r>
          </a:p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cache_status=miss</a:t>
            </a:r>
          </a:p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input_tokens=840</a:t>
            </a:r>
          </a:p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output_tokens=176</a:t>
            </a:r>
          </a:p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cost_usd=...</a:t>
            </a:r>
          </a:p>
          <a:p>
            <a:pPr algn="l">
              <a:defRPr sz="1200" b="0">
                <a:solidFill>
                  <a:srgbClr val="D9EEFF"/>
                </a:solidFill>
              </a:defRPr>
            </a:pPr>
            <a:r>
              <a:rPr sz="1200" b="0">
                <a:solidFill>
                  <a:srgbClr val="D9EEFF"/>
                </a:solidFill>
              </a:rPr>
              <a:t>trace_id=01J...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36F7A9-1B0A-42BA-A5BC-E80B95C421DF}"/>
              </a:ext>
            </a:extLst>
          </p:cNvPr>
          <p:cNvSpPr>
            <a:spLocks noGrp="1"/>
          </p:cNvSpPr>
          <p:nvPr/>
        </p:nvSpPr>
        <p:spPr>
          <a:xfrm>
            <a:off x="6115050" y="18669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9A8CFF"/>
                </a:solidFill>
              </a:defRPr>
            </a:pPr>
            <a:r>
              <a:rPr sz="1050" b="1">
                <a:solidFill>
                  <a:srgbClr val="9A8CFF"/>
                </a:solidFill>
              </a:rPr>
              <a:t>TRACE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2936625-E121-444E-A508-816EC4678DE7}"/>
              </a:ext>
            </a:extLst>
          </p:cNvPr>
          <p:cNvSpPr>
            <a:spLocks noGrp="1"/>
          </p:cNvSpPr>
          <p:nvPr/>
        </p:nvSpPr>
        <p:spPr>
          <a:xfrm>
            <a:off x="6115050" y="2305050"/>
            <a:ext cx="4286250" cy="438150"/>
          </a:xfrm>
          <a:prstGeom prst="roundRect">
            <a:avLst>
              <a:gd name="adj" fmla="val 21739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7B4730-6FA2-4A60-A96F-0EBDDB5C0C0F}"/>
              </a:ext>
            </a:extLst>
          </p:cNvPr>
          <p:cNvSpPr>
            <a:spLocks noGrp="1"/>
          </p:cNvSpPr>
          <p:nvPr/>
        </p:nvSpPr>
        <p:spPr>
          <a:xfrm>
            <a:off x="6115050" y="2305050"/>
            <a:ext cx="95250" cy="43815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86D51-D0EB-4B4F-8353-9D81B67337CB}"/>
              </a:ext>
            </a:extLst>
          </p:cNvPr>
          <p:cNvSpPr>
            <a:spLocks noGrp="1"/>
          </p:cNvSpPr>
          <p:nvPr/>
        </p:nvSpPr>
        <p:spPr>
          <a:xfrm>
            <a:off x="6381750" y="24003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F6FBFF"/>
                </a:solidFill>
              </a:defRPr>
            </a:pPr>
            <a:r>
              <a:rPr sz="1275" b="1">
                <a:solidFill>
                  <a:srgbClr val="F6FBFF"/>
                </a:solidFill>
              </a:rPr>
              <a:t>auth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AB4E0F-354A-4194-B094-6852E9A98ED1}"/>
              </a:ext>
            </a:extLst>
          </p:cNvPr>
          <p:cNvSpPr>
            <a:spLocks noGrp="1"/>
          </p:cNvSpPr>
          <p:nvPr/>
        </p:nvSpPr>
        <p:spPr>
          <a:xfrm>
            <a:off x="9220200" y="24003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8FB5CF"/>
                </a:solidFill>
              </a:defRPr>
            </a:pPr>
            <a:r>
              <a:rPr sz="1200" b="1">
                <a:solidFill>
                  <a:srgbClr val="8FB5CF"/>
                </a:solidFill>
              </a:rPr>
              <a:t>6 ms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F541726-8529-4FFE-A774-EAA395A9324F}"/>
              </a:ext>
            </a:extLst>
          </p:cNvPr>
          <p:cNvSpPr>
            <a:spLocks noGrp="1"/>
          </p:cNvSpPr>
          <p:nvPr/>
        </p:nvSpPr>
        <p:spPr>
          <a:xfrm>
            <a:off x="6115050" y="2933700"/>
            <a:ext cx="4286250" cy="438150"/>
          </a:xfrm>
          <a:prstGeom prst="roundRect">
            <a:avLst>
              <a:gd name="adj" fmla="val 21739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644998-AC89-48D7-8346-AFA2B080F0B0}"/>
              </a:ext>
            </a:extLst>
          </p:cNvPr>
          <p:cNvSpPr>
            <a:spLocks noGrp="1"/>
          </p:cNvSpPr>
          <p:nvPr/>
        </p:nvSpPr>
        <p:spPr>
          <a:xfrm>
            <a:off x="6115050" y="2933700"/>
            <a:ext cx="95250" cy="438150"/>
          </a:xfrm>
          <a:prstGeom prst="rect">
            <a:avLst/>
          </a:prstGeom>
          <a:solidFill>
            <a:srgbClr val="42D5A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92B610-22FB-4077-A76C-381F72BD3FA1}"/>
              </a:ext>
            </a:extLst>
          </p:cNvPr>
          <p:cNvSpPr>
            <a:spLocks noGrp="1"/>
          </p:cNvSpPr>
          <p:nvPr/>
        </p:nvSpPr>
        <p:spPr>
          <a:xfrm>
            <a:off x="6381750" y="30289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F6FBFF"/>
                </a:solidFill>
              </a:defRPr>
            </a:pPr>
            <a:r>
              <a:rPr sz="1275" b="1">
                <a:solidFill>
                  <a:srgbClr val="F6FBFF"/>
                </a:solidFill>
              </a:rPr>
              <a:t>guardrail.input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8DB100-842C-4133-845E-A7F599334D59}"/>
              </a:ext>
            </a:extLst>
          </p:cNvPr>
          <p:cNvSpPr>
            <a:spLocks noGrp="1"/>
          </p:cNvSpPr>
          <p:nvPr/>
        </p:nvSpPr>
        <p:spPr>
          <a:xfrm>
            <a:off x="9220200" y="302895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8FB5CF"/>
                </a:solidFill>
              </a:defRPr>
            </a:pPr>
            <a:r>
              <a:rPr sz="1200" b="1">
                <a:solidFill>
                  <a:srgbClr val="8FB5CF"/>
                </a:solidFill>
              </a:rPr>
              <a:t>11 ms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4F3330E-4159-4827-9DC6-7AD634F538B9}"/>
              </a:ext>
            </a:extLst>
          </p:cNvPr>
          <p:cNvSpPr>
            <a:spLocks noGrp="1"/>
          </p:cNvSpPr>
          <p:nvPr/>
        </p:nvSpPr>
        <p:spPr>
          <a:xfrm>
            <a:off x="6115050" y="3562350"/>
            <a:ext cx="4286250" cy="438150"/>
          </a:xfrm>
          <a:prstGeom prst="roundRect">
            <a:avLst>
              <a:gd name="adj" fmla="val 21739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709141-58DB-4E41-B8AD-37FDA3CD9613}"/>
              </a:ext>
            </a:extLst>
          </p:cNvPr>
          <p:cNvSpPr>
            <a:spLocks noGrp="1"/>
          </p:cNvSpPr>
          <p:nvPr/>
        </p:nvSpPr>
        <p:spPr>
          <a:xfrm>
            <a:off x="6115050" y="3562350"/>
            <a:ext cx="95250" cy="438150"/>
          </a:xfrm>
          <a:prstGeom prst="rect">
            <a:avLst/>
          </a:prstGeom>
          <a:solidFill>
            <a:srgbClr val="9A8C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2FD583-10AB-4555-9F60-FD755CF31B19}"/>
              </a:ext>
            </a:extLst>
          </p:cNvPr>
          <p:cNvSpPr>
            <a:spLocks noGrp="1"/>
          </p:cNvSpPr>
          <p:nvPr/>
        </p:nvSpPr>
        <p:spPr>
          <a:xfrm>
            <a:off x="6381750" y="36576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F6FBFF"/>
                </a:solidFill>
              </a:defRPr>
            </a:pPr>
            <a:r>
              <a:rPr sz="1275" b="1">
                <a:solidFill>
                  <a:srgbClr val="F6FBFF"/>
                </a:solidFill>
              </a:rPr>
              <a:t>route.resolve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914AAD-7C99-4151-ADAF-1C0095707E70}"/>
              </a:ext>
            </a:extLst>
          </p:cNvPr>
          <p:cNvSpPr>
            <a:spLocks noGrp="1"/>
          </p:cNvSpPr>
          <p:nvPr/>
        </p:nvSpPr>
        <p:spPr>
          <a:xfrm>
            <a:off x="9220200" y="36576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8FB5CF"/>
                </a:solidFill>
              </a:defRPr>
            </a:pPr>
            <a:r>
              <a:rPr sz="1200" b="1">
                <a:solidFill>
                  <a:srgbClr val="8FB5CF"/>
                </a:solidFill>
              </a:rPr>
              <a:t>3 ms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EC5B6BD-AAE2-434B-900E-989306D87A8E}"/>
              </a:ext>
            </a:extLst>
          </p:cNvPr>
          <p:cNvSpPr>
            <a:spLocks noGrp="1"/>
          </p:cNvSpPr>
          <p:nvPr/>
        </p:nvSpPr>
        <p:spPr>
          <a:xfrm>
            <a:off x="6115050" y="4191000"/>
            <a:ext cx="4286250" cy="438150"/>
          </a:xfrm>
          <a:prstGeom prst="roundRect">
            <a:avLst>
              <a:gd name="adj" fmla="val 21739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71E346-A9FE-4C1C-BCF9-76E786EC8AF0}"/>
              </a:ext>
            </a:extLst>
          </p:cNvPr>
          <p:cNvSpPr>
            <a:spLocks noGrp="1"/>
          </p:cNvSpPr>
          <p:nvPr/>
        </p:nvSpPr>
        <p:spPr>
          <a:xfrm>
            <a:off x="6115050" y="4191000"/>
            <a:ext cx="95250" cy="438150"/>
          </a:xfrm>
          <a:prstGeom prst="rect">
            <a:avLst/>
          </a:prstGeom>
          <a:solidFill>
            <a:srgbClr val="FFC8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B0E44C-4CF2-448F-9D87-838DDEE10661}"/>
              </a:ext>
            </a:extLst>
          </p:cNvPr>
          <p:cNvSpPr>
            <a:spLocks noGrp="1"/>
          </p:cNvSpPr>
          <p:nvPr/>
        </p:nvSpPr>
        <p:spPr>
          <a:xfrm>
            <a:off x="6381750" y="42862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F6FBFF"/>
                </a:solidFill>
              </a:defRPr>
            </a:pPr>
            <a:r>
              <a:rPr sz="1275" b="1">
                <a:solidFill>
                  <a:srgbClr val="F6FBFF"/>
                </a:solidFill>
              </a:rPr>
              <a:t>provider.call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036C20-CE02-4B5D-A165-65C33EB989D8}"/>
              </a:ext>
            </a:extLst>
          </p:cNvPr>
          <p:cNvSpPr>
            <a:spLocks noGrp="1"/>
          </p:cNvSpPr>
          <p:nvPr/>
        </p:nvSpPr>
        <p:spPr>
          <a:xfrm>
            <a:off x="9220200" y="428625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8FB5CF"/>
                </a:solidFill>
              </a:defRPr>
            </a:pPr>
            <a:r>
              <a:rPr sz="1200" b="1">
                <a:solidFill>
                  <a:srgbClr val="8FB5CF"/>
                </a:solidFill>
              </a:rPr>
              <a:t>641 ms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CE3AB7D-AF69-4672-BF46-B74134479B45}"/>
              </a:ext>
            </a:extLst>
          </p:cNvPr>
          <p:cNvSpPr>
            <a:spLocks noGrp="1"/>
          </p:cNvSpPr>
          <p:nvPr/>
        </p:nvSpPr>
        <p:spPr>
          <a:xfrm>
            <a:off x="6115050" y="4819650"/>
            <a:ext cx="4286250" cy="438150"/>
          </a:xfrm>
          <a:prstGeom prst="roundRect">
            <a:avLst>
              <a:gd name="adj" fmla="val 21739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20FDFA0-BB18-451D-A19C-17D9B00ACD30}"/>
              </a:ext>
            </a:extLst>
          </p:cNvPr>
          <p:cNvSpPr>
            <a:spLocks noGrp="1"/>
          </p:cNvSpPr>
          <p:nvPr/>
        </p:nvSpPr>
        <p:spPr>
          <a:xfrm>
            <a:off x="6115050" y="4819650"/>
            <a:ext cx="95250" cy="438150"/>
          </a:xfrm>
          <a:prstGeom prst="rect">
            <a:avLst/>
          </a:prstGeom>
          <a:solidFill>
            <a:srgbClr val="FF7E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518D74-3ACD-4262-B1D0-A8879E94D59B}"/>
              </a:ext>
            </a:extLst>
          </p:cNvPr>
          <p:cNvSpPr>
            <a:spLocks noGrp="1"/>
          </p:cNvSpPr>
          <p:nvPr/>
        </p:nvSpPr>
        <p:spPr>
          <a:xfrm>
            <a:off x="6381750" y="49149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F6FBFF"/>
                </a:solidFill>
              </a:defRPr>
            </a:pPr>
            <a:r>
              <a:rPr sz="1275" b="1">
                <a:solidFill>
                  <a:srgbClr val="F6FBFF"/>
                </a:solidFill>
              </a:rPr>
              <a:t>billing.finalize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91EAD2-1A64-4F71-B06B-EEB342F0B6BC}"/>
              </a:ext>
            </a:extLst>
          </p:cNvPr>
          <p:cNvSpPr>
            <a:spLocks noGrp="1"/>
          </p:cNvSpPr>
          <p:nvPr/>
        </p:nvSpPr>
        <p:spPr>
          <a:xfrm>
            <a:off x="9220200" y="49149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8FB5CF"/>
                </a:solidFill>
              </a:defRPr>
            </a:pPr>
            <a:r>
              <a:rPr sz="1200" b="1">
                <a:solidFill>
                  <a:srgbClr val="8FB5CF"/>
                </a:solidFill>
              </a:rPr>
              <a:t>8 ms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7915417-6767-4B07-9FE7-621D7FA03308}"/>
              </a:ext>
            </a:extLst>
          </p:cNvPr>
          <p:cNvSpPr>
            <a:spLocks noGrp="1"/>
          </p:cNvSpPr>
          <p:nvPr/>
        </p:nvSpPr>
        <p:spPr>
          <a:xfrm>
            <a:off x="6115050" y="55435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8FB5CF"/>
                </a:solidFill>
              </a:defRPr>
            </a:pPr>
            <a:r>
              <a:rPr sz="1200" b="0">
                <a:solidFill>
                  <a:srgbClr val="8FB5CF"/>
                </a:solidFill>
              </a:rPr>
              <a:t>Metadata by default; sensitive payload capture requires explicit policy.</a:t>
            </a:r>
          </a:p>
        </p:txBody>
      </p:sp>
    </p:spTree>
    <p:extLst>
      <p:ext uri="{BB962C8B-B14F-4D97-AF65-F5344CB8AC3E}">
        <p14:creationId xmlns:p14="http://schemas.microsoft.com/office/powerpoint/2010/main" val="17368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rand-rail">
            <a:extLst>
              <a:ext uri="{FF2B5EF4-FFF2-40B4-BE49-F238E27FC236}">
                <a16:creationId xmlns:a16="http://schemas.microsoft.com/office/drawing/2014/main" id="{889697F4-DE9C-4071-905B-6485EDF278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F94B71B0-AC41-4FDB-95CC-780BF8E1AF58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BCE1"/>
                </a:solidFill>
              </a:defRPr>
            </a:pPr>
            <a:r>
              <a:rPr sz="1050" b="1">
                <a:solidFill>
                  <a:srgbClr val="00BCE1"/>
                </a:solidFill>
              </a:rPr>
              <a:t>OBSERVABILITY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1D51CAA2-B9A4-4653-88B5-ED1495ADCFBC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8233E"/>
                </a:solidFill>
              </a:defRPr>
            </a:pPr>
            <a:r>
              <a:rPr sz="2700" b="1">
                <a:solidFill>
                  <a:srgbClr val="08233E"/>
                </a:solidFill>
              </a:rPr>
              <a:t>Metrics turn telemetry into operating signals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47BA4981-CA98-4931-8FBA-13CABC88E099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702AFE-CB07-4C47-8C8E-05B5762D7919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8C040-8793-43EF-9B00-C38CCF572309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23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5F96B5-C995-445D-8567-901ED9C35FBD}"/>
              </a:ext>
            </a:extLst>
          </p:cNvPr>
          <p:cNvSpPr>
            <a:spLocks noGrp="1"/>
          </p:cNvSpPr>
          <p:nvPr/>
        </p:nvSpPr>
        <p:spPr>
          <a:xfrm>
            <a:off x="666750" y="19621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8233E"/>
                </a:solidFill>
              </a:defRPr>
            </a:pPr>
            <a:r>
              <a:rPr sz="1800" b="1">
                <a:solidFill>
                  <a:srgbClr val="08233E"/>
                </a:solidFill>
              </a:rPr>
              <a:t>Availability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FFE198-7CEA-494F-9793-5209294CED74}"/>
              </a:ext>
            </a:extLst>
          </p:cNvPr>
          <p:cNvSpPr>
            <a:spLocks noGrp="1"/>
          </p:cNvSpPr>
          <p:nvPr/>
        </p:nvSpPr>
        <p:spPr>
          <a:xfrm>
            <a:off x="666750" y="24003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E7189"/>
                </a:solidFill>
              </a:defRPr>
            </a:pPr>
            <a:r>
              <a:rPr sz="1275" b="0">
                <a:solidFill>
                  <a:srgbClr val="4E7189"/>
                </a:solidFill>
              </a:rPr>
              <a:t>success rate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D20D35D4-335E-47DF-A013-276848B0160F}"/>
              </a:ext>
            </a:extLst>
          </p:cNvPr>
          <p:cNvSpPr>
            <a:spLocks noGrp="1"/>
          </p:cNvSpPr>
          <p:nvPr/>
        </p:nvSpPr>
        <p:spPr>
          <a:xfrm>
            <a:off x="666750" y="2895600"/>
            <a:ext cx="3143250" cy="9525"/>
          </a:xfrm>
          <a:prstGeom prst="line">
            <a:avLst/>
          </a:prstGeom>
          <a:noFill/>
          <a:ln w="1905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C01054-4DC1-459A-890B-913826517E8E}"/>
              </a:ext>
            </a:extLst>
          </p:cNvPr>
          <p:cNvSpPr>
            <a:spLocks noGrp="1"/>
          </p:cNvSpPr>
          <p:nvPr/>
        </p:nvSpPr>
        <p:spPr>
          <a:xfrm>
            <a:off x="4343400" y="19621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8233E"/>
                </a:solidFill>
              </a:defRPr>
            </a:pPr>
            <a:r>
              <a:rPr sz="1800" b="1">
                <a:solidFill>
                  <a:srgbClr val="08233E"/>
                </a:solidFill>
              </a:rPr>
              <a:t>Latency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0203EE-7871-4B18-B3D0-1463D2E43475}"/>
              </a:ext>
            </a:extLst>
          </p:cNvPr>
          <p:cNvSpPr>
            <a:spLocks noGrp="1"/>
          </p:cNvSpPr>
          <p:nvPr/>
        </p:nvSpPr>
        <p:spPr>
          <a:xfrm>
            <a:off x="4343400" y="24003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E7189"/>
                </a:solidFill>
              </a:defRPr>
            </a:pPr>
            <a:r>
              <a:rPr sz="1275" b="0">
                <a:solidFill>
                  <a:srgbClr val="4E7189"/>
                </a:solidFill>
              </a:rPr>
              <a:t>p50 • p95 • p99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AD18B2C-8455-4BAE-AB71-9EF034A84B37}"/>
              </a:ext>
            </a:extLst>
          </p:cNvPr>
          <p:cNvSpPr>
            <a:spLocks noGrp="1"/>
          </p:cNvSpPr>
          <p:nvPr/>
        </p:nvSpPr>
        <p:spPr>
          <a:xfrm>
            <a:off x="4343400" y="2895600"/>
            <a:ext cx="3143250" cy="9525"/>
          </a:xfrm>
          <a:prstGeom prst="line">
            <a:avLst/>
          </a:prstGeom>
          <a:noFill/>
          <a:ln w="1905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BD73E6-37B8-4E90-AB22-3B230B8DF87E}"/>
              </a:ext>
            </a:extLst>
          </p:cNvPr>
          <p:cNvSpPr>
            <a:spLocks noGrp="1"/>
          </p:cNvSpPr>
          <p:nvPr/>
        </p:nvSpPr>
        <p:spPr>
          <a:xfrm>
            <a:off x="8020050" y="19621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8233E"/>
                </a:solidFill>
              </a:defRPr>
            </a:pPr>
            <a:r>
              <a:rPr sz="1800" b="1">
                <a:solidFill>
                  <a:srgbClr val="08233E"/>
                </a:solidFill>
              </a:rPr>
              <a:t>Reliability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9A6F90-131E-4F6F-8873-E1A9B3B7CD88}"/>
              </a:ext>
            </a:extLst>
          </p:cNvPr>
          <p:cNvSpPr>
            <a:spLocks noGrp="1"/>
          </p:cNvSpPr>
          <p:nvPr/>
        </p:nvSpPr>
        <p:spPr>
          <a:xfrm>
            <a:off x="8020050" y="24003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E7189"/>
                </a:solidFill>
              </a:defRPr>
            </a:pPr>
            <a:r>
              <a:rPr sz="1275" b="0">
                <a:solidFill>
                  <a:srgbClr val="4E7189"/>
                </a:solidFill>
              </a:rPr>
              <a:t>provider errors • retries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37504E2F-FB0C-4E6D-A3CE-6BE262A4D620}"/>
              </a:ext>
            </a:extLst>
          </p:cNvPr>
          <p:cNvSpPr>
            <a:spLocks noGrp="1"/>
          </p:cNvSpPr>
          <p:nvPr/>
        </p:nvSpPr>
        <p:spPr>
          <a:xfrm>
            <a:off x="8020050" y="2895600"/>
            <a:ext cx="3143250" cy="9525"/>
          </a:xfrm>
          <a:prstGeom prst="line">
            <a:avLst/>
          </a:prstGeom>
          <a:noFill/>
          <a:ln w="1905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D502DD-48CF-466C-A9AB-0CD5736AA2BE}"/>
              </a:ext>
            </a:extLst>
          </p:cNvPr>
          <p:cNvSpPr>
            <a:spLocks noGrp="1"/>
          </p:cNvSpPr>
          <p:nvPr/>
        </p:nvSpPr>
        <p:spPr>
          <a:xfrm>
            <a:off x="666750" y="36385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8233E"/>
                </a:solidFill>
              </a:defRPr>
            </a:pPr>
            <a:r>
              <a:rPr sz="1800" b="1">
                <a:solidFill>
                  <a:srgbClr val="08233E"/>
                </a:solidFill>
              </a:rPr>
              <a:t>Efficiency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8BEC24-0CC1-4E58-8CE0-FE834D74CB04}"/>
              </a:ext>
            </a:extLst>
          </p:cNvPr>
          <p:cNvSpPr>
            <a:spLocks noGrp="1"/>
          </p:cNvSpPr>
          <p:nvPr/>
        </p:nvSpPr>
        <p:spPr>
          <a:xfrm>
            <a:off x="666750" y="40767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E7189"/>
                </a:solidFill>
              </a:defRPr>
            </a:pPr>
            <a:r>
              <a:rPr sz="1275" b="0">
                <a:solidFill>
                  <a:srgbClr val="4E7189"/>
                </a:solidFill>
              </a:rPr>
              <a:t>cache hit • avoided cost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391FD72-8CFC-422E-953B-167BB357E467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3143250" cy="9525"/>
          </a:xfrm>
          <a:prstGeom prst="line">
            <a:avLst/>
          </a:prstGeom>
          <a:noFill/>
          <a:ln w="1905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C1E1AE-0B11-405C-A5F2-C750511C6F17}"/>
              </a:ext>
            </a:extLst>
          </p:cNvPr>
          <p:cNvSpPr>
            <a:spLocks noGrp="1"/>
          </p:cNvSpPr>
          <p:nvPr/>
        </p:nvSpPr>
        <p:spPr>
          <a:xfrm>
            <a:off x="4343400" y="36385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8233E"/>
                </a:solidFill>
              </a:defRPr>
            </a:pPr>
            <a:r>
              <a:rPr sz="1800" b="1">
                <a:solidFill>
                  <a:srgbClr val="08233E"/>
                </a:solidFill>
              </a:rPr>
              <a:t>Consumption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BB3C14-4054-476F-BB64-D5D0CD31917A}"/>
              </a:ext>
            </a:extLst>
          </p:cNvPr>
          <p:cNvSpPr>
            <a:spLocks noGrp="1"/>
          </p:cNvSpPr>
          <p:nvPr/>
        </p:nvSpPr>
        <p:spPr>
          <a:xfrm>
            <a:off x="4343400" y="40767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E7189"/>
                </a:solidFill>
              </a:defRPr>
            </a:pPr>
            <a:r>
              <a:rPr sz="1275" b="0">
                <a:solidFill>
                  <a:srgbClr val="4E7189"/>
                </a:solidFill>
              </a:rPr>
              <a:t>requests • tokens • spend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1E86F01A-248F-4806-A6B9-FE718EBCDE71}"/>
              </a:ext>
            </a:extLst>
          </p:cNvPr>
          <p:cNvSpPr>
            <a:spLocks noGrp="1"/>
          </p:cNvSpPr>
          <p:nvPr/>
        </p:nvSpPr>
        <p:spPr>
          <a:xfrm>
            <a:off x="4343400" y="4572000"/>
            <a:ext cx="3143250" cy="9525"/>
          </a:xfrm>
          <a:prstGeom prst="line">
            <a:avLst/>
          </a:prstGeom>
          <a:noFill/>
          <a:ln w="1905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389F4B-59D5-4336-BE76-8820CC663A7A}"/>
              </a:ext>
            </a:extLst>
          </p:cNvPr>
          <p:cNvSpPr>
            <a:spLocks noGrp="1"/>
          </p:cNvSpPr>
          <p:nvPr/>
        </p:nvSpPr>
        <p:spPr>
          <a:xfrm>
            <a:off x="8020050" y="36385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8233E"/>
                </a:solidFill>
              </a:defRPr>
            </a:pPr>
            <a:r>
              <a:rPr sz="1800" b="1">
                <a:solidFill>
                  <a:srgbClr val="08233E"/>
                </a:solidFill>
              </a:rPr>
              <a:t>Control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0E080-A288-4F7E-8DBC-8FCCE3DA11E2}"/>
              </a:ext>
            </a:extLst>
          </p:cNvPr>
          <p:cNvSpPr>
            <a:spLocks noGrp="1"/>
          </p:cNvSpPr>
          <p:nvPr/>
        </p:nvSpPr>
        <p:spPr>
          <a:xfrm>
            <a:off x="8020050" y="40767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4E7189"/>
                </a:solidFill>
              </a:defRPr>
            </a:pPr>
            <a:r>
              <a:rPr sz="1275" b="0">
                <a:solidFill>
                  <a:srgbClr val="4E7189"/>
                </a:solidFill>
              </a:rPr>
              <a:t>rate and budget rejections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17A18EB-E69F-4D6B-A138-9426146C3883}"/>
              </a:ext>
            </a:extLst>
          </p:cNvPr>
          <p:cNvSpPr>
            <a:spLocks noGrp="1"/>
          </p:cNvSpPr>
          <p:nvPr/>
        </p:nvSpPr>
        <p:spPr>
          <a:xfrm>
            <a:off x="8020050" y="4572000"/>
            <a:ext cx="3143250" cy="9525"/>
          </a:xfrm>
          <a:prstGeom prst="line">
            <a:avLst/>
          </a:prstGeom>
          <a:noFill/>
          <a:ln w="1905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6D1CC9C-3BD1-4F61-965C-5A535AB22FB3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477500" cy="685800"/>
          </a:xfrm>
          <a:prstGeom prst="roundRect">
            <a:avLst>
              <a:gd name="adj" fmla="val 22222"/>
            </a:avLst>
          </a:prstGeom>
          <a:solidFill>
            <a:srgbClr val="012651"/>
          </a:solidFill>
          <a:ln w="9525">
            <a:solidFill>
              <a:srgbClr val="0126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F9852E-E8DC-43EE-9728-584EEB016DFB}"/>
              </a:ext>
            </a:extLst>
          </p:cNvPr>
          <p:cNvSpPr>
            <a:spLocks noGrp="1"/>
          </p:cNvSpPr>
          <p:nvPr/>
        </p:nvSpPr>
        <p:spPr>
          <a:xfrm>
            <a:off x="1066800" y="5410200"/>
            <a:ext cx="967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F6FBFF"/>
                </a:solidFill>
              </a:defRPr>
            </a:pPr>
            <a:r>
              <a:rPr sz="1575" b="1">
                <a:solidFill>
                  <a:srgbClr val="F6FBFF"/>
                </a:solidFill>
              </a:rPr>
              <a:t>Measure the gateway as both infrastructure and a product control plane.</a:t>
            </a:r>
          </a:p>
        </p:txBody>
      </p:sp>
    </p:spTree>
    <p:extLst>
      <p:ext uri="{BB962C8B-B14F-4D97-AF65-F5344CB8AC3E}">
        <p14:creationId xmlns:p14="http://schemas.microsoft.com/office/powerpoint/2010/main" val="228333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rand-rail">
            <a:extLst>
              <a:ext uri="{FF2B5EF4-FFF2-40B4-BE49-F238E27FC236}">
                <a16:creationId xmlns:a16="http://schemas.microsoft.com/office/drawing/2014/main" id="{61152904-B2AA-45B8-A014-421B428E96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50701A9E-9E48-40BC-836A-6CE7733E3E0C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CACHING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C50761AB-BF7F-4A65-811D-BB37B8B7DD1A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Simple cache removes identical repeat work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FBCB3885-11DE-41F9-8017-A225ED5EBB1B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D2298E-5F29-4A5A-98F4-1E4E8495AC1B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70BECC-295E-4ACD-9E2E-AACB9A3C1A0E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24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0AC453-ABB9-4BBF-8498-1EFFCDC274ED}"/>
              </a:ext>
            </a:extLst>
          </p:cNvPr>
          <p:cNvSpPr>
            <a:spLocks noGrp="1"/>
          </p:cNvSpPr>
          <p:nvPr/>
        </p:nvSpPr>
        <p:spPr>
          <a:xfrm>
            <a:off x="762000" y="2324100"/>
            <a:ext cx="2000250" cy="781050"/>
          </a:xfrm>
          <a:prstGeom prst="roundRect">
            <a:avLst>
              <a:gd name="adj" fmla="val 21951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6FBFF"/>
                </a:solidFill>
              </a:defRPr>
            </a:pPr>
            <a:r>
              <a:rPr sz="1350" b="1">
                <a:solidFill>
                  <a:srgbClr val="F6FBFF"/>
                </a:solidFill>
              </a:rPr>
              <a:t>Request 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BA24D9-EA6D-4070-BAE5-8B69D20DC0ED}"/>
              </a:ext>
            </a:extLst>
          </p:cNvPr>
          <p:cNvSpPr>
            <a:spLocks noGrp="1"/>
          </p:cNvSpPr>
          <p:nvPr/>
        </p:nvSpPr>
        <p:spPr>
          <a:xfrm>
            <a:off x="3943350" y="2324100"/>
            <a:ext cx="2857500" cy="781050"/>
          </a:xfrm>
          <a:prstGeom prst="roundRect">
            <a:avLst>
              <a:gd name="adj" fmla="val 21951"/>
            </a:avLst>
          </a:prstGeom>
          <a:solidFill>
            <a:srgbClr val="012651"/>
          </a:solidFill>
          <a:ln w="9525">
            <a:solidFill>
              <a:srgbClr val="00C9EB"/>
            </a:solidFill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6FBFF"/>
                </a:solidFill>
              </a:defRPr>
            </a:pPr>
            <a:r>
              <a:rPr sz="1575" b="1">
                <a:solidFill>
                  <a:srgbClr val="F6FBFF"/>
                </a:solidFill>
              </a:rPr>
              <a:t>Exact-key lookup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A7B2F0-974F-43F2-8F3E-B498815788D9}"/>
              </a:ext>
            </a:extLst>
          </p:cNvPr>
          <p:cNvSpPr>
            <a:spLocks noGrp="1"/>
          </p:cNvSpPr>
          <p:nvPr/>
        </p:nvSpPr>
        <p:spPr>
          <a:xfrm>
            <a:off x="8096250" y="2324100"/>
            <a:ext cx="2286000" cy="781050"/>
          </a:xfrm>
          <a:prstGeom prst="roundRect">
            <a:avLst>
              <a:gd name="adj" fmla="val 21951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6FBFF"/>
                </a:solidFill>
              </a:defRPr>
            </a:pPr>
            <a:r>
              <a:rPr sz="1350" b="1">
                <a:solidFill>
                  <a:srgbClr val="F6FBFF"/>
                </a:solidFill>
              </a:rPr>
              <a:t>Provider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FC70615-85A0-4515-930D-30AE2DB6825C}"/>
              </a:ext>
            </a:extLst>
          </p:cNvPr>
          <p:cNvSpPr>
            <a:spLocks noGrp="1"/>
          </p:cNvSpPr>
          <p:nvPr/>
        </p:nvSpPr>
        <p:spPr>
          <a:xfrm>
            <a:off x="2762250" y="2714625"/>
            <a:ext cx="1181100" cy="9525"/>
          </a:xfrm>
          <a:prstGeom prst="line">
            <a:avLst/>
          </a:prstGeom>
          <a:noFill/>
          <a:ln w="38100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56384FA-5223-42F3-A0F5-AF4906C3D04C}"/>
              </a:ext>
            </a:extLst>
          </p:cNvPr>
          <p:cNvSpPr>
            <a:spLocks noGrp="1"/>
          </p:cNvSpPr>
          <p:nvPr/>
        </p:nvSpPr>
        <p:spPr>
          <a:xfrm>
            <a:off x="6800850" y="2714625"/>
            <a:ext cx="1295400" cy="9525"/>
          </a:xfrm>
          <a:prstGeom prst="line">
            <a:avLst/>
          </a:prstGeom>
          <a:noFill/>
          <a:ln w="38100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543530-D94A-43D2-B072-4E649EEF19B7}"/>
              </a:ext>
            </a:extLst>
          </p:cNvPr>
          <p:cNvSpPr>
            <a:spLocks noGrp="1"/>
          </p:cNvSpPr>
          <p:nvPr/>
        </p:nvSpPr>
        <p:spPr>
          <a:xfrm>
            <a:off x="3695700" y="34099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8FB5CF"/>
                </a:solidFill>
              </a:defRPr>
            </a:pPr>
            <a:r>
              <a:rPr sz="1350" b="1">
                <a:solidFill>
                  <a:srgbClr val="8FB5CF"/>
                </a:solidFill>
              </a:rPr>
              <a:t>first call → MISS → store with TTL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D989153-98C7-40FC-AEC9-487D700120F8}"/>
              </a:ext>
            </a:extLst>
          </p:cNvPr>
          <p:cNvSpPr>
            <a:spLocks noGrp="1"/>
          </p:cNvSpPr>
          <p:nvPr/>
        </p:nvSpPr>
        <p:spPr>
          <a:xfrm>
            <a:off x="762000" y="4362450"/>
            <a:ext cx="2000250" cy="781050"/>
          </a:xfrm>
          <a:prstGeom prst="roundRect">
            <a:avLst>
              <a:gd name="adj" fmla="val 21951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6FBFF"/>
                </a:solidFill>
              </a:defRPr>
            </a:pPr>
            <a:r>
              <a:rPr sz="1350" b="1">
                <a:solidFill>
                  <a:srgbClr val="F6FBFF"/>
                </a:solidFill>
              </a:rPr>
              <a:t>Request 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5A6F3F1-C418-4860-BF87-B775F2CAABCC}"/>
              </a:ext>
            </a:extLst>
          </p:cNvPr>
          <p:cNvSpPr>
            <a:spLocks noGrp="1"/>
          </p:cNvSpPr>
          <p:nvPr/>
        </p:nvSpPr>
        <p:spPr>
          <a:xfrm>
            <a:off x="3943350" y="4362450"/>
            <a:ext cx="2857500" cy="781050"/>
          </a:xfrm>
          <a:prstGeom prst="roundRect">
            <a:avLst>
              <a:gd name="adj" fmla="val 21951"/>
            </a:avLst>
          </a:prstGeom>
          <a:solidFill>
            <a:srgbClr val="012651"/>
          </a:solidFill>
          <a:ln w="9525">
            <a:solidFill>
              <a:srgbClr val="00C9EB"/>
            </a:solidFill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6FBFF"/>
                </a:solidFill>
              </a:defRPr>
            </a:pPr>
            <a:r>
              <a:rPr sz="1575" b="1">
                <a:solidFill>
                  <a:srgbClr val="F6FBFF"/>
                </a:solidFill>
              </a:rPr>
              <a:t>Exact-key lookup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00DBBFF-547A-4995-A476-BBDC18923AE0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2286000" cy="781050"/>
          </a:xfrm>
          <a:prstGeom prst="roundRect">
            <a:avLst>
              <a:gd name="adj" fmla="val 21951"/>
            </a:avLst>
          </a:prstGeom>
          <a:solidFill>
            <a:srgbClr val="0E443E"/>
          </a:solidFill>
          <a:ln w="9525">
            <a:solidFill>
              <a:srgbClr val="42D5A4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Cached response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48EE62CE-F552-48A4-A605-503AD78DE607}"/>
              </a:ext>
            </a:extLst>
          </p:cNvPr>
          <p:cNvSpPr>
            <a:spLocks noGrp="1"/>
          </p:cNvSpPr>
          <p:nvPr/>
        </p:nvSpPr>
        <p:spPr>
          <a:xfrm>
            <a:off x="2762250" y="4752975"/>
            <a:ext cx="1181100" cy="9525"/>
          </a:xfrm>
          <a:prstGeom prst="line">
            <a:avLst/>
          </a:prstGeom>
          <a:noFill/>
          <a:ln w="38100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57F7A958-89E0-483F-BF32-134C66F257AC}"/>
              </a:ext>
            </a:extLst>
          </p:cNvPr>
          <p:cNvSpPr>
            <a:spLocks noGrp="1"/>
          </p:cNvSpPr>
          <p:nvPr/>
        </p:nvSpPr>
        <p:spPr>
          <a:xfrm>
            <a:off x="6800850" y="4752975"/>
            <a:ext cx="1295400" cy="9525"/>
          </a:xfrm>
          <a:prstGeom prst="line">
            <a:avLst/>
          </a:prstGeom>
          <a:noFill/>
          <a:ln w="38100">
            <a:solidFill>
              <a:srgbClr val="42D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A4EBF9C-96CA-4FBB-8BEE-A4A385DB4C25}"/>
              </a:ext>
            </a:extLst>
          </p:cNvPr>
          <p:cNvSpPr>
            <a:spLocks noGrp="1"/>
          </p:cNvSpPr>
          <p:nvPr/>
        </p:nvSpPr>
        <p:spPr>
          <a:xfrm>
            <a:off x="5219700" y="546735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0E443E"/>
          </a:solidFill>
          <a:ln w="9525">
            <a:solidFill>
              <a:srgbClr val="42D5A4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42D5A4"/>
                </a:solidFill>
              </a:defRPr>
            </a:pPr>
            <a:r>
              <a:rPr sz="1050" b="1">
                <a:solidFill>
                  <a:srgbClr val="42D5A4"/>
                </a:solidFill>
              </a:rPr>
              <a:t>HIT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69DD90-0BE7-412A-BD63-EF1C81F2B5F5}"/>
              </a:ext>
            </a:extLst>
          </p:cNvPr>
          <p:cNvSpPr>
            <a:spLocks noGrp="1"/>
          </p:cNvSpPr>
          <p:nvPr/>
        </p:nvSpPr>
        <p:spPr>
          <a:xfrm>
            <a:off x="6686550" y="548640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D9EEFF"/>
                </a:solidFill>
              </a:defRPr>
            </a:pPr>
            <a:r>
              <a:rPr sz="1275" b="1">
                <a:solidFill>
                  <a:srgbClr val="D9EEFF"/>
                </a:solidFill>
              </a:rPr>
              <a:t>Skip provider cost and wallet debit on a valid cache hit.</a:t>
            </a:r>
          </a:p>
        </p:txBody>
      </p:sp>
    </p:spTree>
    <p:extLst>
      <p:ext uri="{BB962C8B-B14F-4D97-AF65-F5344CB8AC3E}">
        <p14:creationId xmlns:p14="http://schemas.microsoft.com/office/powerpoint/2010/main" val="1884489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rand-rail">
            <a:extLst>
              <a:ext uri="{FF2B5EF4-FFF2-40B4-BE49-F238E27FC236}">
                <a16:creationId xmlns:a16="http://schemas.microsoft.com/office/drawing/2014/main" id="{5410B944-9C68-4329-AB48-28614FFED6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62093935-7229-45DB-897E-0E7C926F50B5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BCE1"/>
                </a:solidFill>
              </a:defRPr>
            </a:pPr>
            <a:r>
              <a:rPr sz="1050" b="1">
                <a:solidFill>
                  <a:srgbClr val="00BCE1"/>
                </a:solidFill>
              </a:rPr>
              <a:t>CACHING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22E33C6E-DEC5-4252-BE5F-0E1BC521F575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8233E"/>
                </a:solidFill>
              </a:defRPr>
            </a:pPr>
            <a:r>
              <a:rPr sz="2700" b="1">
                <a:solidFill>
                  <a:srgbClr val="08233E"/>
                </a:solidFill>
              </a:rPr>
              <a:t>Smart cache recognizes equivalent intent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4820D944-A1C7-4C70-84EC-A7A9EE37A89D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ED2FD-5CFA-48C7-A858-C464C3A6D808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727D57-CC23-41FC-8507-3C632E6F7D17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AD6B34-8DEF-49E2-8493-44A13A80D478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8233E"/>
                </a:solidFill>
              </a:defRPr>
            </a:pPr>
            <a:r>
              <a:rPr sz="1725" b="1">
                <a:solidFill>
                  <a:srgbClr val="08233E"/>
                </a:solidFill>
              </a:rPr>
              <a:t>“Where is order 8472?”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5C3922-2B5D-4E8F-B644-8BB20DAB8064}"/>
              </a:ext>
            </a:extLst>
          </p:cNvPr>
          <p:cNvSpPr>
            <a:spLocks noGrp="1"/>
          </p:cNvSpPr>
          <p:nvPr/>
        </p:nvSpPr>
        <p:spPr>
          <a:xfrm>
            <a:off x="723900" y="259080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8233E"/>
                </a:solidFill>
              </a:defRPr>
            </a:pPr>
            <a:r>
              <a:rPr sz="1725" b="1">
                <a:solidFill>
                  <a:srgbClr val="08233E"/>
                </a:solidFill>
              </a:rPr>
              <a:t>“Track shipment #8472.”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C1110F3-789A-4D56-BBAA-B5009B2AD2FF}"/>
              </a:ext>
            </a:extLst>
          </p:cNvPr>
          <p:cNvSpPr>
            <a:spLocks noGrp="1"/>
          </p:cNvSpPr>
          <p:nvPr/>
        </p:nvSpPr>
        <p:spPr>
          <a:xfrm>
            <a:off x="5334000" y="2324100"/>
            <a:ext cx="1619250" cy="914400"/>
          </a:xfrm>
          <a:prstGeom prst="line">
            <a:avLst/>
          </a:prstGeom>
          <a:noFill/>
          <a:ln w="2857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94D76EA-5112-41C5-84B7-26C9B77A8896}"/>
              </a:ext>
            </a:extLst>
          </p:cNvPr>
          <p:cNvSpPr>
            <a:spLocks noGrp="1"/>
          </p:cNvSpPr>
          <p:nvPr/>
        </p:nvSpPr>
        <p:spPr>
          <a:xfrm>
            <a:off x="5334000" y="2933700"/>
            <a:ext cx="1619250" cy="304800"/>
          </a:xfrm>
          <a:prstGeom prst="line">
            <a:avLst/>
          </a:prstGeom>
          <a:noFill/>
          <a:ln w="2857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BCC0FA0-499D-4C64-B125-23ABE3D00911}"/>
              </a:ext>
            </a:extLst>
          </p:cNvPr>
          <p:cNvSpPr>
            <a:spLocks noGrp="1"/>
          </p:cNvSpPr>
          <p:nvPr/>
        </p:nvSpPr>
        <p:spPr>
          <a:xfrm>
            <a:off x="7181850" y="2571750"/>
            <a:ext cx="2857500" cy="1333500"/>
          </a:xfrm>
          <a:prstGeom prst="roundRect">
            <a:avLst>
              <a:gd name="adj" fmla="val 12857"/>
            </a:avLst>
          </a:prstGeom>
          <a:solidFill>
            <a:srgbClr val="012651"/>
          </a:solidFill>
          <a:ln w="9525">
            <a:solidFill>
              <a:srgbClr val="00C9EB"/>
            </a:solidFill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6FBFF"/>
                </a:solidFill>
              </a:defRPr>
            </a:pPr>
            <a:r>
              <a:rPr sz="1725" b="1">
                <a:solidFill>
                  <a:srgbClr val="F6FBFF"/>
                </a:solidFill>
              </a:rPr>
              <a:t>Embedding +</a:t>
            </a:r>
          </a:p>
          <a:p>
            <a:pPr algn="ctr">
              <a:defRPr sz="1725" b="1">
                <a:solidFill>
                  <a:srgbClr val="F6FBFF"/>
                </a:solidFill>
              </a:defRPr>
            </a:pPr>
            <a:r>
              <a:rPr sz="1725" b="1">
                <a:solidFill>
                  <a:srgbClr val="F6FBFF"/>
                </a:solidFill>
              </a:rPr>
              <a:t>similarity check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1461FA-2890-4212-A4EF-7B6C2EB2581F}"/>
              </a:ext>
            </a:extLst>
          </p:cNvPr>
          <p:cNvSpPr>
            <a:spLocks noGrp="1"/>
          </p:cNvSpPr>
          <p:nvPr/>
        </p:nvSpPr>
        <p:spPr>
          <a:xfrm>
            <a:off x="7924800" y="41338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0BCE1"/>
                </a:solidFill>
              </a:defRPr>
            </a:pPr>
            <a:r>
              <a:rPr sz="1125" b="1">
                <a:solidFill>
                  <a:srgbClr val="00BCE1"/>
                </a:solidFill>
              </a:rPr>
              <a:t>threshold met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0A8E1D8-3AE8-42BB-A48F-F0CBFA68943C}"/>
              </a:ext>
            </a:extLst>
          </p:cNvPr>
          <p:cNvSpPr>
            <a:spLocks noGrp="1"/>
          </p:cNvSpPr>
          <p:nvPr/>
        </p:nvSpPr>
        <p:spPr>
          <a:xfrm>
            <a:off x="704850" y="4819650"/>
            <a:ext cx="9906000" cy="838200"/>
          </a:xfrm>
          <a:prstGeom prst="roundRect">
            <a:avLst>
              <a:gd name="adj" fmla="val 20455"/>
            </a:avLst>
          </a:prstGeom>
          <a:solidFill>
            <a:srgbClr val="E5F1F8"/>
          </a:solidFill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7F141A-EAC0-41CC-B981-85654213D4FB}"/>
              </a:ext>
            </a:extLst>
          </p:cNvPr>
          <p:cNvSpPr>
            <a:spLocks noGrp="1"/>
          </p:cNvSpPr>
          <p:nvPr/>
        </p:nvSpPr>
        <p:spPr>
          <a:xfrm>
            <a:off x="1066800" y="5029200"/>
            <a:ext cx="918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08233E"/>
                </a:solidFill>
              </a:defRPr>
            </a:pPr>
            <a:r>
              <a:rPr sz="1575" b="1">
                <a:solidFill>
                  <a:srgbClr val="08233E"/>
                </a:solidFill>
              </a:rPr>
              <a:t>Semantic hits record similarity, origin trace, avoided tokens, and avoided cost.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B40E47-F40B-48D4-8A69-7DADB0796CC7}"/>
              </a:ext>
            </a:extLst>
          </p:cNvPr>
          <p:cNvSpPr>
            <a:spLocks noGrp="1"/>
          </p:cNvSpPr>
          <p:nvPr/>
        </p:nvSpPr>
        <p:spPr>
          <a:xfrm>
            <a:off x="1981200" y="5867400"/>
            <a:ext cx="807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4E7189"/>
                </a:solidFill>
              </a:defRPr>
            </a:pPr>
            <a:r>
              <a:rPr sz="1200" b="0">
                <a:solidFill>
                  <a:srgbClr val="4E7189"/>
                </a:solidFill>
              </a:rPr>
              <a:t>Use TTL and similarity policy to balance reuse against freshness and precision.</a:t>
            </a:r>
          </a:p>
        </p:txBody>
      </p:sp>
    </p:spTree>
    <p:extLst>
      <p:ext uri="{BB962C8B-B14F-4D97-AF65-F5344CB8AC3E}">
        <p14:creationId xmlns:p14="http://schemas.microsoft.com/office/powerpoint/2010/main" val="1295683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rand-rail">
            <a:extLst>
              <a:ext uri="{FF2B5EF4-FFF2-40B4-BE49-F238E27FC236}">
                <a16:creationId xmlns:a16="http://schemas.microsoft.com/office/drawing/2014/main" id="{B12DB596-840D-4190-BA52-1634B2C428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9E5BD1DA-B665-4952-BCC7-E3432E7FDB4D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GUARDRAILS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182F7878-D84D-4A5B-B9D2-CFDD5609A231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Guardrails enforce policy around inference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F93D4E0D-B2F5-48B3-BAF5-FAF9C8532950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D1B176-8362-4E85-B00A-1049C3A046DC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7CC10A-A830-4DB6-9118-159D11B38AC1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26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272868-4786-45B3-A9CA-8576E1D9B4D8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1714500" cy="781050"/>
          </a:xfrm>
          <a:prstGeom prst="roundRect">
            <a:avLst>
              <a:gd name="adj" fmla="val 21951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6FBFF"/>
                </a:solidFill>
              </a:defRPr>
            </a:pPr>
            <a:r>
              <a:rPr sz="1350" b="1">
                <a:solidFill>
                  <a:srgbClr val="F6FBFF"/>
                </a:solidFill>
              </a:rPr>
              <a:t>Input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0F0C6BB-F09A-4214-8B4A-255E989CF404}"/>
              </a:ext>
            </a:extLst>
          </p:cNvPr>
          <p:cNvSpPr>
            <a:spLocks noGrp="1"/>
          </p:cNvSpPr>
          <p:nvPr/>
        </p:nvSpPr>
        <p:spPr>
          <a:xfrm>
            <a:off x="2381250" y="3114675"/>
            <a:ext cx="1047750" cy="9525"/>
          </a:xfrm>
          <a:prstGeom prst="line">
            <a:avLst/>
          </a:prstGeom>
          <a:noFill/>
          <a:ln w="38100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004306-D3B4-4A26-BCD8-A3A58038C2CC}"/>
              </a:ext>
            </a:extLst>
          </p:cNvPr>
          <p:cNvSpPr>
            <a:spLocks noGrp="1"/>
          </p:cNvSpPr>
          <p:nvPr/>
        </p:nvSpPr>
        <p:spPr>
          <a:xfrm>
            <a:off x="3524250" y="2381250"/>
            <a:ext cx="2381250" cy="1466850"/>
          </a:xfrm>
          <a:prstGeom prst="roundRect">
            <a:avLst>
              <a:gd name="adj" fmla="val 11688"/>
            </a:avLst>
          </a:prstGeom>
          <a:solidFill>
            <a:srgbClr val="012651"/>
          </a:solidFill>
          <a:ln w="9525">
            <a:solidFill>
              <a:srgbClr val="00C9EB"/>
            </a:solidFill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F6FBFF"/>
                </a:solidFill>
              </a:defRPr>
            </a:pPr>
            <a:r>
              <a:rPr sz="1575" b="1">
                <a:solidFill>
                  <a:srgbClr val="F6FBFF"/>
                </a:solidFill>
              </a:rPr>
              <a:t>Input guardrails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5121111-5E37-4142-A54E-068DA5A20359}"/>
              </a:ext>
            </a:extLst>
          </p:cNvPr>
          <p:cNvSpPr>
            <a:spLocks noGrp="1"/>
          </p:cNvSpPr>
          <p:nvPr/>
        </p:nvSpPr>
        <p:spPr>
          <a:xfrm>
            <a:off x="5905500" y="3114675"/>
            <a:ext cx="1047750" cy="9525"/>
          </a:xfrm>
          <a:prstGeom prst="line">
            <a:avLst/>
          </a:prstGeom>
          <a:noFill/>
          <a:ln w="38100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A4B31C-9C4C-4491-A66A-8978D537FB48}"/>
              </a:ext>
            </a:extLst>
          </p:cNvPr>
          <p:cNvSpPr>
            <a:spLocks noGrp="1"/>
          </p:cNvSpPr>
          <p:nvPr/>
        </p:nvSpPr>
        <p:spPr>
          <a:xfrm>
            <a:off x="7048500" y="2724150"/>
            <a:ext cx="1714500" cy="781050"/>
          </a:xfrm>
          <a:prstGeom prst="roundRect">
            <a:avLst>
              <a:gd name="adj" fmla="val 21951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6FBFF"/>
                </a:solidFill>
              </a:defRPr>
            </a:pPr>
            <a:r>
              <a:rPr sz="1350" b="1">
                <a:solidFill>
                  <a:srgbClr val="F6FBFF"/>
                </a:solidFill>
              </a:rPr>
              <a:t>Model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EB0620E4-F1CD-4C6A-A503-B900C1682F73}"/>
              </a:ext>
            </a:extLst>
          </p:cNvPr>
          <p:cNvSpPr>
            <a:spLocks noGrp="1"/>
          </p:cNvSpPr>
          <p:nvPr/>
        </p:nvSpPr>
        <p:spPr>
          <a:xfrm>
            <a:off x="8763000" y="3114675"/>
            <a:ext cx="857250" cy="9525"/>
          </a:xfrm>
          <a:prstGeom prst="line">
            <a:avLst/>
          </a:prstGeom>
          <a:noFill/>
          <a:ln w="38100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D018FE6-0E03-4E16-B1AD-D811AAA65838}"/>
              </a:ext>
            </a:extLst>
          </p:cNvPr>
          <p:cNvSpPr>
            <a:spLocks noGrp="1"/>
          </p:cNvSpPr>
          <p:nvPr/>
        </p:nvSpPr>
        <p:spPr>
          <a:xfrm>
            <a:off x="9715500" y="2381250"/>
            <a:ext cx="1714500" cy="1466850"/>
          </a:xfrm>
          <a:prstGeom prst="roundRect">
            <a:avLst>
              <a:gd name="adj" fmla="val 11688"/>
            </a:avLst>
          </a:prstGeom>
          <a:solidFill>
            <a:srgbClr val="0E443E"/>
          </a:solidFill>
          <a:ln w="9525">
            <a:solidFill>
              <a:srgbClr val="42D5A4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Output</a:t>
            </a:r>
          </a:p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guardrails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E37C65C-F87C-4665-8D4D-89C9051EC2A2}"/>
              </a:ext>
            </a:extLst>
          </p:cNvPr>
          <p:cNvSpPr>
            <a:spLocks noGrp="1"/>
          </p:cNvSpPr>
          <p:nvPr/>
        </p:nvSpPr>
        <p:spPr>
          <a:xfrm>
            <a:off x="1600200" y="4629150"/>
            <a:ext cx="1047750" cy="323850"/>
          </a:xfrm>
          <a:prstGeom prst="roundRect">
            <a:avLst>
              <a:gd name="adj" fmla="val 50000"/>
            </a:avLst>
          </a:prstGeom>
          <a:solidFill>
            <a:srgbClr val="3A1D28"/>
          </a:solidFill>
          <a:ln w="9525">
            <a:solidFill>
              <a:srgbClr val="FF7E88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7E88"/>
                </a:solidFill>
              </a:defRPr>
            </a:pPr>
            <a:r>
              <a:rPr sz="1050" b="1">
                <a:solidFill>
                  <a:srgbClr val="FF7E88"/>
                </a:solidFill>
              </a:rPr>
              <a:t>BLOCK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4EF41D1-CCAB-4290-843B-3EDFE029E187}"/>
              </a:ext>
            </a:extLst>
          </p:cNvPr>
          <p:cNvSpPr>
            <a:spLocks noGrp="1"/>
          </p:cNvSpPr>
          <p:nvPr/>
        </p:nvSpPr>
        <p:spPr>
          <a:xfrm>
            <a:off x="2857500" y="4629150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3A1D28"/>
          </a:solidFill>
          <a:ln w="9525">
            <a:solidFill>
              <a:srgbClr val="FF7E88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7E88"/>
                </a:solidFill>
              </a:defRPr>
            </a:pPr>
            <a:r>
              <a:rPr sz="1050" b="1">
                <a:solidFill>
                  <a:srgbClr val="FF7E88"/>
                </a:solidFill>
              </a:rPr>
              <a:t>REDACT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B56A272-ABB9-414F-979D-F3F6A326E917}"/>
              </a:ext>
            </a:extLst>
          </p:cNvPr>
          <p:cNvSpPr>
            <a:spLocks noGrp="1"/>
          </p:cNvSpPr>
          <p:nvPr/>
        </p:nvSpPr>
        <p:spPr>
          <a:xfrm>
            <a:off x="4210050" y="4629150"/>
            <a:ext cx="104775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AUDIT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B99322E-4ED1-4D6B-8FA3-DDA12741FFA3}"/>
              </a:ext>
            </a:extLst>
          </p:cNvPr>
          <p:cNvSpPr>
            <a:spLocks noGrp="1"/>
          </p:cNvSpPr>
          <p:nvPr/>
        </p:nvSpPr>
        <p:spPr>
          <a:xfrm>
            <a:off x="5467350" y="462915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KEYWORDS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79E6274-70D2-41CD-B589-105AEC96FBDF}"/>
              </a:ext>
            </a:extLst>
          </p:cNvPr>
          <p:cNvSpPr>
            <a:spLocks noGrp="1"/>
          </p:cNvSpPr>
          <p:nvPr/>
        </p:nvSpPr>
        <p:spPr>
          <a:xfrm>
            <a:off x="7010400" y="4629150"/>
            <a:ext cx="104775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REGEX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0C64951-7207-43B0-A9EB-DDDB648D1761}"/>
              </a:ext>
            </a:extLst>
          </p:cNvPr>
          <p:cNvSpPr>
            <a:spLocks noGrp="1"/>
          </p:cNvSpPr>
          <p:nvPr/>
        </p:nvSpPr>
        <p:spPr>
          <a:xfrm>
            <a:off x="8267700" y="462915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SECRETS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21D472F-5071-4B22-8AF9-E740B1AF8FAF}"/>
              </a:ext>
            </a:extLst>
          </p:cNvPr>
          <p:cNvSpPr>
            <a:spLocks noGrp="1"/>
          </p:cNvSpPr>
          <p:nvPr/>
        </p:nvSpPr>
        <p:spPr>
          <a:xfrm>
            <a:off x="9715500" y="462915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0A3158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9EEFF"/>
                </a:solidFill>
              </a:defRPr>
            </a:pPr>
            <a:r>
              <a:rPr sz="1050" b="1">
                <a:solidFill>
                  <a:srgbClr val="D9EEFF"/>
                </a:solidFill>
              </a:rPr>
              <a:t>BASIC PII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382378-2482-4FF0-89DD-DC4D75919810}"/>
              </a:ext>
            </a:extLst>
          </p:cNvPr>
          <p:cNvSpPr>
            <a:spLocks noGrp="1"/>
          </p:cNvSpPr>
          <p:nvPr/>
        </p:nvSpPr>
        <p:spPr>
          <a:xfrm>
            <a:off x="2152650" y="5524500"/>
            <a:ext cx="7886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D9EEFF"/>
                </a:solidFill>
              </a:defRPr>
            </a:pPr>
            <a:r>
              <a:rPr sz="1500" b="1">
                <a:solidFill>
                  <a:srgbClr val="D9EEFF"/>
                </a:solidFill>
              </a:rPr>
              <a:t>Moderation is a model API; guardrails are the gateway’s policy enforcement layer.</a:t>
            </a:r>
          </a:p>
        </p:txBody>
      </p:sp>
    </p:spTree>
    <p:extLst>
      <p:ext uri="{BB962C8B-B14F-4D97-AF65-F5344CB8AC3E}">
        <p14:creationId xmlns:p14="http://schemas.microsoft.com/office/powerpoint/2010/main" val="872437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rand-rail">
            <a:extLst>
              <a:ext uri="{FF2B5EF4-FFF2-40B4-BE49-F238E27FC236}">
                <a16:creationId xmlns:a16="http://schemas.microsoft.com/office/drawing/2014/main" id="{ECECCB9A-3E45-41DE-85A4-59518A8A3F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EFA85B79-5292-4C76-BA9F-BED368846692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BCE1"/>
                </a:solidFill>
              </a:defRPr>
            </a:pPr>
            <a:r>
              <a:rPr sz="1050" b="1">
                <a:solidFill>
                  <a:srgbClr val="00BCE1"/>
                </a:solidFill>
              </a:rPr>
              <a:t>PROMPT ENGINEERING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8E76E48D-A812-4DE4-A663-89AC131F2FB2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8233E"/>
                </a:solidFill>
              </a:defRPr>
            </a:pPr>
            <a:r>
              <a:rPr sz="2700" b="1">
                <a:solidFill>
                  <a:srgbClr val="08233E"/>
                </a:solidFill>
              </a:rPr>
              <a:t>Prompt engineering becomes a versioned workflow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AC6FBBCE-3830-4C83-8EA6-5DCD36E7CAD0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90B736-9615-4913-B5B1-32E43FE10940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FBF0BA-F0EF-4BF2-93BD-A7C07EA018BF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27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89DACB-661D-48F3-93DC-B2A50EBAFD33}"/>
              </a:ext>
            </a:extLst>
          </p:cNvPr>
          <p:cNvSpPr>
            <a:spLocks noGrp="1"/>
          </p:cNvSpPr>
          <p:nvPr/>
        </p:nvSpPr>
        <p:spPr>
          <a:xfrm>
            <a:off x="666750" y="19621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12651"/>
                </a:solidFill>
              </a:defRPr>
            </a:pPr>
            <a:r>
              <a:rPr sz="1575" b="1">
                <a:solidFill>
                  <a:srgbClr val="012651"/>
                </a:solidFill>
              </a:rPr>
              <a:t>chat_prompt:shop-support/order-status:v4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A494841-37CD-48C1-A9B3-8A4C58BAF521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10001250" cy="9525"/>
          </a:xfrm>
          <a:prstGeom prst="line">
            <a:avLst/>
          </a:prstGeom>
          <a:noFill/>
          <a:ln w="19050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17DEBCA-54B8-4B6A-9887-49CE25AF881C}"/>
              </a:ext>
            </a:extLst>
          </p:cNvPr>
          <p:cNvSpPr>
            <a:spLocks noGrp="1"/>
          </p:cNvSpPr>
          <p:nvPr/>
        </p:nvSpPr>
        <p:spPr>
          <a:xfrm>
            <a:off x="666750" y="2895600"/>
            <a:ext cx="552450" cy="552450"/>
          </a:xfrm>
          <a:prstGeom prst="ellipse">
            <a:avLst/>
          </a:prstGeom>
          <a:solidFill>
            <a:srgbClr val="0126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37A5A4-5646-45B1-86AF-3C41FFB94414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F6FBFF"/>
                </a:solidFill>
              </a:defRPr>
            </a:pPr>
            <a:r>
              <a:rPr sz="1425" b="1">
                <a:solidFill>
                  <a:srgbClr val="F6FBFF"/>
                </a:solidFill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374802-5AD9-464C-B644-50EF1CA40954}"/>
              </a:ext>
            </a:extLst>
          </p:cNvPr>
          <p:cNvSpPr>
            <a:spLocks noGrp="1"/>
          </p:cNvSpPr>
          <p:nvPr/>
        </p:nvSpPr>
        <p:spPr>
          <a:xfrm>
            <a:off x="381000" y="36385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8233E"/>
                </a:solidFill>
              </a:defRPr>
            </a:pPr>
            <a:r>
              <a:rPr sz="1500" b="1">
                <a:solidFill>
                  <a:srgbClr val="08233E"/>
                </a:solidFill>
              </a:rPr>
              <a:t>Design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90B0B1-36C5-4E4A-92E8-E425DA5F8F87}"/>
              </a:ext>
            </a:extLst>
          </p:cNvPr>
          <p:cNvSpPr>
            <a:spLocks noGrp="1"/>
          </p:cNvSpPr>
          <p:nvPr/>
        </p:nvSpPr>
        <p:spPr>
          <a:xfrm>
            <a:off x="76200" y="4000500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4E7189"/>
                </a:solidFill>
              </a:defRPr>
            </a:pPr>
            <a:r>
              <a:rPr sz="1125" b="0">
                <a:solidFill>
                  <a:srgbClr val="4E7189"/>
                </a:solidFill>
              </a:rPr>
              <a:t>template + variables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1DE53819-7703-4815-AB3E-3DA4FDAF3F46}"/>
              </a:ext>
            </a:extLst>
          </p:cNvPr>
          <p:cNvSpPr>
            <a:spLocks noGrp="1"/>
          </p:cNvSpPr>
          <p:nvPr/>
        </p:nvSpPr>
        <p:spPr>
          <a:xfrm>
            <a:off x="1219200" y="3171825"/>
            <a:ext cx="1543050" cy="9525"/>
          </a:xfrm>
          <a:prstGeom prst="line">
            <a:avLst/>
          </a:prstGeom>
          <a:noFill/>
          <a:ln w="2857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4EAC343-7300-41B8-A9CE-2802DEBB54B3}"/>
              </a:ext>
            </a:extLst>
          </p:cNvPr>
          <p:cNvSpPr>
            <a:spLocks noGrp="1"/>
          </p:cNvSpPr>
          <p:nvPr/>
        </p:nvSpPr>
        <p:spPr>
          <a:xfrm>
            <a:off x="2762250" y="2895600"/>
            <a:ext cx="552450" cy="552450"/>
          </a:xfrm>
          <a:prstGeom prst="ellipse">
            <a:avLst/>
          </a:prstGeom>
          <a:solidFill>
            <a:srgbClr val="0126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B85C17-3F70-4B08-ABD4-99D0D5B98248}"/>
              </a:ext>
            </a:extLst>
          </p:cNvPr>
          <p:cNvSpPr>
            <a:spLocks noGrp="1"/>
          </p:cNvSpPr>
          <p:nvPr/>
        </p:nvSpPr>
        <p:spPr>
          <a:xfrm>
            <a:off x="2762250" y="3028950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F6FBFF"/>
                </a:solidFill>
              </a:defRPr>
            </a:pPr>
            <a:r>
              <a:rPr sz="1425" b="1">
                <a:solidFill>
                  <a:srgbClr val="F6FBFF"/>
                </a:solidFill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7E1DD4-AAF2-4980-AE2A-1DF8D9B428F1}"/>
              </a:ext>
            </a:extLst>
          </p:cNvPr>
          <p:cNvSpPr>
            <a:spLocks noGrp="1"/>
          </p:cNvSpPr>
          <p:nvPr/>
        </p:nvSpPr>
        <p:spPr>
          <a:xfrm>
            <a:off x="2476500" y="36385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8233E"/>
                </a:solidFill>
              </a:defRPr>
            </a:pPr>
            <a:r>
              <a:rPr sz="1500" b="1">
                <a:solidFill>
                  <a:srgbClr val="08233E"/>
                </a:solidFill>
              </a:rPr>
              <a:t>Test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D16511-B924-4360-A923-78BC677FDE10}"/>
              </a:ext>
            </a:extLst>
          </p:cNvPr>
          <p:cNvSpPr>
            <a:spLocks noGrp="1"/>
          </p:cNvSpPr>
          <p:nvPr/>
        </p:nvSpPr>
        <p:spPr>
          <a:xfrm>
            <a:off x="2171700" y="4000500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4E7189"/>
                </a:solidFill>
              </a:defRPr>
            </a:pPr>
            <a:r>
              <a:rPr sz="1125" b="0">
                <a:solidFill>
                  <a:srgbClr val="4E7189"/>
                </a:solidFill>
              </a:rPr>
              <a:t>safe sample data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8A9A597E-EBB9-4AF9-9576-E818314842A2}"/>
              </a:ext>
            </a:extLst>
          </p:cNvPr>
          <p:cNvSpPr>
            <a:spLocks noGrp="1"/>
          </p:cNvSpPr>
          <p:nvPr/>
        </p:nvSpPr>
        <p:spPr>
          <a:xfrm>
            <a:off x="3314700" y="3171825"/>
            <a:ext cx="1543050" cy="9525"/>
          </a:xfrm>
          <a:prstGeom prst="line">
            <a:avLst/>
          </a:prstGeom>
          <a:noFill/>
          <a:ln w="2857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F671A03-645B-4F59-A268-A26CF0F8032E}"/>
              </a:ext>
            </a:extLst>
          </p:cNvPr>
          <p:cNvSpPr>
            <a:spLocks noGrp="1"/>
          </p:cNvSpPr>
          <p:nvPr/>
        </p:nvSpPr>
        <p:spPr>
          <a:xfrm>
            <a:off x="4857750" y="2895600"/>
            <a:ext cx="552450" cy="552450"/>
          </a:xfrm>
          <a:prstGeom prst="ellipse">
            <a:avLst/>
          </a:prstGeom>
          <a:solidFill>
            <a:srgbClr val="0126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39A506-6731-4B8A-B7E0-9D947CB15BBB}"/>
              </a:ext>
            </a:extLst>
          </p:cNvPr>
          <p:cNvSpPr>
            <a:spLocks noGrp="1"/>
          </p:cNvSpPr>
          <p:nvPr/>
        </p:nvSpPr>
        <p:spPr>
          <a:xfrm>
            <a:off x="4857750" y="3028950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F6FBFF"/>
                </a:solidFill>
              </a:defRPr>
            </a:pPr>
            <a:r>
              <a:rPr sz="1425" b="1">
                <a:solidFill>
                  <a:srgbClr val="F6FBFF"/>
                </a:solidFill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AA4A4C-9A1C-4FF3-ABBD-C2E80F6D572A}"/>
              </a:ext>
            </a:extLst>
          </p:cNvPr>
          <p:cNvSpPr>
            <a:spLocks noGrp="1"/>
          </p:cNvSpPr>
          <p:nvPr/>
        </p:nvSpPr>
        <p:spPr>
          <a:xfrm>
            <a:off x="4572000" y="36385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8233E"/>
                </a:solidFill>
              </a:defRPr>
            </a:pPr>
            <a:r>
              <a:rPr sz="1500" b="1">
                <a:solidFill>
                  <a:srgbClr val="08233E"/>
                </a:solidFill>
              </a:rPr>
              <a:t>Version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347393-F5E1-4325-B13F-32BAFD530A6F}"/>
              </a:ext>
            </a:extLst>
          </p:cNvPr>
          <p:cNvSpPr>
            <a:spLocks noGrp="1"/>
          </p:cNvSpPr>
          <p:nvPr/>
        </p:nvSpPr>
        <p:spPr>
          <a:xfrm>
            <a:off x="4267200" y="4000500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4E7189"/>
                </a:solidFill>
              </a:defRPr>
            </a:pPr>
            <a:r>
              <a:rPr sz="1125" b="0">
                <a:solidFill>
                  <a:srgbClr val="4E7189"/>
                </a:solidFill>
              </a:rPr>
              <a:t>immutable reference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16794399-0DF8-4CFA-93DE-40B956E194BE}"/>
              </a:ext>
            </a:extLst>
          </p:cNvPr>
          <p:cNvSpPr>
            <a:spLocks noGrp="1"/>
          </p:cNvSpPr>
          <p:nvPr/>
        </p:nvSpPr>
        <p:spPr>
          <a:xfrm>
            <a:off x="5410200" y="3171825"/>
            <a:ext cx="1543050" cy="9525"/>
          </a:xfrm>
          <a:prstGeom prst="line">
            <a:avLst/>
          </a:prstGeom>
          <a:noFill/>
          <a:ln w="2857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F2F459C-B48F-480B-9C50-7281A42FF6A3}"/>
              </a:ext>
            </a:extLst>
          </p:cNvPr>
          <p:cNvSpPr>
            <a:spLocks noGrp="1"/>
          </p:cNvSpPr>
          <p:nvPr/>
        </p:nvSpPr>
        <p:spPr>
          <a:xfrm>
            <a:off x="6953250" y="2895600"/>
            <a:ext cx="552450" cy="552450"/>
          </a:xfrm>
          <a:prstGeom prst="ellipse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EFC680-8AA8-4428-B1F7-A257E2F9AFAB}"/>
              </a:ext>
            </a:extLst>
          </p:cNvPr>
          <p:cNvSpPr>
            <a:spLocks noGrp="1"/>
          </p:cNvSpPr>
          <p:nvPr/>
        </p:nvSpPr>
        <p:spPr>
          <a:xfrm>
            <a:off x="6953250" y="3028950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06182D"/>
                </a:solidFill>
              </a:defRPr>
            </a:pPr>
            <a:r>
              <a:rPr sz="1425" b="1">
                <a:solidFill>
                  <a:srgbClr val="06182D"/>
                </a:solidFill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07AC59-0398-4E76-A3BA-EFCAD0F1DC8D}"/>
              </a:ext>
            </a:extLst>
          </p:cNvPr>
          <p:cNvSpPr>
            <a:spLocks noGrp="1"/>
          </p:cNvSpPr>
          <p:nvPr/>
        </p:nvSpPr>
        <p:spPr>
          <a:xfrm>
            <a:off x="6667500" y="36385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8233E"/>
                </a:solidFill>
              </a:defRPr>
            </a:pPr>
            <a:r>
              <a:rPr sz="1500" b="1">
                <a:solidFill>
                  <a:srgbClr val="08233E"/>
                </a:solidFill>
              </a:rPr>
              <a:t>Deploy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21C523-DB70-4311-8E7F-0D0161FCBDA0}"/>
              </a:ext>
            </a:extLst>
          </p:cNvPr>
          <p:cNvSpPr>
            <a:spLocks noGrp="1"/>
          </p:cNvSpPr>
          <p:nvPr/>
        </p:nvSpPr>
        <p:spPr>
          <a:xfrm>
            <a:off x="6362700" y="4000500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4E7189"/>
                </a:solidFill>
              </a:defRPr>
            </a:pPr>
            <a:r>
              <a:rPr sz="1125" b="0">
                <a:solidFill>
                  <a:srgbClr val="4E7189"/>
                </a:solidFill>
              </a:rPr>
              <a:t>FQN in request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52A5515C-1A41-4FEA-A2BC-2A1D4AE99136}"/>
              </a:ext>
            </a:extLst>
          </p:cNvPr>
          <p:cNvSpPr>
            <a:spLocks noGrp="1"/>
          </p:cNvSpPr>
          <p:nvPr/>
        </p:nvSpPr>
        <p:spPr>
          <a:xfrm>
            <a:off x="7505700" y="3171825"/>
            <a:ext cx="1543050" cy="9525"/>
          </a:xfrm>
          <a:prstGeom prst="line">
            <a:avLst/>
          </a:prstGeom>
          <a:noFill/>
          <a:ln w="2857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5A5099-A9F1-448B-A5E0-3F224A2EE6BA}"/>
              </a:ext>
            </a:extLst>
          </p:cNvPr>
          <p:cNvSpPr>
            <a:spLocks noGrp="1"/>
          </p:cNvSpPr>
          <p:nvPr/>
        </p:nvSpPr>
        <p:spPr>
          <a:xfrm>
            <a:off x="9048750" y="2895600"/>
            <a:ext cx="552450" cy="552450"/>
          </a:xfrm>
          <a:prstGeom prst="ellipse">
            <a:avLst/>
          </a:prstGeom>
          <a:solidFill>
            <a:srgbClr val="01265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5B7E29-60B6-450F-BFF5-C4E8A706BF48}"/>
              </a:ext>
            </a:extLst>
          </p:cNvPr>
          <p:cNvSpPr>
            <a:spLocks noGrp="1"/>
          </p:cNvSpPr>
          <p:nvPr/>
        </p:nvSpPr>
        <p:spPr>
          <a:xfrm>
            <a:off x="9048750" y="3028950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F6FBFF"/>
                </a:solidFill>
              </a:defRPr>
            </a:pPr>
            <a:r>
              <a:rPr sz="1425" b="1">
                <a:solidFill>
                  <a:srgbClr val="F6FBFF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110733-F399-438F-8514-C08F8EF2DE9A}"/>
              </a:ext>
            </a:extLst>
          </p:cNvPr>
          <p:cNvSpPr>
            <a:spLocks noGrp="1"/>
          </p:cNvSpPr>
          <p:nvPr/>
        </p:nvSpPr>
        <p:spPr>
          <a:xfrm>
            <a:off x="8763000" y="36385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8233E"/>
                </a:solidFill>
              </a:defRPr>
            </a:pPr>
            <a:r>
              <a:rPr sz="1500" b="1">
                <a:solidFill>
                  <a:srgbClr val="08233E"/>
                </a:solidFill>
              </a:rPr>
              <a:t>Observe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0CD0CB-37D2-4E1C-97F9-39348A79E721}"/>
              </a:ext>
            </a:extLst>
          </p:cNvPr>
          <p:cNvSpPr>
            <a:spLocks noGrp="1"/>
          </p:cNvSpPr>
          <p:nvPr/>
        </p:nvSpPr>
        <p:spPr>
          <a:xfrm>
            <a:off x="8458200" y="4000500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4E7189"/>
                </a:solidFill>
              </a:defRPr>
            </a:pPr>
            <a:r>
              <a:rPr sz="1125" b="0">
                <a:solidFill>
                  <a:srgbClr val="4E7189"/>
                </a:solidFill>
              </a:rPr>
              <a:t>trace + cost + guardrails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3BAC0FB-DB81-492F-9778-0460C721C04E}"/>
              </a:ext>
            </a:extLst>
          </p:cNvPr>
          <p:cNvSpPr>
            <a:spLocks noGrp="1"/>
          </p:cNvSpPr>
          <p:nvPr/>
        </p:nvSpPr>
        <p:spPr>
          <a:xfrm>
            <a:off x="2381250" y="4914900"/>
            <a:ext cx="7429500" cy="1066800"/>
          </a:xfrm>
          <a:prstGeom prst="roundRect">
            <a:avLst>
              <a:gd name="adj" fmla="val 17857"/>
            </a:avLst>
          </a:prstGeom>
          <a:solidFill>
            <a:srgbClr val="E5F1F8"/>
          </a:solidFill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9E066CB-B5B4-4465-8F2C-0794405058BD}"/>
              </a:ext>
            </a:extLst>
          </p:cNvPr>
          <p:cNvSpPr>
            <a:spLocks noGrp="1"/>
          </p:cNvSpPr>
          <p:nvPr/>
        </p:nvSpPr>
        <p:spPr>
          <a:xfrm>
            <a:off x="2571750" y="5086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7E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EDE0401-3D10-4914-BC59-9655BF407731}"/>
              </a:ext>
            </a:extLst>
          </p:cNvPr>
          <p:cNvSpPr>
            <a:spLocks noGrp="1"/>
          </p:cNvSpPr>
          <p:nvPr/>
        </p:nvSpPr>
        <p:spPr>
          <a:xfrm>
            <a:off x="2743200" y="5086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00B5E72-6AE2-4ABB-83D1-6F58CBBA5B88}"/>
              </a:ext>
            </a:extLst>
          </p:cNvPr>
          <p:cNvSpPr>
            <a:spLocks noGrp="1"/>
          </p:cNvSpPr>
          <p:nvPr/>
        </p:nvSpPr>
        <p:spPr>
          <a:xfrm>
            <a:off x="2914650" y="5086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2D5A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9A11B47-2D7B-4CF5-A21F-5BC9690399DB}"/>
              </a:ext>
            </a:extLst>
          </p:cNvPr>
          <p:cNvSpPr>
            <a:spLocks noGrp="1"/>
          </p:cNvSpPr>
          <p:nvPr/>
        </p:nvSpPr>
        <p:spPr>
          <a:xfrm>
            <a:off x="3181350" y="5029200"/>
            <a:ext cx="6438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E7189"/>
                </a:solidFill>
              </a:defRPr>
            </a:pPr>
            <a:r>
              <a:rPr sz="1050" b="1">
                <a:solidFill>
                  <a:srgbClr val="4E7189"/>
                </a:solidFill>
              </a:rPr>
              <a:t>runtime reference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DB41E09B-D618-4424-AC3F-A48F313447C7}"/>
              </a:ext>
            </a:extLst>
          </p:cNvPr>
          <p:cNvSpPr>
            <a:spLocks noGrp="1"/>
          </p:cNvSpPr>
          <p:nvPr/>
        </p:nvSpPr>
        <p:spPr>
          <a:xfrm>
            <a:off x="2571750" y="5314950"/>
            <a:ext cx="7048500" cy="9525"/>
          </a:xfrm>
          <a:prstGeom prst="line">
            <a:avLst/>
          </a:prstGeom>
          <a:noFill/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129D72A-12BE-45BD-B5E1-31FFB87725B9}"/>
              </a:ext>
            </a:extLst>
          </p:cNvPr>
          <p:cNvSpPr>
            <a:spLocks noGrp="1"/>
          </p:cNvSpPr>
          <p:nvPr/>
        </p:nvSpPr>
        <p:spPr>
          <a:xfrm>
            <a:off x="2609850" y="5448300"/>
            <a:ext cx="6972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"prompt_version_fqn": "chat_prompt:shop-support/order-status:v4",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"prompt_variables": {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  "customer_name": "Ava",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  "order_id": "8472"</a:t>
            </a:r>
          </a:p>
          <a:p>
            <a:pPr algn="l">
              <a:defRPr sz="1200" b="0">
                <a:solidFill>
                  <a:srgbClr val="08233E"/>
                </a:solidFill>
              </a:defRPr>
            </a:pPr>
            <a:r>
              <a:rPr sz="1200" b="0">
                <a:solidFill>
                  <a:srgbClr val="08233E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6324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rand-rail">
            <a:extLst>
              <a:ext uri="{FF2B5EF4-FFF2-40B4-BE49-F238E27FC236}">
                <a16:creationId xmlns:a16="http://schemas.microsoft.com/office/drawing/2014/main" id="{2AFD994C-6297-48F4-B35A-9892D3F303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5EAF6890-EA5D-4467-B770-6AC8F6520C47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BILLING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827DD99E-7C2A-43AA-AE17-2C5593A70CB4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Billing joins usage, price, and identity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214235C8-D8AB-4889-884D-CF0E80741EA0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70503F-3027-4E17-BD7D-310714DC84AA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28930B-CC58-41D3-9DEA-79BE8BC94EFA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28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F0EB2A-5C37-4231-A23B-54D7C0FB264B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00C9EB"/>
                </a:solidFill>
              </a:defRPr>
            </a:pPr>
            <a:r>
              <a:rPr sz="1125" b="1">
                <a:solidFill>
                  <a:srgbClr val="00C9EB"/>
                </a:solidFill>
              </a:rPr>
              <a:t>USAGE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2507B2-701D-4B5F-AD43-689EDEB89292}"/>
              </a:ext>
            </a:extLst>
          </p:cNvPr>
          <p:cNvSpPr>
            <a:spLocks noGrp="1"/>
          </p:cNvSpPr>
          <p:nvPr/>
        </p:nvSpPr>
        <p:spPr>
          <a:xfrm>
            <a:off x="666750" y="2533650"/>
            <a:ext cx="29527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input tokens</a:t>
            </a:r>
          </a:p>
          <a:p>
            <a:pPr algn="l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output tokens</a:t>
            </a:r>
          </a:p>
          <a:p>
            <a:pPr algn="l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cached tokens</a:t>
            </a:r>
          </a:p>
          <a:p>
            <a:pPr algn="l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requests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616BE9-33AA-4CBB-8D87-513C727723F4}"/>
              </a:ext>
            </a:extLst>
          </p:cNvPr>
          <p:cNvSpPr>
            <a:spLocks noGrp="1"/>
          </p:cNvSpPr>
          <p:nvPr/>
        </p:nvSpPr>
        <p:spPr>
          <a:xfrm>
            <a:off x="3810000" y="3028950"/>
            <a:ext cx="400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8FB5CF"/>
                </a:solidFill>
              </a:defRPr>
            </a:pPr>
            <a:r>
              <a:rPr sz="2550" b="1">
                <a:solidFill>
                  <a:srgbClr val="8FB5CF"/>
                </a:solidFill>
              </a:rPr>
              <a:t>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9B1EA6-3BA7-4051-AD35-A0868770E10B}"/>
              </a:ext>
            </a:extLst>
          </p:cNvPr>
          <p:cNvSpPr>
            <a:spLocks noGrp="1"/>
          </p:cNvSpPr>
          <p:nvPr/>
        </p:nvSpPr>
        <p:spPr>
          <a:xfrm>
            <a:off x="4286250" y="19812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9A8CFF"/>
                </a:solidFill>
              </a:defRPr>
            </a:pPr>
            <a:r>
              <a:rPr sz="1125" b="1">
                <a:solidFill>
                  <a:srgbClr val="9A8CFF"/>
                </a:solidFill>
              </a:rPr>
              <a:t>PRICE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345EA3-22AA-427B-86F1-7A32D7B58616}"/>
              </a:ext>
            </a:extLst>
          </p:cNvPr>
          <p:cNvSpPr>
            <a:spLocks noGrp="1"/>
          </p:cNvSpPr>
          <p:nvPr/>
        </p:nvSpPr>
        <p:spPr>
          <a:xfrm>
            <a:off x="4286250" y="2533650"/>
            <a:ext cx="29527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provider rate</a:t>
            </a:r>
          </a:p>
          <a:p>
            <a:pPr algn="l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pricing version</a:t>
            </a:r>
          </a:p>
          <a:p>
            <a:pPr algn="l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currency rate</a:t>
            </a:r>
          </a:p>
          <a:p>
            <a:pPr algn="l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credential source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6FD876-2292-4288-BB45-0916C671BFAF}"/>
              </a:ext>
            </a:extLst>
          </p:cNvPr>
          <p:cNvSpPr>
            <a:spLocks noGrp="1"/>
          </p:cNvSpPr>
          <p:nvPr/>
        </p:nvSpPr>
        <p:spPr>
          <a:xfrm>
            <a:off x="7429500" y="3028950"/>
            <a:ext cx="400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8FB5CF"/>
                </a:solidFill>
              </a:defRPr>
            </a:pPr>
            <a:r>
              <a:rPr sz="2550" b="1">
                <a:solidFill>
                  <a:srgbClr val="8FB5CF"/>
                </a:solidFill>
              </a:rPr>
              <a:t>+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B14896-923C-4A26-A096-AB320BEED2CB}"/>
              </a:ext>
            </a:extLst>
          </p:cNvPr>
          <p:cNvSpPr>
            <a:spLocks noGrp="1"/>
          </p:cNvSpPr>
          <p:nvPr/>
        </p:nvSpPr>
        <p:spPr>
          <a:xfrm>
            <a:off x="7905750" y="19812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42D5A4"/>
                </a:solidFill>
              </a:defRPr>
            </a:pPr>
            <a:r>
              <a:rPr sz="1125" b="1">
                <a:solidFill>
                  <a:srgbClr val="42D5A4"/>
                </a:solidFill>
              </a:rPr>
              <a:t>IDENTITY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79DCB4-E181-4602-98B2-609E64C86FE7}"/>
              </a:ext>
            </a:extLst>
          </p:cNvPr>
          <p:cNvSpPr>
            <a:spLocks noGrp="1"/>
          </p:cNvSpPr>
          <p:nvPr/>
        </p:nvSpPr>
        <p:spPr>
          <a:xfrm>
            <a:off x="7905750" y="2533650"/>
            <a:ext cx="29527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tenant</a:t>
            </a:r>
          </a:p>
          <a:p>
            <a:pPr algn="l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team</a:t>
            </a:r>
          </a:p>
          <a:p>
            <a:pPr algn="l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user / virtual user</a:t>
            </a:r>
          </a:p>
          <a:p>
            <a:pPr algn="l">
              <a:defRPr sz="1650" b="1">
                <a:solidFill>
                  <a:srgbClr val="F6FBFF"/>
                </a:solidFill>
              </a:defRPr>
            </a:pPr>
            <a:r>
              <a:rPr sz="1650" b="1">
                <a:solidFill>
                  <a:srgbClr val="F6FBFF"/>
                </a:solidFill>
              </a:rPr>
              <a:t>PAT / VAT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DA946CF-4DE7-453A-ABCF-077CAF719607}"/>
              </a:ext>
            </a:extLst>
          </p:cNvPr>
          <p:cNvSpPr>
            <a:spLocks noGrp="1"/>
          </p:cNvSpPr>
          <p:nvPr/>
        </p:nvSpPr>
        <p:spPr>
          <a:xfrm>
            <a:off x="2038350" y="4762500"/>
            <a:ext cx="8115300" cy="876300"/>
          </a:xfrm>
          <a:prstGeom prst="roundRect">
            <a:avLst>
              <a:gd name="adj" fmla="val 23913"/>
            </a:avLst>
          </a:prstGeom>
          <a:solidFill>
            <a:srgbClr val="012651"/>
          </a:solidFill>
          <a:ln w="9525">
            <a:solidFill>
              <a:srgbClr val="00C9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A44477-EB72-4554-9BE8-CDB95DE27992}"/>
              </a:ext>
            </a:extLst>
          </p:cNvPr>
          <p:cNvSpPr>
            <a:spLocks noGrp="1"/>
          </p:cNvSpPr>
          <p:nvPr/>
        </p:nvSpPr>
        <p:spPr>
          <a:xfrm>
            <a:off x="2438400" y="5029200"/>
            <a:ext cx="7315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6FBFF"/>
                </a:solidFill>
              </a:defRPr>
            </a:pPr>
            <a:r>
              <a:rPr sz="1875" b="1">
                <a:solidFill>
                  <a:srgbClr val="F6FBFF"/>
                </a:solidFill>
              </a:rPr>
              <a:t>Chargeable event + spend ledger + audit trail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4C8DC8-E71C-4DF9-8B43-2A6AFFEA30DB}"/>
              </a:ext>
            </a:extLst>
          </p:cNvPr>
          <p:cNvSpPr>
            <a:spLocks noGrp="1"/>
          </p:cNvSpPr>
          <p:nvPr/>
        </p:nvSpPr>
        <p:spPr>
          <a:xfrm>
            <a:off x="2381250" y="588645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8FB5CF"/>
                </a:solidFill>
              </a:defRPr>
            </a:pPr>
            <a:r>
              <a:rPr sz="1200" b="0">
                <a:solidFill>
                  <a:srgbClr val="8FB5CF"/>
                </a:solidFill>
              </a:rPr>
              <a:t>BYOK and platform-managed credentials can carry different billing ownership.</a:t>
            </a:r>
          </a:p>
        </p:txBody>
      </p:sp>
    </p:spTree>
    <p:extLst>
      <p:ext uri="{BB962C8B-B14F-4D97-AF65-F5344CB8AC3E}">
        <p14:creationId xmlns:p14="http://schemas.microsoft.com/office/powerpoint/2010/main" val="202665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rand-rail">
            <a:extLst>
              <a:ext uri="{FF2B5EF4-FFF2-40B4-BE49-F238E27FC236}">
                <a16:creationId xmlns:a16="http://schemas.microsoft.com/office/drawing/2014/main" id="{8ECA7522-8C70-423F-98F3-1B64314553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9E7F9646-9B75-43BB-829A-77FC0CDE9488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BCE1"/>
                </a:solidFill>
              </a:defRPr>
            </a:pPr>
            <a:r>
              <a:rPr sz="1050" b="1">
                <a:solidFill>
                  <a:srgbClr val="00BCE1"/>
                </a:solidFill>
              </a:rPr>
              <a:t>BILLING &amp; FINOPS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6CB8D458-27E5-4848-AF4B-CD7C95A87F49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8233E"/>
                </a:solidFill>
              </a:defRPr>
            </a:pPr>
            <a:r>
              <a:rPr sz="2700" b="1">
                <a:solidFill>
                  <a:srgbClr val="08233E"/>
                </a:solidFill>
              </a:rPr>
              <a:t>Budgets make cost control proactive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3257A28B-F812-404D-87FE-417319E3A040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072A7-B578-49EB-80DF-5DD5B1CD775F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BCBB6E-C440-4D33-AC5D-52ECF9DE68A8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4E7189"/>
                </a:solidFill>
              </a:defRPr>
            </a:pPr>
            <a:r>
              <a:rPr sz="825" b="1">
                <a:solidFill>
                  <a:srgbClr val="4E7189"/>
                </a:solidFill>
              </a:rPr>
              <a:t>29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473221-0AC5-4BFA-859B-0F3BF6717701}"/>
              </a:ext>
            </a:extLst>
          </p:cNvPr>
          <p:cNvSpPr>
            <a:spLocks noGrp="1"/>
          </p:cNvSpPr>
          <p:nvPr/>
        </p:nvSpPr>
        <p:spPr>
          <a:xfrm>
            <a:off x="666750" y="1847850"/>
            <a:ext cx="4762500" cy="3524250"/>
          </a:xfrm>
          <a:prstGeom prst="roundRect">
            <a:avLst>
              <a:gd name="adj" fmla="val 6486"/>
            </a:avLst>
          </a:prstGeom>
          <a:solidFill>
            <a:srgbClr val="E5F1F8"/>
          </a:solidFill>
          <a:ln w="9525">
            <a:solidFill>
              <a:srgbClr val="BBD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F04C33-4649-4FB7-B3BD-FF67E8A26301}"/>
              </a:ext>
            </a:extLst>
          </p:cNvPr>
          <p:cNvSpPr>
            <a:spLocks noGrp="1"/>
          </p:cNvSpPr>
          <p:nvPr/>
        </p:nvSpPr>
        <p:spPr>
          <a:xfrm>
            <a:off x="990600" y="21717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BCE1"/>
                </a:solidFill>
              </a:defRPr>
            </a:pPr>
            <a:r>
              <a:rPr sz="1050" b="1">
                <a:solidFill>
                  <a:srgbClr val="00BCE1"/>
                </a:solidFill>
              </a:rPr>
              <a:t>BEFORE THE CALL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C20938-FE82-45BF-9A94-436F6C8EA4E9}"/>
              </a:ext>
            </a:extLst>
          </p:cNvPr>
          <p:cNvSpPr>
            <a:spLocks noGrp="1"/>
          </p:cNvSpPr>
          <p:nvPr/>
        </p:nvSpPr>
        <p:spPr>
          <a:xfrm>
            <a:off x="990600" y="2771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B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624A83-5F2A-4897-8E99-A26F94537153}"/>
              </a:ext>
            </a:extLst>
          </p:cNvPr>
          <p:cNvSpPr>
            <a:spLocks noGrp="1"/>
          </p:cNvSpPr>
          <p:nvPr/>
        </p:nvSpPr>
        <p:spPr>
          <a:xfrm>
            <a:off x="1219200" y="2705100"/>
            <a:ext cx="3581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8233E"/>
                </a:solidFill>
              </a:defRPr>
            </a:pPr>
            <a:r>
              <a:rPr sz="1350" b="0">
                <a:solidFill>
                  <a:srgbClr val="08233E"/>
                </a:solidFill>
              </a:rPr>
              <a:t>Estimate input + max output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D36EA4-4C74-4AB8-A5BB-5487EAAEAC18}"/>
              </a:ext>
            </a:extLst>
          </p:cNvPr>
          <p:cNvSpPr>
            <a:spLocks noGrp="1"/>
          </p:cNvSpPr>
          <p:nvPr/>
        </p:nvSpPr>
        <p:spPr>
          <a:xfrm>
            <a:off x="990600" y="33813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B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A4D257-BCD0-4314-95A5-FC9E7CDADDF4}"/>
              </a:ext>
            </a:extLst>
          </p:cNvPr>
          <p:cNvSpPr>
            <a:spLocks noGrp="1"/>
          </p:cNvSpPr>
          <p:nvPr/>
        </p:nvSpPr>
        <p:spPr>
          <a:xfrm>
            <a:off x="1219200" y="3314700"/>
            <a:ext cx="3581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8233E"/>
                </a:solidFill>
              </a:defRPr>
            </a:pPr>
            <a:r>
              <a:rPr sz="1350" b="0">
                <a:solidFill>
                  <a:srgbClr val="08233E"/>
                </a:solidFill>
              </a:rPr>
              <a:t>Check RPM / TPM limits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29F6F5A-3707-468A-92B5-960F96C18629}"/>
              </a:ext>
            </a:extLst>
          </p:cNvPr>
          <p:cNvSpPr>
            <a:spLocks noGrp="1"/>
          </p:cNvSpPr>
          <p:nvPr/>
        </p:nvSpPr>
        <p:spPr>
          <a:xfrm>
            <a:off x="990600" y="39909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B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7A1027-ADF9-48FB-88D0-E20A055BBCD2}"/>
              </a:ext>
            </a:extLst>
          </p:cNvPr>
          <p:cNvSpPr>
            <a:spLocks noGrp="1"/>
          </p:cNvSpPr>
          <p:nvPr/>
        </p:nvSpPr>
        <p:spPr>
          <a:xfrm>
            <a:off x="1219200" y="3924300"/>
            <a:ext cx="3581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8233E"/>
                </a:solidFill>
              </a:defRPr>
            </a:pPr>
            <a:r>
              <a:rPr sz="1350" b="0">
                <a:solidFill>
                  <a:srgbClr val="08233E"/>
                </a:solidFill>
              </a:rPr>
              <a:t>Check key, team, and tenant budget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EF80E94-59E5-45D5-88E2-1ABF7F65DD7B}"/>
              </a:ext>
            </a:extLst>
          </p:cNvPr>
          <p:cNvSpPr>
            <a:spLocks noGrp="1"/>
          </p:cNvSpPr>
          <p:nvPr/>
        </p:nvSpPr>
        <p:spPr>
          <a:xfrm>
            <a:off x="990600" y="46005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B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225806-F9E8-40E1-BA30-34A5EBCCCE76}"/>
              </a:ext>
            </a:extLst>
          </p:cNvPr>
          <p:cNvSpPr>
            <a:spLocks noGrp="1"/>
          </p:cNvSpPr>
          <p:nvPr/>
        </p:nvSpPr>
        <p:spPr>
          <a:xfrm>
            <a:off x="1219200" y="4533900"/>
            <a:ext cx="3581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08233E"/>
                </a:solidFill>
              </a:defRPr>
            </a:pPr>
            <a:r>
              <a:rPr sz="1350" b="0">
                <a:solidFill>
                  <a:srgbClr val="08233E"/>
                </a:solidFill>
              </a:rPr>
              <a:t>Reject with a normalized error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576BA93-AFDA-46E9-A669-065C0E46F570}"/>
              </a:ext>
            </a:extLst>
          </p:cNvPr>
          <p:cNvSpPr>
            <a:spLocks noGrp="1"/>
          </p:cNvSpPr>
          <p:nvPr/>
        </p:nvSpPr>
        <p:spPr>
          <a:xfrm>
            <a:off x="6076950" y="1847850"/>
            <a:ext cx="4762500" cy="3524250"/>
          </a:xfrm>
          <a:prstGeom prst="roundRect">
            <a:avLst>
              <a:gd name="adj" fmla="val 6486"/>
            </a:avLst>
          </a:prstGeom>
          <a:solidFill>
            <a:srgbClr val="012651"/>
          </a:solidFill>
          <a:ln w="9525">
            <a:solidFill>
              <a:srgbClr val="0126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80492-6E81-4F0D-B13E-1EB777DB766D}"/>
              </a:ext>
            </a:extLst>
          </p:cNvPr>
          <p:cNvSpPr>
            <a:spLocks noGrp="1"/>
          </p:cNvSpPr>
          <p:nvPr/>
        </p:nvSpPr>
        <p:spPr>
          <a:xfrm>
            <a:off x="6400800" y="21717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2D5A4"/>
                </a:solidFill>
              </a:defRPr>
            </a:pPr>
            <a:r>
              <a:rPr sz="1050" b="1">
                <a:solidFill>
                  <a:srgbClr val="42D5A4"/>
                </a:solidFill>
              </a:rPr>
              <a:t>AFTER THE CALL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DDE9467-8D3C-4E7D-869B-2299593C5421}"/>
              </a:ext>
            </a:extLst>
          </p:cNvPr>
          <p:cNvSpPr>
            <a:spLocks noGrp="1"/>
          </p:cNvSpPr>
          <p:nvPr/>
        </p:nvSpPr>
        <p:spPr>
          <a:xfrm>
            <a:off x="6400800" y="2771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E0FC37-0148-40EA-A860-0E4C68CF6720}"/>
              </a:ext>
            </a:extLst>
          </p:cNvPr>
          <p:cNvSpPr>
            <a:spLocks noGrp="1"/>
          </p:cNvSpPr>
          <p:nvPr/>
        </p:nvSpPr>
        <p:spPr>
          <a:xfrm>
            <a:off x="6629400" y="2705100"/>
            <a:ext cx="3581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EFF"/>
                </a:solidFill>
              </a:defRPr>
            </a:pPr>
            <a:r>
              <a:rPr sz="1350" b="0">
                <a:solidFill>
                  <a:srgbClr val="D9EEFF"/>
                </a:solidFill>
              </a:rPr>
              <a:t>Reconcile actual usage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6A2E41E-F90D-4FEE-9452-8094CB8BF1CC}"/>
              </a:ext>
            </a:extLst>
          </p:cNvPr>
          <p:cNvSpPr>
            <a:spLocks noGrp="1"/>
          </p:cNvSpPr>
          <p:nvPr/>
        </p:nvSpPr>
        <p:spPr>
          <a:xfrm>
            <a:off x="6400800" y="33813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FC534C-C333-4ABC-B4EC-FA08E452B37B}"/>
              </a:ext>
            </a:extLst>
          </p:cNvPr>
          <p:cNvSpPr>
            <a:spLocks noGrp="1"/>
          </p:cNvSpPr>
          <p:nvPr/>
        </p:nvSpPr>
        <p:spPr>
          <a:xfrm>
            <a:off x="6629400" y="3314700"/>
            <a:ext cx="3581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EFF"/>
                </a:solidFill>
              </a:defRPr>
            </a:pPr>
            <a:r>
              <a:rPr sz="1350" b="0">
                <a:solidFill>
                  <a:srgbClr val="D9EEFF"/>
                </a:solidFill>
              </a:rPr>
              <a:t>Debit wallet when applicable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6BFEF2F-99EE-4610-A2B8-46EC3AA4FBF6}"/>
              </a:ext>
            </a:extLst>
          </p:cNvPr>
          <p:cNvSpPr>
            <a:spLocks noGrp="1"/>
          </p:cNvSpPr>
          <p:nvPr/>
        </p:nvSpPr>
        <p:spPr>
          <a:xfrm>
            <a:off x="6400800" y="39909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75D769-2F6C-4D3E-9724-10C131DE2943}"/>
              </a:ext>
            </a:extLst>
          </p:cNvPr>
          <p:cNvSpPr>
            <a:spLocks noGrp="1"/>
          </p:cNvSpPr>
          <p:nvPr/>
        </p:nvSpPr>
        <p:spPr>
          <a:xfrm>
            <a:off x="6629400" y="3924300"/>
            <a:ext cx="3581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EFF"/>
                </a:solidFill>
              </a:defRPr>
            </a:pPr>
            <a:r>
              <a:rPr sz="1350" b="0">
                <a:solidFill>
                  <a:srgbClr val="D9EEFF"/>
                </a:solidFill>
              </a:rPr>
              <a:t>Attribute spend to identity and tags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343EC39-4F48-48C8-B825-D0661F7DB5FB}"/>
              </a:ext>
            </a:extLst>
          </p:cNvPr>
          <p:cNvSpPr>
            <a:spLocks noGrp="1"/>
          </p:cNvSpPr>
          <p:nvPr/>
        </p:nvSpPr>
        <p:spPr>
          <a:xfrm>
            <a:off x="6400800" y="46005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E51DC9-F2BC-4EDA-B9FF-1BBDE24E63A3}"/>
              </a:ext>
            </a:extLst>
          </p:cNvPr>
          <p:cNvSpPr>
            <a:spLocks noGrp="1"/>
          </p:cNvSpPr>
          <p:nvPr/>
        </p:nvSpPr>
        <p:spPr>
          <a:xfrm>
            <a:off x="6629400" y="4533900"/>
            <a:ext cx="3581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EFF"/>
                </a:solidFill>
              </a:defRPr>
            </a:pPr>
            <a:r>
              <a:rPr sz="1350" b="0">
                <a:solidFill>
                  <a:srgbClr val="D9EEFF"/>
                </a:solidFill>
              </a:rPr>
              <a:t>Emit metrics and audit records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FDB065-FF2E-415C-BB29-B002B17D2403}"/>
              </a:ext>
            </a:extLst>
          </p:cNvPr>
          <p:cNvSpPr>
            <a:spLocks noGrp="1"/>
          </p:cNvSpPr>
          <p:nvPr/>
        </p:nvSpPr>
        <p:spPr>
          <a:xfrm>
            <a:off x="3333750" y="573405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08233E"/>
                </a:solidFill>
              </a:defRPr>
            </a:pPr>
            <a:r>
              <a:rPr sz="1650" b="1">
                <a:solidFill>
                  <a:srgbClr val="08233E"/>
                </a:solidFill>
              </a:rPr>
              <a:t>Soft alerts inform. Hard limits enforce.</a:t>
            </a:r>
          </a:p>
        </p:txBody>
      </p:sp>
    </p:spTree>
    <p:extLst>
      <p:ext uri="{BB962C8B-B14F-4D97-AF65-F5344CB8AC3E}">
        <p14:creationId xmlns:p14="http://schemas.microsoft.com/office/powerpoint/2010/main" val="12545615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d-rail">
            <a:extLst>
              <a:ext uri="{FF2B5EF4-FFF2-40B4-BE49-F238E27FC236}">
                <a16:creationId xmlns:a16="http://schemas.microsoft.com/office/drawing/2014/main" id="{B829A6E9-3AA8-4FF9-BFF8-F148D729AA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C9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ection-label">
            <a:extLst>
              <a:ext uri="{FF2B5EF4-FFF2-40B4-BE49-F238E27FC236}">
                <a16:creationId xmlns:a16="http://schemas.microsoft.com/office/drawing/2014/main" id="{7A956A48-DDCE-4AC0-A15F-2089569CCAB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0C9EB"/>
                </a:solidFill>
              </a:defRPr>
            </a:pPr>
            <a:r>
              <a:rPr sz="1050" b="1">
                <a:solidFill>
                  <a:srgbClr val="00C9EB"/>
                </a:solidFill>
              </a:rPr>
              <a:t>TAKEAWAY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2A0BC8B4-C47C-40B3-AE97-7A6F538CB2DC}"/>
              </a:ext>
            </a:extLst>
          </p:cNvPr>
          <p:cNvSpPr>
            <a:spLocks noGrp="1"/>
          </p:cNvSpPr>
          <p:nvPr/>
        </p:nvSpPr>
        <p:spPr>
          <a:xfrm>
            <a:off x="647700" y="7429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BFF"/>
                </a:solidFill>
              </a:defRPr>
            </a:pPr>
            <a:r>
              <a:rPr sz="2700" b="1">
                <a:solidFill>
                  <a:srgbClr val="F6FBFF"/>
                </a:solidFill>
              </a:rPr>
              <a:t>Govern model choice through one gateway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050" y="344844"/>
            <a:ext cx="590550" cy="434262"/>
          </a:xfrm>
          <a:prstGeom prst="rect">
            <a:avLst/>
          </a:prstGeom>
        </p:spPr>
      </p:pic>
      <p:sp>
        <p:nvSpPr>
          <p:cNvPr id="5" name="footer-rule">
            <a:extLst>
              <a:ext uri="{FF2B5EF4-FFF2-40B4-BE49-F238E27FC236}">
                <a16:creationId xmlns:a16="http://schemas.microsoft.com/office/drawing/2014/main" id="{3D167FB4-7738-4842-A9FC-3DE3BD12E5AF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668000" cy="9525"/>
          </a:xfrm>
          <a:prstGeom prst="line">
            <a:avLst/>
          </a:prstGeom>
          <a:noFill/>
          <a:ln w="9525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11E2D3-2DD6-4961-8977-A291F4B6182C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GODARAI  /  LLM GATEWAY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DDACE1-FBE5-4304-83B3-F3EBEBF1D769}"/>
              </a:ext>
            </a:extLst>
          </p:cNvPr>
          <p:cNvSpPr>
            <a:spLocks noGrp="1"/>
          </p:cNvSpPr>
          <p:nvPr/>
        </p:nvSpPr>
        <p:spPr>
          <a:xfrm>
            <a:off x="109347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1">
                <a:solidFill>
                  <a:srgbClr val="8FB5CF"/>
                </a:solidFill>
              </a:defRPr>
            </a:pPr>
            <a:r>
              <a:rPr sz="825" b="1">
                <a:solidFill>
                  <a:srgbClr val="8FB5CF"/>
                </a:solidFill>
              </a:rPr>
              <a:t>30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5E1380-D1EC-4E8C-B0AD-B2C3BABCCBF7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0C9EB"/>
                </a:solidFill>
              </a:defRPr>
            </a:pPr>
            <a:r>
              <a:rPr sz="2100" b="1">
                <a:solidFill>
                  <a:srgbClr val="00C9EB"/>
                </a:solidFill>
              </a:rPr>
              <a:t>ONE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66289E-999F-4EFC-ABED-E9F38A426A11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EFF"/>
                </a:solidFill>
              </a:defRPr>
            </a:pPr>
            <a:r>
              <a:rPr sz="1350" b="0">
                <a:solidFill>
                  <a:srgbClr val="D9EEFF"/>
                </a:solidFill>
              </a:rPr>
              <a:t>keeps product code stable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D57883-D47A-46BF-B67D-F588F56E7814}"/>
              </a:ext>
            </a:extLst>
          </p:cNvPr>
          <p:cNvSpPr>
            <a:spLocks noGrp="1"/>
          </p:cNvSpPr>
          <p:nvPr/>
        </p:nvSpPr>
        <p:spPr>
          <a:xfrm>
            <a:off x="4286250" y="19812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9A8CFF"/>
                </a:solidFill>
              </a:defRPr>
            </a:pPr>
            <a:r>
              <a:rPr sz="2100" b="1">
                <a:solidFill>
                  <a:srgbClr val="9A8CFF"/>
                </a:solidFill>
              </a:rPr>
              <a:t>ONE POLICY LAYER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89615D-FD6C-490E-B576-6F0A82399417}"/>
              </a:ext>
            </a:extLst>
          </p:cNvPr>
          <p:cNvSpPr>
            <a:spLocks noGrp="1"/>
          </p:cNvSpPr>
          <p:nvPr/>
        </p:nvSpPr>
        <p:spPr>
          <a:xfrm>
            <a:off x="4286250" y="23812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EFF"/>
                </a:solidFill>
              </a:defRPr>
            </a:pPr>
            <a:r>
              <a:rPr sz="1350" b="0">
                <a:solidFill>
                  <a:srgbClr val="D9EEFF"/>
                </a:solidFill>
              </a:rPr>
              <a:t>controls identity, safety, and routing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1C6E3B-4F61-4E27-B2DC-1337279ED666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42D5A4"/>
                </a:solidFill>
              </a:defRPr>
            </a:pPr>
            <a:r>
              <a:rPr sz="2100" b="1">
                <a:solidFill>
                  <a:srgbClr val="42D5A4"/>
                </a:solidFill>
              </a:rPr>
              <a:t>ONE DATA PLANE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879F61-6194-472F-8AE6-2F9FE7DF248F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EFF"/>
                </a:solidFill>
              </a:defRPr>
            </a:pPr>
            <a:r>
              <a:rPr sz="1350" b="0">
                <a:solidFill>
                  <a:srgbClr val="D9EEFF"/>
                </a:solidFill>
              </a:rPr>
              <a:t>connects telemetry to cost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34FC646E-9650-4426-B5A8-A26BC28A8C49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10382250" cy="9525"/>
          </a:xfrm>
          <a:prstGeom prst="line">
            <a:avLst/>
          </a:prstGeom>
          <a:noFill/>
          <a:ln w="19050">
            <a:solidFill>
              <a:srgbClr val="2852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A92E6DD-2829-4EF0-B731-F27B2C532783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2857500" cy="781050"/>
          </a:xfrm>
          <a:prstGeom prst="roundRect">
            <a:avLst>
              <a:gd name="adj" fmla="val 21951"/>
            </a:avLst>
          </a:prstGeom>
          <a:solidFill>
            <a:srgbClr val="102D47"/>
          </a:solidFill>
          <a:ln w="9525">
            <a:solidFill>
              <a:srgbClr val="285271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1  Connect an app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EC71E9-B1C5-4C9E-8CE2-A7BE97F59F34}"/>
              </a:ext>
            </a:extLst>
          </p:cNvPr>
          <p:cNvSpPr>
            <a:spLocks noGrp="1"/>
          </p:cNvSpPr>
          <p:nvPr/>
        </p:nvSpPr>
        <p:spPr>
          <a:xfrm>
            <a:off x="4667250" y="3733800"/>
            <a:ext cx="2857500" cy="781050"/>
          </a:xfrm>
          <a:prstGeom prst="roundRect">
            <a:avLst>
              <a:gd name="adj" fmla="val 21951"/>
            </a:avLst>
          </a:prstGeom>
          <a:solidFill>
            <a:srgbClr val="012651"/>
          </a:solidFill>
          <a:ln w="9525">
            <a:solidFill>
              <a:srgbClr val="00C9EB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2  Create a virtual model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33BE6BF-AFE1-4FEF-B8B1-A656A61D08C5}"/>
              </a:ext>
            </a:extLst>
          </p:cNvPr>
          <p:cNvSpPr>
            <a:spLocks noGrp="1"/>
          </p:cNvSpPr>
          <p:nvPr/>
        </p:nvSpPr>
        <p:spPr>
          <a:xfrm>
            <a:off x="8477250" y="3733800"/>
            <a:ext cx="2857500" cy="781050"/>
          </a:xfrm>
          <a:prstGeom prst="roundRect">
            <a:avLst>
              <a:gd name="adj" fmla="val 21951"/>
            </a:avLst>
          </a:prstGeom>
          <a:solidFill>
            <a:srgbClr val="0E443E"/>
          </a:solidFill>
          <a:ln w="9525">
            <a:solidFill>
              <a:srgbClr val="42D5A4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6FBFF"/>
                </a:solidFill>
              </a:defRPr>
            </a:pPr>
            <a:r>
              <a:rPr sz="1500" b="1">
                <a:solidFill>
                  <a:srgbClr val="F6FBFF"/>
                </a:solidFill>
              </a:rPr>
              <a:t>3  Add policy + budgets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4BBCCF-CB14-4E92-904C-EF64529AA061}"/>
              </a:ext>
            </a:extLst>
          </p:cNvPr>
          <p:cNvSpPr>
            <a:spLocks noGrp="1"/>
          </p:cNvSpPr>
          <p:nvPr/>
        </p:nvSpPr>
        <p:spPr>
          <a:xfrm>
            <a:off x="2000250" y="5219700"/>
            <a:ext cx="819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6FBFF"/>
                </a:solidFill>
              </a:defRPr>
            </a:pPr>
            <a:r>
              <a:rPr sz="1875" b="1">
                <a:solidFill>
                  <a:srgbClr val="F6FBFF"/>
                </a:solidFill>
              </a:rPr>
              <a:t>GodarAI turns a changing model market into governed infrastructure.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59222" y="5772150"/>
            <a:ext cx="67355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990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2959</Words>
  <Application>Microsoft Office PowerPoint</Application>
  <DocSecurity>0</DocSecurity>
  <PresentationFormat>Widescreen</PresentationFormat>
  <Paragraphs>629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Ruhollah Delpak</cp:lastModifiedBy>
  <cp:revision>1</cp:revision>
  <dcterms:created xsi:type="dcterms:W3CDTF">2026-07-30T14:25:16Z</dcterms:created>
  <dcterms:modified xsi:type="dcterms:W3CDTF">2026-07-30T15:25:32Z</dcterms:modified>
</cp:coreProperties>
</file>